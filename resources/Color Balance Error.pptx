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18"/>
  </p:notesMasterIdLst>
  <p:sldIdLst>
    <p:sldId id="257" r:id="rId3"/>
    <p:sldId id="309" r:id="rId4"/>
    <p:sldId id="345" r:id="rId5"/>
    <p:sldId id="346" r:id="rId6"/>
    <p:sldId id="347" r:id="rId7"/>
    <p:sldId id="350" r:id="rId8"/>
    <p:sldId id="348" r:id="rId9"/>
    <p:sldId id="349" r:id="rId10"/>
    <p:sldId id="351" r:id="rId11"/>
    <p:sldId id="352" r:id="rId12"/>
    <p:sldId id="353" r:id="rId13"/>
    <p:sldId id="354" r:id="rId14"/>
    <p:sldId id="355" r:id="rId15"/>
    <p:sldId id="356" r:id="rId16"/>
    <p:sldId id="335"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CECF"/>
    <a:srgbClr val="3B96F1"/>
    <a:srgbClr val="BC3649"/>
    <a:srgbClr val="C70008"/>
    <a:srgbClr val="FFFFFF"/>
    <a:srgbClr val="F4E8E9"/>
    <a:srgbClr val="9581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719" autoAdjust="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036FF3-96C4-42E3-965D-4B97A6D8F4F7}" type="datetimeFigureOut">
              <a:rPr lang="zh-CN" altLang="en-US" smtClean="0"/>
              <a:t>2024/11/1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C88DD3-AC29-42F2-BAB2-2B6D3B95CB96}" type="slidenum">
              <a:rPr lang="zh-CN" altLang="en-US" smtClean="0"/>
              <a:t>‹#›</a:t>
            </a:fld>
            <a:endParaRPr lang="zh-CN" altLang="en-US"/>
          </a:p>
        </p:txBody>
      </p:sp>
    </p:spTree>
    <p:extLst>
      <p:ext uri="{BB962C8B-B14F-4D97-AF65-F5344CB8AC3E}">
        <p14:creationId xmlns:p14="http://schemas.microsoft.com/office/powerpoint/2010/main" val="1076531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5EAC0B-BA4B-458E-903D-1155A064A091}" type="slidenum">
              <a:rPr lang="zh-CN" altLang="en-US" smtClean="0"/>
              <a:t>1</a:t>
            </a:fld>
            <a:endParaRPr lang="zh-CN" altLang="en-US"/>
          </a:p>
        </p:txBody>
      </p:sp>
    </p:spTree>
    <p:extLst>
      <p:ext uri="{BB962C8B-B14F-4D97-AF65-F5344CB8AC3E}">
        <p14:creationId xmlns:p14="http://schemas.microsoft.com/office/powerpoint/2010/main" val="3201288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2</a:t>
            </a:fld>
            <a:endParaRPr lang="zh-CN" altLang="en-US"/>
          </a:p>
        </p:txBody>
      </p:sp>
    </p:spTree>
    <p:extLst>
      <p:ext uri="{BB962C8B-B14F-4D97-AF65-F5344CB8AC3E}">
        <p14:creationId xmlns:p14="http://schemas.microsoft.com/office/powerpoint/2010/main" val="195418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3</a:t>
            </a:fld>
            <a:endParaRPr lang="zh-CN" altLang="en-US"/>
          </a:p>
        </p:txBody>
      </p:sp>
    </p:spTree>
    <p:extLst>
      <p:ext uri="{BB962C8B-B14F-4D97-AF65-F5344CB8AC3E}">
        <p14:creationId xmlns:p14="http://schemas.microsoft.com/office/powerpoint/2010/main" val="1161077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4</a:t>
            </a:fld>
            <a:endParaRPr lang="zh-CN" altLang="en-US"/>
          </a:p>
        </p:txBody>
      </p:sp>
    </p:spTree>
    <p:extLst>
      <p:ext uri="{BB962C8B-B14F-4D97-AF65-F5344CB8AC3E}">
        <p14:creationId xmlns:p14="http://schemas.microsoft.com/office/powerpoint/2010/main" val="2252357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5</a:t>
            </a:fld>
            <a:endParaRPr lang="zh-CN" altLang="en-US"/>
          </a:p>
        </p:txBody>
      </p:sp>
    </p:spTree>
    <p:extLst>
      <p:ext uri="{BB962C8B-B14F-4D97-AF65-F5344CB8AC3E}">
        <p14:creationId xmlns:p14="http://schemas.microsoft.com/office/powerpoint/2010/main" val="2057266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6</a:t>
            </a:fld>
            <a:endParaRPr lang="zh-CN" altLang="en-US"/>
          </a:p>
        </p:txBody>
      </p:sp>
    </p:spTree>
    <p:extLst>
      <p:ext uri="{BB962C8B-B14F-4D97-AF65-F5344CB8AC3E}">
        <p14:creationId xmlns:p14="http://schemas.microsoft.com/office/powerpoint/2010/main" val="3820867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7</a:t>
            </a:fld>
            <a:endParaRPr lang="zh-CN" altLang="en-US"/>
          </a:p>
        </p:txBody>
      </p:sp>
    </p:spTree>
    <p:extLst>
      <p:ext uri="{BB962C8B-B14F-4D97-AF65-F5344CB8AC3E}">
        <p14:creationId xmlns:p14="http://schemas.microsoft.com/office/powerpoint/2010/main" val="2930884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8</a:t>
            </a:fld>
            <a:endParaRPr lang="zh-CN" altLang="en-US"/>
          </a:p>
        </p:txBody>
      </p:sp>
    </p:spTree>
    <p:extLst>
      <p:ext uri="{BB962C8B-B14F-4D97-AF65-F5344CB8AC3E}">
        <p14:creationId xmlns:p14="http://schemas.microsoft.com/office/powerpoint/2010/main" val="2407095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9</a:t>
            </a:fld>
            <a:endParaRPr lang="zh-CN" altLang="en-US"/>
          </a:p>
        </p:txBody>
      </p:sp>
    </p:spTree>
    <p:extLst>
      <p:ext uri="{BB962C8B-B14F-4D97-AF65-F5344CB8AC3E}">
        <p14:creationId xmlns:p14="http://schemas.microsoft.com/office/powerpoint/2010/main" val="730600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10</a:t>
            </a:fld>
            <a:endParaRPr lang="zh-CN" altLang="en-US"/>
          </a:p>
        </p:txBody>
      </p:sp>
    </p:spTree>
    <p:extLst>
      <p:ext uri="{BB962C8B-B14F-4D97-AF65-F5344CB8AC3E}">
        <p14:creationId xmlns:p14="http://schemas.microsoft.com/office/powerpoint/2010/main" val="2107516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11</a:t>
            </a:fld>
            <a:endParaRPr lang="zh-CN" altLang="en-US"/>
          </a:p>
        </p:txBody>
      </p:sp>
    </p:spTree>
    <p:extLst>
      <p:ext uri="{BB962C8B-B14F-4D97-AF65-F5344CB8AC3E}">
        <p14:creationId xmlns:p14="http://schemas.microsoft.com/office/powerpoint/2010/main" val="76546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12</a:t>
            </a:fld>
            <a:endParaRPr lang="zh-CN" altLang="en-US"/>
          </a:p>
        </p:txBody>
      </p:sp>
    </p:spTree>
    <p:extLst>
      <p:ext uri="{BB962C8B-B14F-4D97-AF65-F5344CB8AC3E}">
        <p14:creationId xmlns:p14="http://schemas.microsoft.com/office/powerpoint/2010/main" val="573141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13</a:t>
            </a:fld>
            <a:endParaRPr lang="zh-CN" altLang="en-US"/>
          </a:p>
        </p:txBody>
      </p:sp>
    </p:spTree>
    <p:extLst>
      <p:ext uri="{BB962C8B-B14F-4D97-AF65-F5344CB8AC3E}">
        <p14:creationId xmlns:p14="http://schemas.microsoft.com/office/powerpoint/2010/main" val="28890995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14</a:t>
            </a:fld>
            <a:endParaRPr lang="zh-CN" altLang="en-US"/>
          </a:p>
        </p:txBody>
      </p:sp>
    </p:spTree>
    <p:extLst>
      <p:ext uri="{BB962C8B-B14F-4D97-AF65-F5344CB8AC3E}">
        <p14:creationId xmlns:p14="http://schemas.microsoft.com/office/powerpoint/2010/main" val="3717904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headEnd/>
            <a:tailEnd/>
          </a:ln>
        </p:spPr>
      </p:sp>
      <p:sp>
        <p:nvSpPr>
          <p:cNvPr id="82947"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dirty="0"/>
              <a:t>That’s all.</a:t>
            </a:r>
            <a:endParaRPr lang="zh-CN" altLang="en-US" dirty="0"/>
          </a:p>
        </p:txBody>
      </p:sp>
      <p:sp>
        <p:nvSpPr>
          <p:cNvPr id="82948" name="灯片编号占位符 3"/>
          <p:cNvSpPr>
            <a:spLocks noGrp="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1F4E7E-50CF-44D6-929A-1F9ED35C6772}" type="slidenum">
              <a:rPr kumimoji="0" altLang="en-US" sz="1200" b="0" i="0" u="none" strike="noStrike" kern="1200" cap="none" spc="0" normalizeH="0" baseline="0" noProof="0" smtClean="0">
                <a:ln>
                  <a:noFill/>
                </a:ln>
                <a:solidFill>
                  <a:prstClr val="black"/>
                </a:solidFill>
                <a:effectLst/>
                <a:uLnTx/>
                <a:uFillTx/>
                <a:latin typeface="等线"/>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76638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637752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1443384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1053437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2107886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3248770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1552947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26015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3177091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4220797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1921670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1140027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538E40E7-B937-441A-A707-9F500359E119}"/>
              </a:ext>
            </a:extLst>
          </p:cNvPr>
          <p:cNvSpPr>
            <a:spLocks noGrp="1"/>
          </p:cNvSpPr>
          <p:nvPr>
            <p:ph type="title"/>
          </p:nvPr>
        </p:nvSpPr>
        <p:spPr>
          <a:xfrm>
            <a:off x="431372" y="272057"/>
            <a:ext cx="10972800" cy="535531"/>
          </a:xfrm>
          <a:prstGeom prst="rect">
            <a:avLst/>
          </a:prstGeom>
        </p:spPr>
        <p:txBody>
          <a:bodyPr/>
          <a:lstStyle>
            <a:lvl1pPr>
              <a:defRPr>
                <a:solidFill>
                  <a:srgbClr val="C00000"/>
                </a:solidFill>
              </a:defRPr>
            </a:lvl1pPr>
          </a:lstStyle>
          <a:p>
            <a:r>
              <a:rPr lang="zh-CN" altLang="en-US"/>
              <a:t>单击此处编辑母版标题样式</a:t>
            </a:r>
          </a:p>
        </p:txBody>
      </p:sp>
    </p:spTree>
    <p:extLst>
      <p:ext uri="{BB962C8B-B14F-4D97-AF65-F5344CB8AC3E}">
        <p14:creationId xmlns:p14="http://schemas.microsoft.com/office/powerpoint/2010/main" val="1927745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1_标题和内容">
    <p:bg>
      <p:bgRef idx="1001">
        <a:schemeClr val="bg1"/>
      </p:bgRef>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5BBD0F5D-99AC-4675-946E-DED72B1D13A7}"/>
              </a:ext>
            </a:extLst>
          </p:cNvPr>
          <p:cNvSpPr/>
          <p:nvPr userDrawn="1"/>
        </p:nvSpPr>
        <p:spPr>
          <a:xfrm>
            <a:off x="310835" y="202613"/>
            <a:ext cx="573927" cy="55311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cs typeface="+mn-cs"/>
            </a:endParaRPr>
          </a:p>
        </p:txBody>
      </p:sp>
      <p:sp>
        <p:nvSpPr>
          <p:cNvPr id="11" name="矩形 10">
            <a:extLst>
              <a:ext uri="{FF2B5EF4-FFF2-40B4-BE49-F238E27FC236}">
                <a16:creationId xmlns:a16="http://schemas.microsoft.com/office/drawing/2014/main" id="{D8BAEA4C-6CF7-4554-8E88-4AA9B0784CAD}"/>
              </a:ext>
            </a:extLst>
          </p:cNvPr>
          <p:cNvSpPr/>
          <p:nvPr userDrawn="1"/>
        </p:nvSpPr>
        <p:spPr>
          <a:xfrm>
            <a:off x="164679" y="1"/>
            <a:ext cx="538120" cy="553115"/>
          </a:xfrm>
          <a:prstGeom prst="rect">
            <a:avLst/>
          </a:prstGeom>
          <a:solidFill>
            <a:srgbClr val="C700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cs typeface="+mn-cs"/>
            </a:endParaRPr>
          </a:p>
        </p:txBody>
      </p:sp>
      <p:cxnSp>
        <p:nvCxnSpPr>
          <p:cNvPr id="3" name="直接连接符 2">
            <a:extLst>
              <a:ext uri="{FF2B5EF4-FFF2-40B4-BE49-F238E27FC236}">
                <a16:creationId xmlns:a16="http://schemas.microsoft.com/office/drawing/2014/main" id="{817C2B00-62A5-4A1D-B1DD-40182312579F}"/>
              </a:ext>
            </a:extLst>
          </p:cNvPr>
          <p:cNvCxnSpPr/>
          <p:nvPr userDrawn="1"/>
        </p:nvCxnSpPr>
        <p:spPr bwMode="auto">
          <a:xfrm>
            <a:off x="1030915" y="755727"/>
            <a:ext cx="11161087" cy="0"/>
          </a:xfrm>
          <a:prstGeom prst="line">
            <a:avLst/>
          </a:prstGeom>
          <a:ln w="15875">
            <a:gradFill flip="none" rotWithShape="1">
              <a:gsLst>
                <a:gs pos="49000">
                  <a:schemeClr val="accent3">
                    <a:lumMod val="5000"/>
                    <a:lumOff val="95000"/>
                  </a:schemeClr>
                </a:gs>
                <a:gs pos="74000">
                  <a:srgbClr val="C00000"/>
                </a:gs>
              </a:gsLst>
              <a:lin ang="8100000" scaled="1"/>
              <a:tileRect/>
            </a:gra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7" name="图片 6">
            <a:extLst>
              <a:ext uri="{FF2B5EF4-FFF2-40B4-BE49-F238E27FC236}">
                <a16:creationId xmlns:a16="http://schemas.microsoft.com/office/drawing/2014/main" id="{3960C2A0-B479-45B3-969B-B4BA39EB6F6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407138" y="6381469"/>
            <a:ext cx="1743319" cy="352475"/>
          </a:xfrm>
          <a:prstGeom prst="rect">
            <a:avLst/>
          </a:prstGeom>
        </p:spPr>
      </p:pic>
      <p:sp>
        <p:nvSpPr>
          <p:cNvPr id="6" name="灯片编号占位符 2">
            <a:extLst>
              <a:ext uri="{FF2B5EF4-FFF2-40B4-BE49-F238E27FC236}">
                <a16:creationId xmlns:a16="http://schemas.microsoft.com/office/drawing/2014/main" id="{C3A32FD4-E257-4A5E-84D2-6CA1CF242953}"/>
              </a:ext>
            </a:extLst>
          </p:cNvPr>
          <p:cNvSpPr txBox="1">
            <a:spLocks/>
          </p:cNvSpPr>
          <p:nvPr userDrawn="1"/>
        </p:nvSpPr>
        <p:spPr>
          <a:xfrm>
            <a:off x="163285" y="6475198"/>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800" b="0" i="0" u="none" strike="noStrike" kern="1200" cap="none" spc="0" normalizeH="0" baseline="0" noProof="0" smtClean="0">
                <a:ln>
                  <a:noFill/>
                </a:ln>
                <a:solidFill>
                  <a:srgbClr val="FFFFFF">
                    <a:lumMod val="85000"/>
                  </a:srgbClr>
                </a:solidFill>
                <a:effectLst/>
                <a:uLnTx/>
                <a:uFillTx/>
                <a:latin typeface="Arial"/>
                <a:cs typeface="+mn-cs"/>
              </a:rPr>
              <a:pPr marL="0" marR="0" lvl="0" indent="0" algn="l" defTabSz="1219170" rtl="0" eaLnBrk="1" fontAlgn="auto" latinLnBrk="0" hangingPunct="1">
                <a:lnSpc>
                  <a:spcPct val="100000"/>
                </a:lnSpc>
                <a:spcBef>
                  <a:spcPts val="0"/>
                </a:spcBef>
                <a:spcAft>
                  <a:spcPts val="0"/>
                </a:spcAft>
                <a:buClrTx/>
                <a:buSzTx/>
                <a:buFontTx/>
                <a:buNone/>
                <a:tabLst/>
                <a:defRPr/>
              </a:pPr>
              <a:t>‹#›</a:t>
            </a:fld>
            <a:endParaRPr kumimoji="0" lang="zh-CN" altLang="en-US" sz="1800" b="0" i="0" u="none" strike="noStrike" kern="1200" cap="none" spc="0" normalizeH="0" baseline="0" noProof="0" dirty="0">
              <a:ln>
                <a:noFill/>
              </a:ln>
              <a:solidFill>
                <a:srgbClr val="FFFFFF">
                  <a:lumMod val="85000"/>
                </a:srgbClr>
              </a:solidFill>
              <a:effectLst/>
              <a:uLnTx/>
              <a:uFillTx/>
              <a:latin typeface="Arial"/>
              <a:cs typeface="+mn-cs"/>
            </a:endParaRPr>
          </a:p>
        </p:txBody>
      </p:sp>
    </p:spTree>
    <p:extLst>
      <p:ext uri="{BB962C8B-B14F-4D97-AF65-F5344CB8AC3E}">
        <p14:creationId xmlns:p14="http://schemas.microsoft.com/office/powerpoint/2010/main" val="398217519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5840120" y="2341654"/>
            <a:ext cx="4668592" cy="2952000"/>
          </a:xfrm>
          <a:custGeom>
            <a:avLst/>
            <a:gdLst>
              <a:gd name="connsiteX0" fmla="*/ 0 w 4668592"/>
              <a:gd name="connsiteY0" fmla="*/ 0 h 2952000"/>
              <a:gd name="connsiteX1" fmla="*/ 4668592 w 4668592"/>
              <a:gd name="connsiteY1" fmla="*/ 0 h 2952000"/>
              <a:gd name="connsiteX2" fmla="*/ 4668592 w 4668592"/>
              <a:gd name="connsiteY2" fmla="*/ 2952000 h 2952000"/>
              <a:gd name="connsiteX3" fmla="*/ 0 w 4668592"/>
              <a:gd name="connsiteY3" fmla="*/ 2952000 h 2952000"/>
            </a:gdLst>
            <a:ahLst/>
            <a:cxnLst>
              <a:cxn ang="0">
                <a:pos x="connsiteX0" y="connsiteY0"/>
              </a:cxn>
              <a:cxn ang="0">
                <a:pos x="connsiteX1" y="connsiteY1"/>
              </a:cxn>
              <a:cxn ang="0">
                <a:pos x="connsiteX2" y="connsiteY2"/>
              </a:cxn>
              <a:cxn ang="0">
                <a:pos x="connsiteX3" y="connsiteY3"/>
              </a:cxn>
            </a:cxnLst>
            <a:rect l="l" t="t" r="r" b="b"/>
            <a:pathLst>
              <a:path w="4668592" h="2952000">
                <a:moveTo>
                  <a:pt x="0" y="0"/>
                </a:moveTo>
                <a:lnTo>
                  <a:pt x="4668592" y="0"/>
                </a:lnTo>
                <a:lnTo>
                  <a:pt x="4668592" y="2952000"/>
                </a:lnTo>
                <a:lnTo>
                  <a:pt x="0" y="2952000"/>
                </a:lnTo>
                <a:close/>
              </a:path>
            </a:pathLst>
          </a:custGeom>
        </p:spPr>
        <p:txBody>
          <a:bodyPr>
            <a:noAutofit/>
          </a:bodyPr>
          <a:lstStyle/>
          <a:p>
            <a:pPr lvl="0"/>
            <a:endParaRPr lang="zh-CN" altLang="en-US" noProof="0">
              <a:sym typeface="微软雅黑" pitchFamily="34" charset="-122"/>
            </a:endParaRPr>
          </a:p>
        </p:txBody>
      </p:sp>
    </p:spTree>
    <p:extLst>
      <p:ext uri="{BB962C8B-B14F-4D97-AF65-F5344CB8AC3E}">
        <p14:creationId xmlns:p14="http://schemas.microsoft.com/office/powerpoint/2010/main" val="20707495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16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7D3FCC-055E-49B2-A1FC-10125EA55063}" type="slidenum">
              <a:rPr lang="zh-CN" altLang="en-US" smtClean="0"/>
              <a:t>‹#›</a:t>
            </a:fld>
            <a:endParaRPr lang="zh-CN" altLang="en-US"/>
          </a:p>
        </p:txBody>
      </p:sp>
      <p:pic>
        <p:nvPicPr>
          <p:cNvPr id="7" name="Picture 7" descr="81785148"/>
          <p:cNvPicPr>
            <a:picLocks noChangeAspect="1" noChangeArrowheads="1"/>
          </p:cNvPicPr>
          <p:nvPr/>
        </p:nvPicPr>
        <p:blipFill>
          <a:blip r:embed="rId2" cstate="email"/>
          <a:srcRect b="-198"/>
          <a:stretch>
            <a:fillRect/>
          </a:stretch>
        </p:blipFill>
        <p:spPr bwMode="auto">
          <a:xfrm>
            <a:off x="0" y="-35509"/>
            <a:ext cx="12192000" cy="483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descr="PPT用图红色"/>
          <p:cNvPicPr>
            <a:picLocks noChangeAspect="1" noChangeArrowheads="1"/>
          </p:cNvPicPr>
          <p:nvPr/>
        </p:nvPicPr>
        <p:blipFill>
          <a:blip r:embed="rId3" cstate="email">
            <a:extLst>
              <a:ext uri="{28A0092B-C50C-407E-A947-70E740481C1C}">
                <a14:useLocalDpi xmlns:a14="http://schemas.microsoft.com/office/drawing/2010/main"/>
              </a:ext>
            </a:extLst>
          </a:blip>
          <a:srcRect l="8858" t="42973" r="9386" b="275"/>
          <a:stretch>
            <a:fillRect/>
          </a:stretch>
        </p:blipFill>
        <p:spPr bwMode="auto">
          <a:xfrm>
            <a:off x="0" y="2515188"/>
            <a:ext cx="12192000" cy="437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9"/>
          <p:cNvGrpSpPr>
            <a:grpSpLocks noChangeAspect="1"/>
          </p:cNvGrpSpPr>
          <p:nvPr/>
        </p:nvGrpSpPr>
        <p:grpSpPr bwMode="auto">
          <a:xfrm>
            <a:off x="9177579" y="6240803"/>
            <a:ext cx="2595324" cy="387351"/>
            <a:chOff x="4172" y="3925"/>
            <a:chExt cx="1384" cy="244"/>
          </a:xfrm>
        </p:grpSpPr>
        <p:sp>
          <p:nvSpPr>
            <p:cNvPr id="10" name="AutoShape 10"/>
            <p:cNvSpPr>
              <a:spLocks noChangeAspect="1" noChangeArrowheads="1" noTextEdit="1"/>
            </p:cNvSpPr>
            <p:nvPr/>
          </p:nvSpPr>
          <p:spPr bwMode="auto">
            <a:xfrm>
              <a:off x="4172" y="3925"/>
              <a:ext cx="1384"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11480"/>
              <a:endParaRPr lang="zh-CN" altLang="en-US" sz="1145">
                <a:solidFill>
                  <a:srgbClr val="000000"/>
                </a:solidFill>
              </a:endParaRPr>
            </a:p>
          </p:txBody>
        </p:sp>
        <p:sp>
          <p:nvSpPr>
            <p:cNvPr id="11" name="Freeform 11"/>
            <p:cNvSpPr>
              <a:spLocks noEditPoints="1"/>
            </p:cNvSpPr>
            <p:nvPr/>
          </p:nvSpPr>
          <p:spPr bwMode="auto">
            <a:xfrm>
              <a:off x="4172" y="3925"/>
              <a:ext cx="1384" cy="244"/>
            </a:xfrm>
            <a:custGeom>
              <a:avLst/>
              <a:gdLst>
                <a:gd name="T0" fmla="*/ 1061 w 16608"/>
                <a:gd name="T1" fmla="*/ 35 h 2928"/>
                <a:gd name="T2" fmla="*/ 1139 w 16608"/>
                <a:gd name="T3" fmla="*/ 41 h 2928"/>
                <a:gd name="T4" fmla="*/ 1178 w 16608"/>
                <a:gd name="T5" fmla="*/ 67 h 2928"/>
                <a:gd name="T6" fmla="*/ 1167 w 16608"/>
                <a:gd name="T7" fmla="*/ 147 h 2928"/>
                <a:gd name="T8" fmla="*/ 1144 w 16608"/>
                <a:gd name="T9" fmla="*/ 130 h 2928"/>
                <a:gd name="T10" fmla="*/ 1147 w 16608"/>
                <a:gd name="T11" fmla="*/ 80 h 2928"/>
                <a:gd name="T12" fmla="*/ 1076 w 16608"/>
                <a:gd name="T13" fmla="*/ 148 h 2928"/>
                <a:gd name="T14" fmla="*/ 1007 w 16608"/>
                <a:gd name="T15" fmla="*/ 90 h 2928"/>
                <a:gd name="T16" fmla="*/ 1049 w 16608"/>
                <a:gd name="T17" fmla="*/ 97 h 2928"/>
                <a:gd name="T18" fmla="*/ 1101 w 16608"/>
                <a:gd name="T19" fmla="*/ 162 h 2928"/>
                <a:gd name="T20" fmla="*/ 1095 w 16608"/>
                <a:gd name="T21" fmla="*/ 185 h 2928"/>
                <a:gd name="T22" fmla="*/ 1007 w 16608"/>
                <a:gd name="T23" fmla="*/ 157 h 2928"/>
                <a:gd name="T24" fmla="*/ 1048 w 16608"/>
                <a:gd name="T25" fmla="*/ 58 h 2928"/>
                <a:gd name="T26" fmla="*/ 1270 w 16608"/>
                <a:gd name="T27" fmla="*/ 43 h 2928"/>
                <a:gd name="T28" fmla="*/ 1318 w 16608"/>
                <a:gd name="T29" fmla="*/ 12 h 2928"/>
                <a:gd name="T30" fmla="*/ 1359 w 16608"/>
                <a:gd name="T31" fmla="*/ 36 h 2928"/>
                <a:gd name="T32" fmla="*/ 1379 w 16608"/>
                <a:gd name="T33" fmla="*/ 60 h 2928"/>
                <a:gd name="T34" fmla="*/ 1270 w 16608"/>
                <a:gd name="T35" fmla="*/ 124 h 2928"/>
                <a:gd name="T36" fmla="*/ 1300 w 16608"/>
                <a:gd name="T37" fmla="*/ 73 h 2928"/>
                <a:gd name="T38" fmla="*/ 1362 w 16608"/>
                <a:gd name="T39" fmla="*/ 105 h 2928"/>
                <a:gd name="T40" fmla="*/ 1383 w 16608"/>
                <a:gd name="T41" fmla="*/ 177 h 2928"/>
                <a:gd name="T42" fmla="*/ 1359 w 16608"/>
                <a:gd name="T43" fmla="*/ 165 h 2928"/>
                <a:gd name="T44" fmla="*/ 1331 w 16608"/>
                <a:gd name="T45" fmla="*/ 142 h 2928"/>
                <a:gd name="T46" fmla="*/ 1295 w 16608"/>
                <a:gd name="T47" fmla="*/ 144 h 2928"/>
                <a:gd name="T48" fmla="*/ 1221 w 16608"/>
                <a:gd name="T49" fmla="*/ 41 h 2928"/>
                <a:gd name="T50" fmla="*/ 1249 w 16608"/>
                <a:gd name="T51" fmla="*/ 41 h 2928"/>
                <a:gd name="T52" fmla="*/ 1246 w 16608"/>
                <a:gd name="T53" fmla="*/ 149 h 2928"/>
                <a:gd name="T54" fmla="*/ 1208 w 16608"/>
                <a:gd name="T55" fmla="*/ 181 h 2928"/>
                <a:gd name="T56" fmla="*/ 1204 w 16608"/>
                <a:gd name="T57" fmla="*/ 93 h 2928"/>
                <a:gd name="T58" fmla="*/ 227 w 16608"/>
                <a:gd name="T59" fmla="*/ 82 h 2928"/>
                <a:gd name="T60" fmla="*/ 714 w 16608"/>
                <a:gd name="T61" fmla="*/ 52 h 2928"/>
                <a:gd name="T62" fmla="*/ 775 w 16608"/>
                <a:gd name="T63" fmla="*/ 81 h 2928"/>
                <a:gd name="T64" fmla="*/ 737 w 16608"/>
                <a:gd name="T65" fmla="*/ 158 h 2928"/>
                <a:gd name="T66" fmla="*/ 740 w 16608"/>
                <a:gd name="T67" fmla="*/ 123 h 2928"/>
                <a:gd name="T68" fmla="*/ 702 w 16608"/>
                <a:gd name="T69" fmla="*/ 108 h 2928"/>
                <a:gd name="T70" fmla="*/ 709 w 16608"/>
                <a:gd name="T71" fmla="*/ 180 h 2928"/>
                <a:gd name="T72" fmla="*/ 817 w 16608"/>
                <a:gd name="T73" fmla="*/ 113 h 2928"/>
                <a:gd name="T74" fmla="*/ 914 w 16608"/>
                <a:gd name="T75" fmla="*/ 110 h 2928"/>
                <a:gd name="T76" fmla="*/ 873 w 16608"/>
                <a:gd name="T77" fmla="*/ 60 h 2928"/>
                <a:gd name="T78" fmla="*/ 874 w 16608"/>
                <a:gd name="T79" fmla="*/ 165 h 2928"/>
                <a:gd name="T80" fmla="*/ 928 w 16608"/>
                <a:gd name="T81" fmla="*/ 166 h 2928"/>
                <a:gd name="T82" fmla="*/ 259 w 16608"/>
                <a:gd name="T83" fmla="*/ 0 h 2928"/>
                <a:gd name="T84" fmla="*/ 515 w 16608"/>
                <a:gd name="T85" fmla="*/ 160 h 2928"/>
                <a:gd name="T86" fmla="*/ 479 w 16608"/>
                <a:gd name="T87" fmla="*/ 106 h 2928"/>
                <a:gd name="T88" fmla="*/ 520 w 16608"/>
                <a:gd name="T89" fmla="*/ 84 h 2928"/>
                <a:gd name="T90" fmla="*/ 460 w 16608"/>
                <a:gd name="T91" fmla="*/ 54 h 2928"/>
                <a:gd name="T92" fmla="*/ 438 w 16608"/>
                <a:gd name="T93" fmla="*/ 135 h 2928"/>
                <a:gd name="T94" fmla="*/ 477 w 16608"/>
                <a:gd name="T95" fmla="*/ 185 h 2928"/>
                <a:gd name="T96" fmla="*/ 550 w 16608"/>
                <a:gd name="T97" fmla="*/ 0 h 2928"/>
                <a:gd name="T98" fmla="*/ 381 w 16608"/>
                <a:gd name="T99" fmla="*/ 52 h 2928"/>
                <a:gd name="T100" fmla="*/ 331 w 16608"/>
                <a:gd name="T101" fmla="*/ 185 h 2928"/>
                <a:gd name="T102" fmla="*/ 371 w 16608"/>
                <a:gd name="T103" fmla="*/ 81 h 2928"/>
                <a:gd name="T104" fmla="*/ 415 w 16608"/>
                <a:gd name="T105" fmla="*/ 162 h 2928"/>
                <a:gd name="T106" fmla="*/ 180 w 16608"/>
                <a:gd name="T107" fmla="*/ 52 h 2928"/>
                <a:gd name="T108" fmla="*/ 6 w 16608"/>
                <a:gd name="T109" fmla="*/ 185 h 2928"/>
                <a:gd name="T110" fmla="*/ 76 w 16608"/>
                <a:gd name="T111" fmla="*/ 78 h 2928"/>
                <a:gd name="T112" fmla="*/ 116 w 16608"/>
                <a:gd name="T113" fmla="*/ 185 h 2928"/>
                <a:gd name="T114" fmla="*/ 160 w 16608"/>
                <a:gd name="T115" fmla="*/ 80 h 2928"/>
                <a:gd name="T116" fmla="*/ 205 w 16608"/>
                <a:gd name="T117" fmla="*/ 181 h 2928"/>
                <a:gd name="T118" fmla="*/ 639 w 16608"/>
                <a:gd name="T119" fmla="*/ 53 h 2928"/>
                <a:gd name="T120" fmla="*/ 580 w 16608"/>
                <a:gd name="T121" fmla="*/ 164 h 2928"/>
                <a:gd name="T122" fmla="*/ 646 w 16608"/>
                <a:gd name="T123" fmla="*/ 80 h 2928"/>
                <a:gd name="T124" fmla="*/ 658 w 16608"/>
                <a:gd name="T125" fmla="*/ 52 h 292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608" h="2928">
                  <a:moveTo>
                    <a:pt x="12694" y="1577"/>
                  </a:moveTo>
                  <a:lnTo>
                    <a:pt x="12720" y="1554"/>
                  </a:lnTo>
                  <a:lnTo>
                    <a:pt x="12744" y="1531"/>
                  </a:lnTo>
                  <a:lnTo>
                    <a:pt x="12766" y="1507"/>
                  </a:lnTo>
                  <a:lnTo>
                    <a:pt x="12788" y="1482"/>
                  </a:lnTo>
                  <a:lnTo>
                    <a:pt x="12810" y="1456"/>
                  </a:lnTo>
                  <a:lnTo>
                    <a:pt x="12829" y="1428"/>
                  </a:lnTo>
                  <a:lnTo>
                    <a:pt x="12847" y="1400"/>
                  </a:lnTo>
                  <a:lnTo>
                    <a:pt x="12865" y="1372"/>
                  </a:lnTo>
                  <a:lnTo>
                    <a:pt x="12881" y="1342"/>
                  </a:lnTo>
                  <a:lnTo>
                    <a:pt x="12895" y="1313"/>
                  </a:lnTo>
                  <a:lnTo>
                    <a:pt x="12909" y="1282"/>
                  </a:lnTo>
                  <a:lnTo>
                    <a:pt x="12921" y="1251"/>
                  </a:lnTo>
                  <a:lnTo>
                    <a:pt x="12932" y="1220"/>
                  </a:lnTo>
                  <a:lnTo>
                    <a:pt x="12942" y="1188"/>
                  </a:lnTo>
                  <a:lnTo>
                    <a:pt x="12950" y="1157"/>
                  </a:lnTo>
                  <a:lnTo>
                    <a:pt x="12957" y="1125"/>
                  </a:lnTo>
                  <a:lnTo>
                    <a:pt x="12971" y="1051"/>
                  </a:lnTo>
                  <a:lnTo>
                    <a:pt x="12981" y="981"/>
                  </a:lnTo>
                  <a:lnTo>
                    <a:pt x="12986" y="947"/>
                  </a:lnTo>
                  <a:lnTo>
                    <a:pt x="12990" y="912"/>
                  </a:lnTo>
                  <a:lnTo>
                    <a:pt x="12994" y="877"/>
                  </a:lnTo>
                  <a:lnTo>
                    <a:pt x="12996" y="842"/>
                  </a:lnTo>
                  <a:lnTo>
                    <a:pt x="13001" y="767"/>
                  </a:lnTo>
                  <a:lnTo>
                    <a:pt x="13003" y="685"/>
                  </a:lnTo>
                  <a:lnTo>
                    <a:pt x="13005" y="595"/>
                  </a:lnTo>
                  <a:lnTo>
                    <a:pt x="13005" y="492"/>
                  </a:lnTo>
                  <a:lnTo>
                    <a:pt x="12994" y="492"/>
                  </a:lnTo>
                  <a:lnTo>
                    <a:pt x="12963" y="492"/>
                  </a:lnTo>
                  <a:lnTo>
                    <a:pt x="12918" y="492"/>
                  </a:lnTo>
                  <a:lnTo>
                    <a:pt x="12867" y="492"/>
                  </a:lnTo>
                  <a:lnTo>
                    <a:pt x="12817" y="492"/>
                  </a:lnTo>
                  <a:lnTo>
                    <a:pt x="12773" y="492"/>
                  </a:lnTo>
                  <a:lnTo>
                    <a:pt x="12741" y="492"/>
                  </a:lnTo>
                  <a:lnTo>
                    <a:pt x="12730" y="492"/>
                  </a:lnTo>
                  <a:lnTo>
                    <a:pt x="12730" y="482"/>
                  </a:lnTo>
                  <a:lnTo>
                    <a:pt x="12730" y="455"/>
                  </a:lnTo>
                  <a:lnTo>
                    <a:pt x="12730" y="418"/>
                  </a:lnTo>
                  <a:lnTo>
                    <a:pt x="12730" y="374"/>
                  </a:lnTo>
                  <a:lnTo>
                    <a:pt x="12730" y="332"/>
                  </a:lnTo>
                  <a:lnTo>
                    <a:pt x="12730" y="293"/>
                  </a:lnTo>
                  <a:lnTo>
                    <a:pt x="12730" y="268"/>
                  </a:lnTo>
                  <a:lnTo>
                    <a:pt x="12730" y="257"/>
                  </a:lnTo>
                  <a:lnTo>
                    <a:pt x="12747" y="257"/>
                  </a:lnTo>
                  <a:lnTo>
                    <a:pt x="12794" y="257"/>
                  </a:lnTo>
                  <a:lnTo>
                    <a:pt x="12869" y="257"/>
                  </a:lnTo>
                  <a:lnTo>
                    <a:pt x="12967" y="257"/>
                  </a:lnTo>
                  <a:lnTo>
                    <a:pt x="13082" y="257"/>
                  </a:lnTo>
                  <a:lnTo>
                    <a:pt x="13210" y="257"/>
                  </a:lnTo>
                  <a:lnTo>
                    <a:pt x="13347" y="257"/>
                  </a:lnTo>
                  <a:lnTo>
                    <a:pt x="13488" y="257"/>
                  </a:lnTo>
                  <a:lnTo>
                    <a:pt x="13630" y="257"/>
                  </a:lnTo>
                  <a:lnTo>
                    <a:pt x="13767" y="257"/>
                  </a:lnTo>
                  <a:lnTo>
                    <a:pt x="13895" y="257"/>
                  </a:lnTo>
                  <a:lnTo>
                    <a:pt x="14010" y="257"/>
                  </a:lnTo>
                  <a:lnTo>
                    <a:pt x="14106" y="257"/>
                  </a:lnTo>
                  <a:lnTo>
                    <a:pt x="14181" y="257"/>
                  </a:lnTo>
                  <a:lnTo>
                    <a:pt x="14230" y="257"/>
                  </a:lnTo>
                  <a:lnTo>
                    <a:pt x="14247" y="257"/>
                  </a:lnTo>
                  <a:lnTo>
                    <a:pt x="14243" y="268"/>
                  </a:lnTo>
                  <a:lnTo>
                    <a:pt x="14236" y="293"/>
                  </a:lnTo>
                  <a:lnTo>
                    <a:pt x="14226" y="332"/>
                  </a:lnTo>
                  <a:lnTo>
                    <a:pt x="14213" y="374"/>
                  </a:lnTo>
                  <a:lnTo>
                    <a:pt x="14201" y="418"/>
                  </a:lnTo>
                  <a:lnTo>
                    <a:pt x="14190" y="455"/>
                  </a:lnTo>
                  <a:lnTo>
                    <a:pt x="14183" y="482"/>
                  </a:lnTo>
                  <a:lnTo>
                    <a:pt x="14180" y="492"/>
                  </a:lnTo>
                  <a:lnTo>
                    <a:pt x="14171" y="492"/>
                  </a:lnTo>
                  <a:lnTo>
                    <a:pt x="14143" y="492"/>
                  </a:lnTo>
                  <a:lnTo>
                    <a:pt x="14100" y="492"/>
                  </a:lnTo>
                  <a:lnTo>
                    <a:pt x="14044" y="492"/>
                  </a:lnTo>
                  <a:lnTo>
                    <a:pt x="13979" y="492"/>
                  </a:lnTo>
                  <a:lnTo>
                    <a:pt x="13905" y="492"/>
                  </a:lnTo>
                  <a:lnTo>
                    <a:pt x="13826" y="492"/>
                  </a:lnTo>
                  <a:lnTo>
                    <a:pt x="13745" y="492"/>
                  </a:lnTo>
                  <a:lnTo>
                    <a:pt x="13664" y="492"/>
                  </a:lnTo>
                  <a:lnTo>
                    <a:pt x="13586" y="492"/>
                  </a:lnTo>
                  <a:lnTo>
                    <a:pt x="13513" y="492"/>
                  </a:lnTo>
                  <a:lnTo>
                    <a:pt x="13446" y="492"/>
                  </a:lnTo>
                  <a:lnTo>
                    <a:pt x="13391" y="492"/>
                  </a:lnTo>
                  <a:lnTo>
                    <a:pt x="13349" y="492"/>
                  </a:lnTo>
                  <a:lnTo>
                    <a:pt x="13321" y="492"/>
                  </a:lnTo>
                  <a:lnTo>
                    <a:pt x="13311" y="492"/>
                  </a:lnTo>
                  <a:lnTo>
                    <a:pt x="13311" y="502"/>
                  </a:lnTo>
                  <a:lnTo>
                    <a:pt x="13310" y="528"/>
                  </a:lnTo>
                  <a:lnTo>
                    <a:pt x="13310" y="565"/>
                  </a:lnTo>
                  <a:lnTo>
                    <a:pt x="13310" y="607"/>
                  </a:lnTo>
                  <a:lnTo>
                    <a:pt x="13310" y="648"/>
                  </a:lnTo>
                  <a:lnTo>
                    <a:pt x="13310" y="685"/>
                  </a:lnTo>
                  <a:lnTo>
                    <a:pt x="13310" y="711"/>
                  </a:lnTo>
                  <a:lnTo>
                    <a:pt x="13310" y="721"/>
                  </a:lnTo>
                  <a:lnTo>
                    <a:pt x="13333" y="721"/>
                  </a:lnTo>
                  <a:lnTo>
                    <a:pt x="13395" y="721"/>
                  </a:lnTo>
                  <a:lnTo>
                    <a:pt x="13485" y="721"/>
                  </a:lnTo>
                  <a:lnTo>
                    <a:pt x="13591" y="721"/>
                  </a:lnTo>
                  <a:lnTo>
                    <a:pt x="13702" y="721"/>
                  </a:lnTo>
                  <a:lnTo>
                    <a:pt x="13809" y="721"/>
                  </a:lnTo>
                  <a:lnTo>
                    <a:pt x="13899" y="721"/>
                  </a:lnTo>
                  <a:lnTo>
                    <a:pt x="13961" y="721"/>
                  </a:lnTo>
                  <a:lnTo>
                    <a:pt x="13976" y="721"/>
                  </a:lnTo>
                  <a:lnTo>
                    <a:pt x="13990" y="723"/>
                  </a:lnTo>
                  <a:lnTo>
                    <a:pt x="14004" y="724"/>
                  </a:lnTo>
                  <a:lnTo>
                    <a:pt x="14016" y="727"/>
                  </a:lnTo>
                  <a:lnTo>
                    <a:pt x="14029" y="729"/>
                  </a:lnTo>
                  <a:lnTo>
                    <a:pt x="14040" y="733"/>
                  </a:lnTo>
                  <a:lnTo>
                    <a:pt x="14050" y="737"/>
                  </a:lnTo>
                  <a:lnTo>
                    <a:pt x="14061" y="741"/>
                  </a:lnTo>
                  <a:lnTo>
                    <a:pt x="14070" y="747"/>
                  </a:lnTo>
                  <a:lnTo>
                    <a:pt x="14079" y="752"/>
                  </a:lnTo>
                  <a:lnTo>
                    <a:pt x="14088" y="758"/>
                  </a:lnTo>
                  <a:lnTo>
                    <a:pt x="14096" y="763"/>
                  </a:lnTo>
                  <a:lnTo>
                    <a:pt x="14110" y="777"/>
                  </a:lnTo>
                  <a:lnTo>
                    <a:pt x="14122" y="789"/>
                  </a:lnTo>
                  <a:lnTo>
                    <a:pt x="14132" y="804"/>
                  </a:lnTo>
                  <a:lnTo>
                    <a:pt x="14141" y="817"/>
                  </a:lnTo>
                  <a:lnTo>
                    <a:pt x="14148" y="829"/>
                  </a:lnTo>
                  <a:lnTo>
                    <a:pt x="14153" y="842"/>
                  </a:lnTo>
                  <a:lnTo>
                    <a:pt x="14157" y="853"/>
                  </a:lnTo>
                  <a:lnTo>
                    <a:pt x="14159" y="863"/>
                  </a:lnTo>
                  <a:lnTo>
                    <a:pt x="14160" y="871"/>
                  </a:lnTo>
                  <a:lnTo>
                    <a:pt x="14161" y="877"/>
                  </a:lnTo>
                  <a:lnTo>
                    <a:pt x="14162" y="889"/>
                  </a:lnTo>
                  <a:lnTo>
                    <a:pt x="14162" y="895"/>
                  </a:lnTo>
                  <a:lnTo>
                    <a:pt x="14162" y="919"/>
                  </a:lnTo>
                  <a:lnTo>
                    <a:pt x="14162" y="982"/>
                  </a:lnTo>
                  <a:lnTo>
                    <a:pt x="14162" y="1071"/>
                  </a:lnTo>
                  <a:lnTo>
                    <a:pt x="14162" y="1173"/>
                  </a:lnTo>
                  <a:lnTo>
                    <a:pt x="14162" y="1275"/>
                  </a:lnTo>
                  <a:lnTo>
                    <a:pt x="14162" y="1364"/>
                  </a:lnTo>
                  <a:lnTo>
                    <a:pt x="14162" y="1427"/>
                  </a:lnTo>
                  <a:lnTo>
                    <a:pt x="14162" y="1451"/>
                  </a:lnTo>
                  <a:lnTo>
                    <a:pt x="14160" y="1472"/>
                  </a:lnTo>
                  <a:lnTo>
                    <a:pt x="14159" y="1493"/>
                  </a:lnTo>
                  <a:lnTo>
                    <a:pt x="14156" y="1514"/>
                  </a:lnTo>
                  <a:lnTo>
                    <a:pt x="14153" y="1533"/>
                  </a:lnTo>
                  <a:lnTo>
                    <a:pt x="14149" y="1552"/>
                  </a:lnTo>
                  <a:lnTo>
                    <a:pt x="14145" y="1570"/>
                  </a:lnTo>
                  <a:lnTo>
                    <a:pt x="14140" y="1588"/>
                  </a:lnTo>
                  <a:lnTo>
                    <a:pt x="14133" y="1605"/>
                  </a:lnTo>
                  <a:lnTo>
                    <a:pt x="14126" y="1622"/>
                  </a:lnTo>
                  <a:lnTo>
                    <a:pt x="14119" y="1637"/>
                  </a:lnTo>
                  <a:lnTo>
                    <a:pt x="14112" y="1652"/>
                  </a:lnTo>
                  <a:lnTo>
                    <a:pt x="14102" y="1666"/>
                  </a:lnTo>
                  <a:lnTo>
                    <a:pt x="14093" y="1681"/>
                  </a:lnTo>
                  <a:lnTo>
                    <a:pt x="14084" y="1693"/>
                  </a:lnTo>
                  <a:lnTo>
                    <a:pt x="14073" y="1706"/>
                  </a:lnTo>
                  <a:lnTo>
                    <a:pt x="14062" y="1718"/>
                  </a:lnTo>
                  <a:lnTo>
                    <a:pt x="14050" y="1728"/>
                  </a:lnTo>
                  <a:lnTo>
                    <a:pt x="14039" y="1740"/>
                  </a:lnTo>
                  <a:lnTo>
                    <a:pt x="14025" y="1749"/>
                  </a:lnTo>
                  <a:lnTo>
                    <a:pt x="14013" y="1758"/>
                  </a:lnTo>
                  <a:lnTo>
                    <a:pt x="13998" y="1767"/>
                  </a:lnTo>
                  <a:lnTo>
                    <a:pt x="13985" y="1775"/>
                  </a:lnTo>
                  <a:lnTo>
                    <a:pt x="13969" y="1781"/>
                  </a:lnTo>
                  <a:lnTo>
                    <a:pt x="13954" y="1789"/>
                  </a:lnTo>
                  <a:lnTo>
                    <a:pt x="13938" y="1794"/>
                  </a:lnTo>
                  <a:lnTo>
                    <a:pt x="13923" y="1799"/>
                  </a:lnTo>
                  <a:lnTo>
                    <a:pt x="13905" y="1803"/>
                  </a:lnTo>
                  <a:lnTo>
                    <a:pt x="13888" y="1807"/>
                  </a:lnTo>
                  <a:lnTo>
                    <a:pt x="13871" y="1810"/>
                  </a:lnTo>
                  <a:lnTo>
                    <a:pt x="13852" y="1812"/>
                  </a:lnTo>
                  <a:lnTo>
                    <a:pt x="13833" y="1813"/>
                  </a:lnTo>
                  <a:lnTo>
                    <a:pt x="13815" y="1814"/>
                  </a:lnTo>
                  <a:lnTo>
                    <a:pt x="13778" y="1817"/>
                  </a:lnTo>
                  <a:lnTo>
                    <a:pt x="13727" y="1819"/>
                  </a:lnTo>
                  <a:lnTo>
                    <a:pt x="13664" y="1821"/>
                  </a:lnTo>
                  <a:lnTo>
                    <a:pt x="13599" y="1822"/>
                  </a:lnTo>
                  <a:lnTo>
                    <a:pt x="13537" y="1823"/>
                  </a:lnTo>
                  <a:lnTo>
                    <a:pt x="13484" y="1824"/>
                  </a:lnTo>
                  <a:lnTo>
                    <a:pt x="13447" y="1824"/>
                  </a:lnTo>
                  <a:lnTo>
                    <a:pt x="13434" y="1824"/>
                  </a:lnTo>
                  <a:lnTo>
                    <a:pt x="13431" y="1811"/>
                  </a:lnTo>
                  <a:lnTo>
                    <a:pt x="13422" y="1780"/>
                  </a:lnTo>
                  <a:lnTo>
                    <a:pt x="13411" y="1735"/>
                  </a:lnTo>
                  <a:lnTo>
                    <a:pt x="13399" y="1683"/>
                  </a:lnTo>
                  <a:lnTo>
                    <a:pt x="13385" y="1631"/>
                  </a:lnTo>
                  <a:lnTo>
                    <a:pt x="13374" y="1585"/>
                  </a:lnTo>
                  <a:lnTo>
                    <a:pt x="13365" y="1553"/>
                  </a:lnTo>
                  <a:lnTo>
                    <a:pt x="13362" y="1541"/>
                  </a:lnTo>
                  <a:lnTo>
                    <a:pt x="13372" y="1542"/>
                  </a:lnTo>
                  <a:lnTo>
                    <a:pt x="13396" y="1544"/>
                  </a:lnTo>
                  <a:lnTo>
                    <a:pt x="13433" y="1547"/>
                  </a:lnTo>
                  <a:lnTo>
                    <a:pt x="13478" y="1551"/>
                  </a:lnTo>
                  <a:lnTo>
                    <a:pt x="13527" y="1554"/>
                  </a:lnTo>
                  <a:lnTo>
                    <a:pt x="13577" y="1557"/>
                  </a:lnTo>
                  <a:lnTo>
                    <a:pt x="13623" y="1559"/>
                  </a:lnTo>
                  <a:lnTo>
                    <a:pt x="13662" y="1560"/>
                  </a:lnTo>
                  <a:lnTo>
                    <a:pt x="13686" y="1559"/>
                  </a:lnTo>
                  <a:lnTo>
                    <a:pt x="13708" y="1557"/>
                  </a:lnTo>
                  <a:lnTo>
                    <a:pt x="13729" y="1554"/>
                  </a:lnTo>
                  <a:lnTo>
                    <a:pt x="13748" y="1549"/>
                  </a:lnTo>
                  <a:lnTo>
                    <a:pt x="13766" y="1543"/>
                  </a:lnTo>
                  <a:lnTo>
                    <a:pt x="13783" y="1536"/>
                  </a:lnTo>
                  <a:lnTo>
                    <a:pt x="13798" y="1526"/>
                  </a:lnTo>
                  <a:lnTo>
                    <a:pt x="13812" y="1516"/>
                  </a:lnTo>
                  <a:lnTo>
                    <a:pt x="13824" y="1504"/>
                  </a:lnTo>
                  <a:lnTo>
                    <a:pt x="13836" y="1492"/>
                  </a:lnTo>
                  <a:lnTo>
                    <a:pt x="13845" y="1477"/>
                  </a:lnTo>
                  <a:lnTo>
                    <a:pt x="13852" y="1462"/>
                  </a:lnTo>
                  <a:lnTo>
                    <a:pt x="13858" y="1444"/>
                  </a:lnTo>
                  <a:lnTo>
                    <a:pt x="13862" y="1426"/>
                  </a:lnTo>
                  <a:lnTo>
                    <a:pt x="13866" y="1406"/>
                  </a:lnTo>
                  <a:lnTo>
                    <a:pt x="13867" y="1385"/>
                  </a:lnTo>
                  <a:lnTo>
                    <a:pt x="13867" y="1372"/>
                  </a:lnTo>
                  <a:lnTo>
                    <a:pt x="13867" y="1335"/>
                  </a:lnTo>
                  <a:lnTo>
                    <a:pt x="13867" y="1284"/>
                  </a:lnTo>
                  <a:lnTo>
                    <a:pt x="13867" y="1226"/>
                  </a:lnTo>
                  <a:lnTo>
                    <a:pt x="13867" y="1166"/>
                  </a:lnTo>
                  <a:lnTo>
                    <a:pt x="13867" y="1116"/>
                  </a:lnTo>
                  <a:lnTo>
                    <a:pt x="13867" y="1079"/>
                  </a:lnTo>
                  <a:lnTo>
                    <a:pt x="13867" y="1065"/>
                  </a:lnTo>
                  <a:lnTo>
                    <a:pt x="13867" y="1060"/>
                  </a:lnTo>
                  <a:lnTo>
                    <a:pt x="13865" y="1047"/>
                  </a:lnTo>
                  <a:lnTo>
                    <a:pt x="13864" y="1039"/>
                  </a:lnTo>
                  <a:lnTo>
                    <a:pt x="13860" y="1031"/>
                  </a:lnTo>
                  <a:lnTo>
                    <a:pt x="13857" y="1020"/>
                  </a:lnTo>
                  <a:lnTo>
                    <a:pt x="13852" y="1011"/>
                  </a:lnTo>
                  <a:lnTo>
                    <a:pt x="13847" y="1001"/>
                  </a:lnTo>
                  <a:lnTo>
                    <a:pt x="13840" y="991"/>
                  </a:lnTo>
                  <a:lnTo>
                    <a:pt x="13830" y="983"/>
                  </a:lnTo>
                  <a:lnTo>
                    <a:pt x="13820" y="975"/>
                  </a:lnTo>
                  <a:lnTo>
                    <a:pt x="13815" y="972"/>
                  </a:lnTo>
                  <a:lnTo>
                    <a:pt x="13807" y="968"/>
                  </a:lnTo>
                  <a:lnTo>
                    <a:pt x="13801" y="965"/>
                  </a:lnTo>
                  <a:lnTo>
                    <a:pt x="13794" y="963"/>
                  </a:lnTo>
                  <a:lnTo>
                    <a:pt x="13786" y="961"/>
                  </a:lnTo>
                  <a:lnTo>
                    <a:pt x="13777" y="960"/>
                  </a:lnTo>
                  <a:lnTo>
                    <a:pt x="13768" y="959"/>
                  </a:lnTo>
                  <a:lnTo>
                    <a:pt x="13759" y="959"/>
                  </a:lnTo>
                  <a:lnTo>
                    <a:pt x="13710" y="959"/>
                  </a:lnTo>
                  <a:lnTo>
                    <a:pt x="13648" y="959"/>
                  </a:lnTo>
                  <a:lnTo>
                    <a:pt x="13576" y="959"/>
                  </a:lnTo>
                  <a:lnTo>
                    <a:pt x="13502" y="959"/>
                  </a:lnTo>
                  <a:lnTo>
                    <a:pt x="13431" y="959"/>
                  </a:lnTo>
                  <a:lnTo>
                    <a:pt x="13368" y="959"/>
                  </a:lnTo>
                  <a:lnTo>
                    <a:pt x="13322" y="959"/>
                  </a:lnTo>
                  <a:lnTo>
                    <a:pt x="13294" y="959"/>
                  </a:lnTo>
                  <a:lnTo>
                    <a:pt x="13292" y="996"/>
                  </a:lnTo>
                  <a:lnTo>
                    <a:pt x="13287" y="1034"/>
                  </a:lnTo>
                  <a:lnTo>
                    <a:pt x="13283" y="1070"/>
                  </a:lnTo>
                  <a:lnTo>
                    <a:pt x="13278" y="1105"/>
                  </a:lnTo>
                  <a:lnTo>
                    <a:pt x="13272" y="1139"/>
                  </a:lnTo>
                  <a:lnTo>
                    <a:pt x="13265" y="1174"/>
                  </a:lnTo>
                  <a:lnTo>
                    <a:pt x="13257" y="1207"/>
                  </a:lnTo>
                  <a:lnTo>
                    <a:pt x="13249" y="1239"/>
                  </a:lnTo>
                  <a:lnTo>
                    <a:pt x="13240" y="1271"/>
                  </a:lnTo>
                  <a:lnTo>
                    <a:pt x="13229" y="1302"/>
                  </a:lnTo>
                  <a:lnTo>
                    <a:pt x="13218" y="1332"/>
                  </a:lnTo>
                  <a:lnTo>
                    <a:pt x="13206" y="1362"/>
                  </a:lnTo>
                  <a:lnTo>
                    <a:pt x="13195" y="1391"/>
                  </a:lnTo>
                  <a:lnTo>
                    <a:pt x="13182" y="1420"/>
                  </a:lnTo>
                  <a:lnTo>
                    <a:pt x="13168" y="1447"/>
                  </a:lnTo>
                  <a:lnTo>
                    <a:pt x="13154" y="1474"/>
                  </a:lnTo>
                  <a:lnTo>
                    <a:pt x="13139" y="1501"/>
                  </a:lnTo>
                  <a:lnTo>
                    <a:pt x="13123" y="1527"/>
                  </a:lnTo>
                  <a:lnTo>
                    <a:pt x="13107" y="1552"/>
                  </a:lnTo>
                  <a:lnTo>
                    <a:pt x="13090" y="1577"/>
                  </a:lnTo>
                  <a:lnTo>
                    <a:pt x="13073" y="1601"/>
                  </a:lnTo>
                  <a:lnTo>
                    <a:pt x="13055" y="1625"/>
                  </a:lnTo>
                  <a:lnTo>
                    <a:pt x="13036" y="1648"/>
                  </a:lnTo>
                  <a:lnTo>
                    <a:pt x="13017" y="1669"/>
                  </a:lnTo>
                  <a:lnTo>
                    <a:pt x="12997" y="1691"/>
                  </a:lnTo>
                  <a:lnTo>
                    <a:pt x="12977" y="1712"/>
                  </a:lnTo>
                  <a:lnTo>
                    <a:pt x="12956" y="1733"/>
                  </a:lnTo>
                  <a:lnTo>
                    <a:pt x="12935" y="1752"/>
                  </a:lnTo>
                  <a:lnTo>
                    <a:pt x="12914" y="1772"/>
                  </a:lnTo>
                  <a:lnTo>
                    <a:pt x="12891" y="1791"/>
                  </a:lnTo>
                  <a:lnTo>
                    <a:pt x="12868" y="1809"/>
                  </a:lnTo>
                  <a:lnTo>
                    <a:pt x="12845" y="1827"/>
                  </a:lnTo>
                  <a:lnTo>
                    <a:pt x="12839" y="1817"/>
                  </a:lnTo>
                  <a:lnTo>
                    <a:pt x="12821" y="1787"/>
                  </a:lnTo>
                  <a:lnTo>
                    <a:pt x="12798" y="1748"/>
                  </a:lnTo>
                  <a:lnTo>
                    <a:pt x="12769" y="1701"/>
                  </a:lnTo>
                  <a:lnTo>
                    <a:pt x="12741" y="1656"/>
                  </a:lnTo>
                  <a:lnTo>
                    <a:pt x="12718" y="1615"/>
                  </a:lnTo>
                  <a:lnTo>
                    <a:pt x="12701" y="1587"/>
                  </a:lnTo>
                  <a:lnTo>
                    <a:pt x="12694" y="1577"/>
                  </a:lnTo>
                  <a:close/>
                  <a:moveTo>
                    <a:pt x="12083" y="1889"/>
                  </a:moveTo>
                  <a:lnTo>
                    <a:pt x="12093" y="1884"/>
                  </a:lnTo>
                  <a:lnTo>
                    <a:pt x="12116" y="1870"/>
                  </a:lnTo>
                  <a:lnTo>
                    <a:pt x="12149" y="1851"/>
                  </a:lnTo>
                  <a:lnTo>
                    <a:pt x="12186" y="1828"/>
                  </a:lnTo>
                  <a:lnTo>
                    <a:pt x="12225" y="1806"/>
                  </a:lnTo>
                  <a:lnTo>
                    <a:pt x="12257" y="1786"/>
                  </a:lnTo>
                  <a:lnTo>
                    <a:pt x="12281" y="1773"/>
                  </a:lnTo>
                  <a:lnTo>
                    <a:pt x="12289" y="1768"/>
                  </a:lnTo>
                  <a:lnTo>
                    <a:pt x="12289" y="1740"/>
                  </a:lnTo>
                  <a:lnTo>
                    <a:pt x="12289" y="1665"/>
                  </a:lnTo>
                  <a:lnTo>
                    <a:pt x="12289" y="1560"/>
                  </a:lnTo>
                  <a:lnTo>
                    <a:pt x="12289" y="1440"/>
                  </a:lnTo>
                  <a:lnTo>
                    <a:pt x="12290" y="1320"/>
                  </a:lnTo>
                  <a:lnTo>
                    <a:pt x="12290" y="1215"/>
                  </a:lnTo>
                  <a:lnTo>
                    <a:pt x="12290" y="1142"/>
                  </a:lnTo>
                  <a:lnTo>
                    <a:pt x="12290" y="1113"/>
                  </a:lnTo>
                  <a:lnTo>
                    <a:pt x="12281" y="1113"/>
                  </a:lnTo>
                  <a:lnTo>
                    <a:pt x="12258" y="1113"/>
                  </a:lnTo>
                  <a:lnTo>
                    <a:pt x="12226" y="1113"/>
                  </a:lnTo>
                  <a:lnTo>
                    <a:pt x="12188" y="1113"/>
                  </a:lnTo>
                  <a:lnTo>
                    <a:pt x="12151" y="1113"/>
                  </a:lnTo>
                  <a:lnTo>
                    <a:pt x="12119" y="1113"/>
                  </a:lnTo>
                  <a:lnTo>
                    <a:pt x="12096" y="1113"/>
                  </a:lnTo>
                  <a:lnTo>
                    <a:pt x="12086" y="1113"/>
                  </a:lnTo>
                  <a:lnTo>
                    <a:pt x="12086" y="1102"/>
                  </a:lnTo>
                  <a:lnTo>
                    <a:pt x="12086" y="1075"/>
                  </a:lnTo>
                  <a:lnTo>
                    <a:pt x="12086" y="1038"/>
                  </a:lnTo>
                  <a:lnTo>
                    <a:pt x="12086" y="993"/>
                  </a:lnTo>
                  <a:lnTo>
                    <a:pt x="12086" y="950"/>
                  </a:lnTo>
                  <a:lnTo>
                    <a:pt x="12086" y="911"/>
                  </a:lnTo>
                  <a:lnTo>
                    <a:pt x="12086" y="884"/>
                  </a:lnTo>
                  <a:lnTo>
                    <a:pt x="12086" y="874"/>
                  </a:lnTo>
                  <a:lnTo>
                    <a:pt x="12101" y="874"/>
                  </a:lnTo>
                  <a:lnTo>
                    <a:pt x="12139" y="874"/>
                  </a:lnTo>
                  <a:lnTo>
                    <a:pt x="12194" y="874"/>
                  </a:lnTo>
                  <a:lnTo>
                    <a:pt x="12257" y="874"/>
                  </a:lnTo>
                  <a:lnTo>
                    <a:pt x="12320" y="874"/>
                  </a:lnTo>
                  <a:lnTo>
                    <a:pt x="12376" y="874"/>
                  </a:lnTo>
                  <a:lnTo>
                    <a:pt x="12419" y="874"/>
                  </a:lnTo>
                  <a:lnTo>
                    <a:pt x="12437" y="874"/>
                  </a:lnTo>
                  <a:lnTo>
                    <a:pt x="12452" y="875"/>
                  </a:lnTo>
                  <a:lnTo>
                    <a:pt x="12472" y="879"/>
                  </a:lnTo>
                  <a:lnTo>
                    <a:pt x="12484" y="882"/>
                  </a:lnTo>
                  <a:lnTo>
                    <a:pt x="12496" y="888"/>
                  </a:lnTo>
                  <a:lnTo>
                    <a:pt x="12509" y="894"/>
                  </a:lnTo>
                  <a:lnTo>
                    <a:pt x="12521" y="902"/>
                  </a:lnTo>
                  <a:lnTo>
                    <a:pt x="12534" y="911"/>
                  </a:lnTo>
                  <a:lnTo>
                    <a:pt x="12545" y="924"/>
                  </a:lnTo>
                  <a:lnTo>
                    <a:pt x="12550" y="930"/>
                  </a:lnTo>
                  <a:lnTo>
                    <a:pt x="12557" y="938"/>
                  </a:lnTo>
                  <a:lnTo>
                    <a:pt x="12561" y="946"/>
                  </a:lnTo>
                  <a:lnTo>
                    <a:pt x="12566" y="955"/>
                  </a:lnTo>
                  <a:lnTo>
                    <a:pt x="12570" y="964"/>
                  </a:lnTo>
                  <a:lnTo>
                    <a:pt x="12573" y="974"/>
                  </a:lnTo>
                  <a:lnTo>
                    <a:pt x="12577" y="984"/>
                  </a:lnTo>
                  <a:lnTo>
                    <a:pt x="12580" y="995"/>
                  </a:lnTo>
                  <a:lnTo>
                    <a:pt x="12582" y="1008"/>
                  </a:lnTo>
                  <a:lnTo>
                    <a:pt x="12584" y="1021"/>
                  </a:lnTo>
                  <a:lnTo>
                    <a:pt x="12585" y="1035"/>
                  </a:lnTo>
                  <a:lnTo>
                    <a:pt x="12585" y="1049"/>
                  </a:lnTo>
                  <a:lnTo>
                    <a:pt x="12585" y="1058"/>
                  </a:lnTo>
                  <a:lnTo>
                    <a:pt x="12585" y="1080"/>
                  </a:lnTo>
                  <a:lnTo>
                    <a:pt x="12585" y="1117"/>
                  </a:lnTo>
                  <a:lnTo>
                    <a:pt x="12585" y="1162"/>
                  </a:lnTo>
                  <a:lnTo>
                    <a:pt x="12585" y="1217"/>
                  </a:lnTo>
                  <a:lnTo>
                    <a:pt x="12585" y="1279"/>
                  </a:lnTo>
                  <a:lnTo>
                    <a:pt x="12585" y="1345"/>
                  </a:lnTo>
                  <a:lnTo>
                    <a:pt x="12585" y="1412"/>
                  </a:lnTo>
                  <a:lnTo>
                    <a:pt x="12585" y="1481"/>
                  </a:lnTo>
                  <a:lnTo>
                    <a:pt x="12585" y="1546"/>
                  </a:lnTo>
                  <a:lnTo>
                    <a:pt x="12585" y="1607"/>
                  </a:lnTo>
                  <a:lnTo>
                    <a:pt x="12585" y="1663"/>
                  </a:lnTo>
                  <a:lnTo>
                    <a:pt x="12585" y="1709"/>
                  </a:lnTo>
                  <a:lnTo>
                    <a:pt x="12585" y="1745"/>
                  </a:lnTo>
                  <a:lnTo>
                    <a:pt x="12585" y="1768"/>
                  </a:lnTo>
                  <a:lnTo>
                    <a:pt x="12585" y="1776"/>
                  </a:lnTo>
                  <a:lnTo>
                    <a:pt x="12595" y="1787"/>
                  </a:lnTo>
                  <a:lnTo>
                    <a:pt x="12607" y="1798"/>
                  </a:lnTo>
                  <a:lnTo>
                    <a:pt x="12618" y="1808"/>
                  </a:lnTo>
                  <a:lnTo>
                    <a:pt x="12630" y="1819"/>
                  </a:lnTo>
                  <a:lnTo>
                    <a:pt x="12643" y="1828"/>
                  </a:lnTo>
                  <a:lnTo>
                    <a:pt x="12655" y="1837"/>
                  </a:lnTo>
                  <a:lnTo>
                    <a:pt x="12669" y="1846"/>
                  </a:lnTo>
                  <a:lnTo>
                    <a:pt x="12683" y="1854"/>
                  </a:lnTo>
                  <a:lnTo>
                    <a:pt x="12697" y="1862"/>
                  </a:lnTo>
                  <a:lnTo>
                    <a:pt x="12712" y="1869"/>
                  </a:lnTo>
                  <a:lnTo>
                    <a:pt x="12728" y="1877"/>
                  </a:lnTo>
                  <a:lnTo>
                    <a:pt x="12744" y="1884"/>
                  </a:lnTo>
                  <a:lnTo>
                    <a:pt x="12777" y="1896"/>
                  </a:lnTo>
                  <a:lnTo>
                    <a:pt x="12812" y="1908"/>
                  </a:lnTo>
                  <a:lnTo>
                    <a:pt x="12848" y="1918"/>
                  </a:lnTo>
                  <a:lnTo>
                    <a:pt x="12888" y="1926"/>
                  </a:lnTo>
                  <a:lnTo>
                    <a:pt x="12928" y="1934"/>
                  </a:lnTo>
                  <a:lnTo>
                    <a:pt x="12972" y="1939"/>
                  </a:lnTo>
                  <a:lnTo>
                    <a:pt x="13017" y="1943"/>
                  </a:lnTo>
                  <a:lnTo>
                    <a:pt x="13063" y="1946"/>
                  </a:lnTo>
                  <a:lnTo>
                    <a:pt x="13112" y="1948"/>
                  </a:lnTo>
                  <a:lnTo>
                    <a:pt x="13163" y="1949"/>
                  </a:lnTo>
                  <a:lnTo>
                    <a:pt x="13175" y="1949"/>
                  </a:lnTo>
                  <a:lnTo>
                    <a:pt x="13210" y="1949"/>
                  </a:lnTo>
                  <a:lnTo>
                    <a:pt x="13263" y="1949"/>
                  </a:lnTo>
                  <a:lnTo>
                    <a:pt x="13332" y="1949"/>
                  </a:lnTo>
                  <a:lnTo>
                    <a:pt x="13414" y="1949"/>
                  </a:lnTo>
                  <a:lnTo>
                    <a:pt x="13506" y="1949"/>
                  </a:lnTo>
                  <a:lnTo>
                    <a:pt x="13604" y="1949"/>
                  </a:lnTo>
                  <a:lnTo>
                    <a:pt x="13706" y="1949"/>
                  </a:lnTo>
                  <a:lnTo>
                    <a:pt x="13806" y="1949"/>
                  </a:lnTo>
                  <a:lnTo>
                    <a:pt x="13904" y="1949"/>
                  </a:lnTo>
                  <a:lnTo>
                    <a:pt x="13996" y="1949"/>
                  </a:lnTo>
                  <a:lnTo>
                    <a:pt x="14078" y="1949"/>
                  </a:lnTo>
                  <a:lnTo>
                    <a:pt x="14148" y="1949"/>
                  </a:lnTo>
                  <a:lnTo>
                    <a:pt x="14201" y="1949"/>
                  </a:lnTo>
                  <a:lnTo>
                    <a:pt x="14236" y="1949"/>
                  </a:lnTo>
                  <a:lnTo>
                    <a:pt x="14248" y="1949"/>
                  </a:lnTo>
                  <a:lnTo>
                    <a:pt x="14244" y="1961"/>
                  </a:lnTo>
                  <a:lnTo>
                    <a:pt x="14236" y="1991"/>
                  </a:lnTo>
                  <a:lnTo>
                    <a:pt x="14224" y="2033"/>
                  </a:lnTo>
                  <a:lnTo>
                    <a:pt x="14210" y="2083"/>
                  </a:lnTo>
                  <a:lnTo>
                    <a:pt x="14197" y="2132"/>
                  </a:lnTo>
                  <a:lnTo>
                    <a:pt x="14184" y="2174"/>
                  </a:lnTo>
                  <a:lnTo>
                    <a:pt x="14176" y="2204"/>
                  </a:lnTo>
                  <a:lnTo>
                    <a:pt x="14173" y="2216"/>
                  </a:lnTo>
                  <a:lnTo>
                    <a:pt x="14160" y="2216"/>
                  </a:lnTo>
                  <a:lnTo>
                    <a:pt x="14128" y="2216"/>
                  </a:lnTo>
                  <a:lnTo>
                    <a:pt x="14077" y="2216"/>
                  </a:lnTo>
                  <a:lnTo>
                    <a:pt x="14011" y="2216"/>
                  </a:lnTo>
                  <a:lnTo>
                    <a:pt x="13932" y="2216"/>
                  </a:lnTo>
                  <a:lnTo>
                    <a:pt x="13845" y="2216"/>
                  </a:lnTo>
                  <a:lnTo>
                    <a:pt x="13751" y="2216"/>
                  </a:lnTo>
                  <a:lnTo>
                    <a:pt x="13655" y="2216"/>
                  </a:lnTo>
                  <a:lnTo>
                    <a:pt x="13558" y="2216"/>
                  </a:lnTo>
                  <a:lnTo>
                    <a:pt x="13464" y="2216"/>
                  </a:lnTo>
                  <a:lnTo>
                    <a:pt x="13377" y="2216"/>
                  </a:lnTo>
                  <a:lnTo>
                    <a:pt x="13298" y="2216"/>
                  </a:lnTo>
                  <a:lnTo>
                    <a:pt x="13231" y="2216"/>
                  </a:lnTo>
                  <a:lnTo>
                    <a:pt x="13179" y="2216"/>
                  </a:lnTo>
                  <a:lnTo>
                    <a:pt x="13146" y="2216"/>
                  </a:lnTo>
                  <a:lnTo>
                    <a:pt x="13135" y="2216"/>
                  </a:lnTo>
                  <a:lnTo>
                    <a:pt x="13076" y="2213"/>
                  </a:lnTo>
                  <a:lnTo>
                    <a:pt x="13020" y="2207"/>
                  </a:lnTo>
                  <a:lnTo>
                    <a:pt x="12965" y="2202"/>
                  </a:lnTo>
                  <a:lnTo>
                    <a:pt x="12913" y="2196"/>
                  </a:lnTo>
                  <a:lnTo>
                    <a:pt x="12863" y="2189"/>
                  </a:lnTo>
                  <a:lnTo>
                    <a:pt x="12814" y="2180"/>
                  </a:lnTo>
                  <a:lnTo>
                    <a:pt x="12768" y="2171"/>
                  </a:lnTo>
                  <a:lnTo>
                    <a:pt x="12725" y="2161"/>
                  </a:lnTo>
                  <a:lnTo>
                    <a:pt x="12683" y="2149"/>
                  </a:lnTo>
                  <a:lnTo>
                    <a:pt x="12644" y="2136"/>
                  </a:lnTo>
                  <a:lnTo>
                    <a:pt x="12624" y="2129"/>
                  </a:lnTo>
                  <a:lnTo>
                    <a:pt x="12607" y="2121"/>
                  </a:lnTo>
                  <a:lnTo>
                    <a:pt x="12588" y="2113"/>
                  </a:lnTo>
                  <a:lnTo>
                    <a:pt x="12571" y="2105"/>
                  </a:lnTo>
                  <a:lnTo>
                    <a:pt x="12554" y="2096"/>
                  </a:lnTo>
                  <a:lnTo>
                    <a:pt x="12538" y="2087"/>
                  </a:lnTo>
                  <a:lnTo>
                    <a:pt x="12521" y="2078"/>
                  </a:lnTo>
                  <a:lnTo>
                    <a:pt x="12507" y="2067"/>
                  </a:lnTo>
                  <a:lnTo>
                    <a:pt x="12491" y="2057"/>
                  </a:lnTo>
                  <a:lnTo>
                    <a:pt x="12478" y="2047"/>
                  </a:lnTo>
                  <a:lnTo>
                    <a:pt x="12464" y="2035"/>
                  </a:lnTo>
                  <a:lnTo>
                    <a:pt x="12451" y="2023"/>
                  </a:lnTo>
                  <a:lnTo>
                    <a:pt x="12435" y="2032"/>
                  </a:lnTo>
                  <a:lnTo>
                    <a:pt x="12394" y="2057"/>
                  </a:lnTo>
                  <a:lnTo>
                    <a:pt x="12335" y="2091"/>
                  </a:lnTo>
                  <a:lnTo>
                    <a:pt x="12267" y="2130"/>
                  </a:lnTo>
                  <a:lnTo>
                    <a:pt x="12200" y="2169"/>
                  </a:lnTo>
                  <a:lnTo>
                    <a:pt x="12141" y="2203"/>
                  </a:lnTo>
                  <a:lnTo>
                    <a:pt x="12100" y="2227"/>
                  </a:lnTo>
                  <a:lnTo>
                    <a:pt x="12084" y="2236"/>
                  </a:lnTo>
                  <a:lnTo>
                    <a:pt x="12084" y="2221"/>
                  </a:lnTo>
                  <a:lnTo>
                    <a:pt x="12084" y="2181"/>
                  </a:lnTo>
                  <a:lnTo>
                    <a:pt x="12083" y="2127"/>
                  </a:lnTo>
                  <a:lnTo>
                    <a:pt x="12083" y="2062"/>
                  </a:lnTo>
                  <a:lnTo>
                    <a:pt x="12083" y="1999"/>
                  </a:lnTo>
                  <a:lnTo>
                    <a:pt x="12083" y="1943"/>
                  </a:lnTo>
                  <a:lnTo>
                    <a:pt x="12083" y="1904"/>
                  </a:lnTo>
                  <a:lnTo>
                    <a:pt x="12083" y="1889"/>
                  </a:lnTo>
                  <a:close/>
                  <a:moveTo>
                    <a:pt x="12095" y="292"/>
                  </a:moveTo>
                  <a:lnTo>
                    <a:pt x="12094" y="289"/>
                  </a:lnTo>
                  <a:lnTo>
                    <a:pt x="12094" y="282"/>
                  </a:lnTo>
                  <a:lnTo>
                    <a:pt x="12094" y="278"/>
                  </a:lnTo>
                  <a:lnTo>
                    <a:pt x="12095" y="274"/>
                  </a:lnTo>
                  <a:lnTo>
                    <a:pt x="12097" y="270"/>
                  </a:lnTo>
                  <a:lnTo>
                    <a:pt x="12101" y="265"/>
                  </a:lnTo>
                  <a:lnTo>
                    <a:pt x="12105" y="262"/>
                  </a:lnTo>
                  <a:lnTo>
                    <a:pt x="12111" y="259"/>
                  </a:lnTo>
                  <a:lnTo>
                    <a:pt x="12120" y="257"/>
                  </a:lnTo>
                  <a:lnTo>
                    <a:pt x="12129" y="257"/>
                  </a:lnTo>
                  <a:lnTo>
                    <a:pt x="12146" y="257"/>
                  </a:lnTo>
                  <a:lnTo>
                    <a:pt x="12171" y="257"/>
                  </a:lnTo>
                  <a:lnTo>
                    <a:pt x="12202" y="257"/>
                  </a:lnTo>
                  <a:lnTo>
                    <a:pt x="12237" y="257"/>
                  </a:lnTo>
                  <a:lnTo>
                    <a:pt x="12273" y="257"/>
                  </a:lnTo>
                  <a:lnTo>
                    <a:pt x="12310" y="257"/>
                  </a:lnTo>
                  <a:lnTo>
                    <a:pt x="12343" y="257"/>
                  </a:lnTo>
                  <a:lnTo>
                    <a:pt x="12370" y="257"/>
                  </a:lnTo>
                  <a:lnTo>
                    <a:pt x="12377" y="257"/>
                  </a:lnTo>
                  <a:lnTo>
                    <a:pt x="12383" y="258"/>
                  </a:lnTo>
                  <a:lnTo>
                    <a:pt x="12390" y="260"/>
                  </a:lnTo>
                  <a:lnTo>
                    <a:pt x="12395" y="262"/>
                  </a:lnTo>
                  <a:lnTo>
                    <a:pt x="12404" y="269"/>
                  </a:lnTo>
                  <a:lnTo>
                    <a:pt x="12411" y="275"/>
                  </a:lnTo>
                  <a:lnTo>
                    <a:pt x="12421" y="287"/>
                  </a:lnTo>
                  <a:lnTo>
                    <a:pt x="12424" y="293"/>
                  </a:lnTo>
                  <a:lnTo>
                    <a:pt x="12430" y="310"/>
                  </a:lnTo>
                  <a:lnTo>
                    <a:pt x="12447" y="355"/>
                  </a:lnTo>
                  <a:lnTo>
                    <a:pt x="12471" y="418"/>
                  </a:lnTo>
                  <a:lnTo>
                    <a:pt x="12499" y="489"/>
                  </a:lnTo>
                  <a:lnTo>
                    <a:pt x="12527" y="562"/>
                  </a:lnTo>
                  <a:lnTo>
                    <a:pt x="12550" y="624"/>
                  </a:lnTo>
                  <a:lnTo>
                    <a:pt x="12567" y="669"/>
                  </a:lnTo>
                  <a:lnTo>
                    <a:pt x="12573" y="685"/>
                  </a:lnTo>
                  <a:lnTo>
                    <a:pt x="12575" y="691"/>
                  </a:lnTo>
                  <a:lnTo>
                    <a:pt x="12576" y="701"/>
                  </a:lnTo>
                  <a:lnTo>
                    <a:pt x="12576" y="706"/>
                  </a:lnTo>
                  <a:lnTo>
                    <a:pt x="12575" y="710"/>
                  </a:lnTo>
                  <a:lnTo>
                    <a:pt x="12573" y="715"/>
                  </a:lnTo>
                  <a:lnTo>
                    <a:pt x="12569" y="720"/>
                  </a:lnTo>
                  <a:lnTo>
                    <a:pt x="12564" y="724"/>
                  </a:lnTo>
                  <a:lnTo>
                    <a:pt x="12558" y="726"/>
                  </a:lnTo>
                  <a:lnTo>
                    <a:pt x="12549" y="728"/>
                  </a:lnTo>
                  <a:lnTo>
                    <a:pt x="12540" y="729"/>
                  </a:lnTo>
                  <a:lnTo>
                    <a:pt x="12519" y="729"/>
                  </a:lnTo>
                  <a:lnTo>
                    <a:pt x="12487" y="729"/>
                  </a:lnTo>
                  <a:lnTo>
                    <a:pt x="12447" y="729"/>
                  </a:lnTo>
                  <a:lnTo>
                    <a:pt x="12404" y="729"/>
                  </a:lnTo>
                  <a:lnTo>
                    <a:pt x="12363" y="729"/>
                  </a:lnTo>
                  <a:lnTo>
                    <a:pt x="12327" y="729"/>
                  </a:lnTo>
                  <a:lnTo>
                    <a:pt x="12302" y="729"/>
                  </a:lnTo>
                  <a:lnTo>
                    <a:pt x="12293" y="729"/>
                  </a:lnTo>
                  <a:lnTo>
                    <a:pt x="12288" y="728"/>
                  </a:lnTo>
                  <a:lnTo>
                    <a:pt x="12282" y="727"/>
                  </a:lnTo>
                  <a:lnTo>
                    <a:pt x="12275" y="725"/>
                  </a:lnTo>
                  <a:lnTo>
                    <a:pt x="12269" y="722"/>
                  </a:lnTo>
                  <a:lnTo>
                    <a:pt x="12264" y="719"/>
                  </a:lnTo>
                  <a:lnTo>
                    <a:pt x="12259" y="713"/>
                  </a:lnTo>
                  <a:lnTo>
                    <a:pt x="12255" y="708"/>
                  </a:lnTo>
                  <a:lnTo>
                    <a:pt x="12252" y="702"/>
                  </a:lnTo>
                  <a:lnTo>
                    <a:pt x="12244" y="683"/>
                  </a:lnTo>
                  <a:lnTo>
                    <a:pt x="12227" y="637"/>
                  </a:lnTo>
                  <a:lnTo>
                    <a:pt x="12201" y="571"/>
                  </a:lnTo>
                  <a:lnTo>
                    <a:pt x="12173" y="496"/>
                  </a:lnTo>
                  <a:lnTo>
                    <a:pt x="12145" y="421"/>
                  </a:lnTo>
                  <a:lnTo>
                    <a:pt x="12120" y="356"/>
                  </a:lnTo>
                  <a:lnTo>
                    <a:pt x="12102" y="310"/>
                  </a:lnTo>
                  <a:lnTo>
                    <a:pt x="12095" y="292"/>
                  </a:lnTo>
                  <a:close/>
                  <a:moveTo>
                    <a:pt x="15242" y="767"/>
                  </a:moveTo>
                  <a:lnTo>
                    <a:pt x="15242" y="745"/>
                  </a:lnTo>
                  <a:lnTo>
                    <a:pt x="15242" y="687"/>
                  </a:lnTo>
                  <a:lnTo>
                    <a:pt x="15242" y="606"/>
                  </a:lnTo>
                  <a:lnTo>
                    <a:pt x="15242" y="512"/>
                  </a:lnTo>
                  <a:lnTo>
                    <a:pt x="15242" y="419"/>
                  </a:lnTo>
                  <a:lnTo>
                    <a:pt x="15242" y="337"/>
                  </a:lnTo>
                  <a:lnTo>
                    <a:pt x="15242" y="279"/>
                  </a:lnTo>
                  <a:lnTo>
                    <a:pt x="15242" y="257"/>
                  </a:lnTo>
                  <a:lnTo>
                    <a:pt x="15254" y="257"/>
                  </a:lnTo>
                  <a:lnTo>
                    <a:pt x="15289" y="257"/>
                  </a:lnTo>
                  <a:lnTo>
                    <a:pt x="15335" y="257"/>
                  </a:lnTo>
                  <a:lnTo>
                    <a:pt x="15390" y="257"/>
                  </a:lnTo>
                  <a:lnTo>
                    <a:pt x="15445" y="257"/>
                  </a:lnTo>
                  <a:lnTo>
                    <a:pt x="15492" y="257"/>
                  </a:lnTo>
                  <a:lnTo>
                    <a:pt x="15526" y="257"/>
                  </a:lnTo>
                  <a:lnTo>
                    <a:pt x="15539" y="257"/>
                  </a:lnTo>
                  <a:lnTo>
                    <a:pt x="15539" y="269"/>
                  </a:lnTo>
                  <a:lnTo>
                    <a:pt x="15539" y="300"/>
                  </a:lnTo>
                  <a:lnTo>
                    <a:pt x="15539" y="344"/>
                  </a:lnTo>
                  <a:lnTo>
                    <a:pt x="15539" y="394"/>
                  </a:lnTo>
                  <a:lnTo>
                    <a:pt x="15539" y="445"/>
                  </a:lnTo>
                  <a:lnTo>
                    <a:pt x="15539" y="488"/>
                  </a:lnTo>
                  <a:lnTo>
                    <a:pt x="15539" y="519"/>
                  </a:lnTo>
                  <a:lnTo>
                    <a:pt x="15539" y="531"/>
                  </a:lnTo>
                  <a:lnTo>
                    <a:pt x="15549" y="531"/>
                  </a:lnTo>
                  <a:lnTo>
                    <a:pt x="15575" y="531"/>
                  </a:lnTo>
                  <a:lnTo>
                    <a:pt x="15612" y="531"/>
                  </a:lnTo>
                  <a:lnTo>
                    <a:pt x="15654" y="531"/>
                  </a:lnTo>
                  <a:lnTo>
                    <a:pt x="15696" y="531"/>
                  </a:lnTo>
                  <a:lnTo>
                    <a:pt x="15732" y="531"/>
                  </a:lnTo>
                  <a:lnTo>
                    <a:pt x="15758" y="531"/>
                  </a:lnTo>
                  <a:lnTo>
                    <a:pt x="15768" y="531"/>
                  </a:lnTo>
                  <a:lnTo>
                    <a:pt x="15768" y="514"/>
                  </a:lnTo>
                  <a:lnTo>
                    <a:pt x="15768" y="471"/>
                  </a:lnTo>
                  <a:lnTo>
                    <a:pt x="15768" y="407"/>
                  </a:lnTo>
                  <a:lnTo>
                    <a:pt x="15768" y="336"/>
                  </a:lnTo>
                  <a:lnTo>
                    <a:pt x="15768" y="264"/>
                  </a:lnTo>
                  <a:lnTo>
                    <a:pt x="15768" y="202"/>
                  </a:lnTo>
                  <a:lnTo>
                    <a:pt x="15768" y="158"/>
                  </a:lnTo>
                  <a:lnTo>
                    <a:pt x="15768" y="141"/>
                  </a:lnTo>
                  <a:lnTo>
                    <a:pt x="15781" y="141"/>
                  </a:lnTo>
                  <a:lnTo>
                    <a:pt x="15814" y="141"/>
                  </a:lnTo>
                  <a:lnTo>
                    <a:pt x="15862" y="141"/>
                  </a:lnTo>
                  <a:lnTo>
                    <a:pt x="15916" y="141"/>
                  </a:lnTo>
                  <a:lnTo>
                    <a:pt x="15970" y="141"/>
                  </a:lnTo>
                  <a:lnTo>
                    <a:pt x="16017" y="141"/>
                  </a:lnTo>
                  <a:lnTo>
                    <a:pt x="16051" y="141"/>
                  </a:lnTo>
                  <a:lnTo>
                    <a:pt x="16063" y="141"/>
                  </a:lnTo>
                  <a:lnTo>
                    <a:pt x="16063" y="158"/>
                  </a:lnTo>
                  <a:lnTo>
                    <a:pt x="16063" y="202"/>
                  </a:lnTo>
                  <a:lnTo>
                    <a:pt x="16063" y="264"/>
                  </a:lnTo>
                  <a:lnTo>
                    <a:pt x="16063" y="336"/>
                  </a:lnTo>
                  <a:lnTo>
                    <a:pt x="16063" y="407"/>
                  </a:lnTo>
                  <a:lnTo>
                    <a:pt x="16063" y="471"/>
                  </a:lnTo>
                  <a:lnTo>
                    <a:pt x="16063" y="514"/>
                  </a:lnTo>
                  <a:lnTo>
                    <a:pt x="16063" y="531"/>
                  </a:lnTo>
                  <a:lnTo>
                    <a:pt x="16070" y="531"/>
                  </a:lnTo>
                  <a:lnTo>
                    <a:pt x="16090" y="531"/>
                  </a:lnTo>
                  <a:lnTo>
                    <a:pt x="16117" y="531"/>
                  </a:lnTo>
                  <a:lnTo>
                    <a:pt x="16148" y="531"/>
                  </a:lnTo>
                  <a:lnTo>
                    <a:pt x="16179" y="531"/>
                  </a:lnTo>
                  <a:lnTo>
                    <a:pt x="16207" y="531"/>
                  </a:lnTo>
                  <a:lnTo>
                    <a:pt x="16226" y="531"/>
                  </a:lnTo>
                  <a:lnTo>
                    <a:pt x="16233" y="531"/>
                  </a:lnTo>
                  <a:lnTo>
                    <a:pt x="16243" y="531"/>
                  </a:lnTo>
                  <a:lnTo>
                    <a:pt x="16260" y="528"/>
                  </a:lnTo>
                  <a:lnTo>
                    <a:pt x="16271" y="525"/>
                  </a:lnTo>
                  <a:lnTo>
                    <a:pt x="16280" y="520"/>
                  </a:lnTo>
                  <a:lnTo>
                    <a:pt x="16285" y="518"/>
                  </a:lnTo>
                  <a:lnTo>
                    <a:pt x="16289" y="515"/>
                  </a:lnTo>
                  <a:lnTo>
                    <a:pt x="16293" y="511"/>
                  </a:lnTo>
                  <a:lnTo>
                    <a:pt x="16297" y="508"/>
                  </a:lnTo>
                  <a:lnTo>
                    <a:pt x="16301" y="502"/>
                  </a:lnTo>
                  <a:lnTo>
                    <a:pt x="16305" y="496"/>
                  </a:lnTo>
                  <a:lnTo>
                    <a:pt x="16307" y="489"/>
                  </a:lnTo>
                  <a:lnTo>
                    <a:pt x="16309" y="483"/>
                  </a:lnTo>
                  <a:lnTo>
                    <a:pt x="16311" y="472"/>
                  </a:lnTo>
                  <a:lnTo>
                    <a:pt x="16311" y="461"/>
                  </a:lnTo>
                  <a:lnTo>
                    <a:pt x="16312" y="453"/>
                  </a:lnTo>
                  <a:lnTo>
                    <a:pt x="16312" y="429"/>
                  </a:lnTo>
                  <a:lnTo>
                    <a:pt x="16312" y="397"/>
                  </a:lnTo>
                  <a:lnTo>
                    <a:pt x="16312" y="359"/>
                  </a:lnTo>
                  <a:lnTo>
                    <a:pt x="16312" y="321"/>
                  </a:lnTo>
                  <a:lnTo>
                    <a:pt x="16312" y="289"/>
                  </a:lnTo>
                  <a:lnTo>
                    <a:pt x="16312" y="265"/>
                  </a:lnTo>
                  <a:lnTo>
                    <a:pt x="16312" y="257"/>
                  </a:lnTo>
                  <a:lnTo>
                    <a:pt x="16325" y="257"/>
                  </a:lnTo>
                  <a:lnTo>
                    <a:pt x="16358" y="257"/>
                  </a:lnTo>
                  <a:lnTo>
                    <a:pt x="16406" y="257"/>
                  </a:lnTo>
                  <a:lnTo>
                    <a:pt x="16460" y="257"/>
                  </a:lnTo>
                  <a:lnTo>
                    <a:pt x="16515" y="257"/>
                  </a:lnTo>
                  <a:lnTo>
                    <a:pt x="16561" y="257"/>
                  </a:lnTo>
                  <a:lnTo>
                    <a:pt x="16596" y="257"/>
                  </a:lnTo>
                  <a:lnTo>
                    <a:pt x="16608" y="257"/>
                  </a:lnTo>
                  <a:lnTo>
                    <a:pt x="16608" y="270"/>
                  </a:lnTo>
                  <a:lnTo>
                    <a:pt x="16608" y="304"/>
                  </a:lnTo>
                  <a:lnTo>
                    <a:pt x="16608" y="351"/>
                  </a:lnTo>
                  <a:lnTo>
                    <a:pt x="16608" y="406"/>
                  </a:lnTo>
                  <a:lnTo>
                    <a:pt x="16608" y="461"/>
                  </a:lnTo>
                  <a:lnTo>
                    <a:pt x="16608" y="509"/>
                  </a:lnTo>
                  <a:lnTo>
                    <a:pt x="16608" y="542"/>
                  </a:lnTo>
                  <a:lnTo>
                    <a:pt x="16608" y="556"/>
                  </a:lnTo>
                  <a:lnTo>
                    <a:pt x="16608" y="559"/>
                  </a:lnTo>
                  <a:lnTo>
                    <a:pt x="16607" y="570"/>
                  </a:lnTo>
                  <a:lnTo>
                    <a:pt x="16608" y="574"/>
                  </a:lnTo>
                  <a:lnTo>
                    <a:pt x="16607" y="585"/>
                  </a:lnTo>
                  <a:lnTo>
                    <a:pt x="16606" y="601"/>
                  </a:lnTo>
                  <a:lnTo>
                    <a:pt x="16603" y="622"/>
                  </a:lnTo>
                  <a:lnTo>
                    <a:pt x="16601" y="632"/>
                  </a:lnTo>
                  <a:lnTo>
                    <a:pt x="16598" y="645"/>
                  </a:lnTo>
                  <a:lnTo>
                    <a:pt x="16593" y="656"/>
                  </a:lnTo>
                  <a:lnTo>
                    <a:pt x="16589" y="668"/>
                  </a:lnTo>
                  <a:lnTo>
                    <a:pt x="16583" y="680"/>
                  </a:lnTo>
                  <a:lnTo>
                    <a:pt x="16577" y="692"/>
                  </a:lnTo>
                  <a:lnTo>
                    <a:pt x="16569" y="702"/>
                  </a:lnTo>
                  <a:lnTo>
                    <a:pt x="16559" y="712"/>
                  </a:lnTo>
                  <a:lnTo>
                    <a:pt x="16557" y="714"/>
                  </a:lnTo>
                  <a:lnTo>
                    <a:pt x="16552" y="721"/>
                  </a:lnTo>
                  <a:lnTo>
                    <a:pt x="16541" y="730"/>
                  </a:lnTo>
                  <a:lnTo>
                    <a:pt x="16525" y="739"/>
                  </a:lnTo>
                  <a:lnTo>
                    <a:pt x="16516" y="744"/>
                  </a:lnTo>
                  <a:lnTo>
                    <a:pt x="16504" y="750"/>
                  </a:lnTo>
                  <a:lnTo>
                    <a:pt x="16492" y="755"/>
                  </a:lnTo>
                  <a:lnTo>
                    <a:pt x="16478" y="759"/>
                  </a:lnTo>
                  <a:lnTo>
                    <a:pt x="16463" y="762"/>
                  </a:lnTo>
                  <a:lnTo>
                    <a:pt x="16446" y="765"/>
                  </a:lnTo>
                  <a:lnTo>
                    <a:pt x="16428" y="766"/>
                  </a:lnTo>
                  <a:lnTo>
                    <a:pt x="16408" y="767"/>
                  </a:lnTo>
                  <a:lnTo>
                    <a:pt x="16393" y="767"/>
                  </a:lnTo>
                  <a:lnTo>
                    <a:pt x="16356" y="767"/>
                  </a:lnTo>
                  <a:lnTo>
                    <a:pt x="16297" y="767"/>
                  </a:lnTo>
                  <a:lnTo>
                    <a:pt x="16222" y="767"/>
                  </a:lnTo>
                  <a:lnTo>
                    <a:pt x="16134" y="767"/>
                  </a:lnTo>
                  <a:lnTo>
                    <a:pt x="16035" y="767"/>
                  </a:lnTo>
                  <a:lnTo>
                    <a:pt x="15930" y="767"/>
                  </a:lnTo>
                  <a:lnTo>
                    <a:pt x="15821" y="767"/>
                  </a:lnTo>
                  <a:lnTo>
                    <a:pt x="15713" y="767"/>
                  </a:lnTo>
                  <a:lnTo>
                    <a:pt x="15608" y="767"/>
                  </a:lnTo>
                  <a:lnTo>
                    <a:pt x="15511" y="767"/>
                  </a:lnTo>
                  <a:lnTo>
                    <a:pt x="15423" y="767"/>
                  </a:lnTo>
                  <a:lnTo>
                    <a:pt x="15349" y="767"/>
                  </a:lnTo>
                  <a:lnTo>
                    <a:pt x="15292" y="767"/>
                  </a:lnTo>
                  <a:lnTo>
                    <a:pt x="15254" y="767"/>
                  </a:lnTo>
                  <a:lnTo>
                    <a:pt x="15242" y="767"/>
                  </a:lnTo>
                  <a:close/>
                  <a:moveTo>
                    <a:pt x="15242" y="2216"/>
                  </a:moveTo>
                  <a:lnTo>
                    <a:pt x="15242" y="2205"/>
                  </a:lnTo>
                  <a:lnTo>
                    <a:pt x="15242" y="2175"/>
                  </a:lnTo>
                  <a:lnTo>
                    <a:pt x="15242" y="2128"/>
                  </a:lnTo>
                  <a:lnTo>
                    <a:pt x="15242" y="2066"/>
                  </a:lnTo>
                  <a:lnTo>
                    <a:pt x="15242" y="1995"/>
                  </a:lnTo>
                  <a:lnTo>
                    <a:pt x="15242" y="1914"/>
                  </a:lnTo>
                  <a:lnTo>
                    <a:pt x="15242" y="1827"/>
                  </a:lnTo>
                  <a:lnTo>
                    <a:pt x="15242" y="1739"/>
                  </a:lnTo>
                  <a:lnTo>
                    <a:pt x="15242" y="1650"/>
                  </a:lnTo>
                  <a:lnTo>
                    <a:pt x="15242" y="1562"/>
                  </a:lnTo>
                  <a:lnTo>
                    <a:pt x="15242" y="1483"/>
                  </a:lnTo>
                  <a:lnTo>
                    <a:pt x="15242" y="1410"/>
                  </a:lnTo>
                  <a:lnTo>
                    <a:pt x="15242" y="1349"/>
                  </a:lnTo>
                  <a:lnTo>
                    <a:pt x="15242" y="1302"/>
                  </a:lnTo>
                  <a:lnTo>
                    <a:pt x="15242" y="1271"/>
                  </a:lnTo>
                  <a:lnTo>
                    <a:pt x="15242" y="1261"/>
                  </a:lnTo>
                  <a:lnTo>
                    <a:pt x="15263" y="1261"/>
                  </a:lnTo>
                  <a:lnTo>
                    <a:pt x="15317" y="1261"/>
                  </a:lnTo>
                  <a:lnTo>
                    <a:pt x="15395" y="1261"/>
                  </a:lnTo>
                  <a:lnTo>
                    <a:pt x="15483" y="1261"/>
                  </a:lnTo>
                  <a:lnTo>
                    <a:pt x="15572" y="1261"/>
                  </a:lnTo>
                  <a:lnTo>
                    <a:pt x="15649" y="1261"/>
                  </a:lnTo>
                  <a:lnTo>
                    <a:pt x="15704" y="1261"/>
                  </a:lnTo>
                  <a:lnTo>
                    <a:pt x="15725" y="1261"/>
                  </a:lnTo>
                  <a:lnTo>
                    <a:pt x="15731" y="1238"/>
                  </a:lnTo>
                  <a:lnTo>
                    <a:pt x="15744" y="1187"/>
                  </a:lnTo>
                  <a:lnTo>
                    <a:pt x="15759" y="1136"/>
                  </a:lnTo>
                  <a:lnTo>
                    <a:pt x="15765" y="1113"/>
                  </a:lnTo>
                  <a:lnTo>
                    <a:pt x="15742" y="1113"/>
                  </a:lnTo>
                  <a:lnTo>
                    <a:pt x="15682" y="1113"/>
                  </a:lnTo>
                  <a:lnTo>
                    <a:pt x="15597" y="1113"/>
                  </a:lnTo>
                  <a:lnTo>
                    <a:pt x="15499" y="1113"/>
                  </a:lnTo>
                  <a:lnTo>
                    <a:pt x="15401" y="1113"/>
                  </a:lnTo>
                  <a:lnTo>
                    <a:pt x="15316" y="1113"/>
                  </a:lnTo>
                  <a:lnTo>
                    <a:pt x="15255" y="1113"/>
                  </a:lnTo>
                  <a:lnTo>
                    <a:pt x="15233" y="1113"/>
                  </a:lnTo>
                  <a:lnTo>
                    <a:pt x="15236" y="1102"/>
                  </a:lnTo>
                  <a:lnTo>
                    <a:pt x="15243" y="1075"/>
                  </a:lnTo>
                  <a:lnTo>
                    <a:pt x="15253" y="1038"/>
                  </a:lnTo>
                  <a:lnTo>
                    <a:pt x="15265" y="993"/>
                  </a:lnTo>
                  <a:lnTo>
                    <a:pt x="15277" y="950"/>
                  </a:lnTo>
                  <a:lnTo>
                    <a:pt x="15288" y="912"/>
                  </a:lnTo>
                  <a:lnTo>
                    <a:pt x="15295" y="885"/>
                  </a:lnTo>
                  <a:lnTo>
                    <a:pt x="15298" y="875"/>
                  </a:lnTo>
                  <a:lnTo>
                    <a:pt x="15313" y="875"/>
                  </a:lnTo>
                  <a:lnTo>
                    <a:pt x="15354" y="875"/>
                  </a:lnTo>
                  <a:lnTo>
                    <a:pt x="15418" y="875"/>
                  </a:lnTo>
                  <a:lnTo>
                    <a:pt x="15503" y="875"/>
                  </a:lnTo>
                  <a:lnTo>
                    <a:pt x="15601" y="875"/>
                  </a:lnTo>
                  <a:lnTo>
                    <a:pt x="15712" y="875"/>
                  </a:lnTo>
                  <a:lnTo>
                    <a:pt x="15831" y="875"/>
                  </a:lnTo>
                  <a:lnTo>
                    <a:pt x="15953" y="875"/>
                  </a:lnTo>
                  <a:lnTo>
                    <a:pt x="16076" y="875"/>
                  </a:lnTo>
                  <a:lnTo>
                    <a:pt x="16194" y="875"/>
                  </a:lnTo>
                  <a:lnTo>
                    <a:pt x="16304" y="875"/>
                  </a:lnTo>
                  <a:lnTo>
                    <a:pt x="16404" y="875"/>
                  </a:lnTo>
                  <a:lnTo>
                    <a:pt x="16487" y="875"/>
                  </a:lnTo>
                  <a:lnTo>
                    <a:pt x="16552" y="875"/>
                  </a:lnTo>
                  <a:lnTo>
                    <a:pt x="16593" y="875"/>
                  </a:lnTo>
                  <a:lnTo>
                    <a:pt x="16608" y="875"/>
                  </a:lnTo>
                  <a:lnTo>
                    <a:pt x="16608" y="885"/>
                  </a:lnTo>
                  <a:lnTo>
                    <a:pt x="16608" y="912"/>
                  </a:lnTo>
                  <a:lnTo>
                    <a:pt x="16608" y="950"/>
                  </a:lnTo>
                  <a:lnTo>
                    <a:pt x="16608" y="993"/>
                  </a:lnTo>
                  <a:lnTo>
                    <a:pt x="16608" y="1038"/>
                  </a:lnTo>
                  <a:lnTo>
                    <a:pt x="16608" y="1075"/>
                  </a:lnTo>
                  <a:lnTo>
                    <a:pt x="16608" y="1102"/>
                  </a:lnTo>
                  <a:lnTo>
                    <a:pt x="16608" y="1113"/>
                  </a:lnTo>
                  <a:lnTo>
                    <a:pt x="16584" y="1113"/>
                  </a:lnTo>
                  <a:lnTo>
                    <a:pt x="16523" y="1113"/>
                  </a:lnTo>
                  <a:lnTo>
                    <a:pt x="16436" y="1113"/>
                  </a:lnTo>
                  <a:lnTo>
                    <a:pt x="16336" y="1113"/>
                  </a:lnTo>
                  <a:lnTo>
                    <a:pt x="16235" y="1113"/>
                  </a:lnTo>
                  <a:lnTo>
                    <a:pt x="16148" y="1113"/>
                  </a:lnTo>
                  <a:lnTo>
                    <a:pt x="16087" y="1113"/>
                  </a:lnTo>
                  <a:lnTo>
                    <a:pt x="16064" y="1113"/>
                  </a:lnTo>
                  <a:lnTo>
                    <a:pt x="16057" y="1136"/>
                  </a:lnTo>
                  <a:lnTo>
                    <a:pt x="16042" y="1187"/>
                  </a:lnTo>
                  <a:lnTo>
                    <a:pt x="16028" y="1238"/>
                  </a:lnTo>
                  <a:lnTo>
                    <a:pt x="16022" y="1261"/>
                  </a:lnTo>
                  <a:lnTo>
                    <a:pt x="16041" y="1261"/>
                  </a:lnTo>
                  <a:lnTo>
                    <a:pt x="16073" y="1261"/>
                  </a:lnTo>
                  <a:lnTo>
                    <a:pt x="16116" y="1261"/>
                  </a:lnTo>
                  <a:lnTo>
                    <a:pt x="16166" y="1261"/>
                  </a:lnTo>
                  <a:lnTo>
                    <a:pt x="16223" y="1261"/>
                  </a:lnTo>
                  <a:lnTo>
                    <a:pt x="16283" y="1261"/>
                  </a:lnTo>
                  <a:lnTo>
                    <a:pt x="16346" y="1261"/>
                  </a:lnTo>
                  <a:lnTo>
                    <a:pt x="16410" y="1261"/>
                  </a:lnTo>
                  <a:lnTo>
                    <a:pt x="16426" y="1261"/>
                  </a:lnTo>
                  <a:lnTo>
                    <a:pt x="16443" y="1263"/>
                  </a:lnTo>
                  <a:lnTo>
                    <a:pt x="16457" y="1265"/>
                  </a:lnTo>
                  <a:lnTo>
                    <a:pt x="16471" y="1267"/>
                  </a:lnTo>
                  <a:lnTo>
                    <a:pt x="16484" y="1271"/>
                  </a:lnTo>
                  <a:lnTo>
                    <a:pt x="16497" y="1275"/>
                  </a:lnTo>
                  <a:lnTo>
                    <a:pt x="16508" y="1279"/>
                  </a:lnTo>
                  <a:lnTo>
                    <a:pt x="16519" y="1285"/>
                  </a:lnTo>
                  <a:lnTo>
                    <a:pt x="16529" y="1291"/>
                  </a:lnTo>
                  <a:lnTo>
                    <a:pt x="16538" y="1297"/>
                  </a:lnTo>
                  <a:lnTo>
                    <a:pt x="16547" y="1303"/>
                  </a:lnTo>
                  <a:lnTo>
                    <a:pt x="16554" y="1311"/>
                  </a:lnTo>
                  <a:lnTo>
                    <a:pt x="16561" y="1318"/>
                  </a:lnTo>
                  <a:lnTo>
                    <a:pt x="16568" y="1325"/>
                  </a:lnTo>
                  <a:lnTo>
                    <a:pt x="16574" y="1332"/>
                  </a:lnTo>
                  <a:lnTo>
                    <a:pt x="16579" y="1340"/>
                  </a:lnTo>
                  <a:lnTo>
                    <a:pt x="16587" y="1355"/>
                  </a:lnTo>
                  <a:lnTo>
                    <a:pt x="16595" y="1371"/>
                  </a:lnTo>
                  <a:lnTo>
                    <a:pt x="16600" y="1384"/>
                  </a:lnTo>
                  <a:lnTo>
                    <a:pt x="16603" y="1398"/>
                  </a:lnTo>
                  <a:lnTo>
                    <a:pt x="16607" y="1420"/>
                  </a:lnTo>
                  <a:lnTo>
                    <a:pt x="16608" y="1433"/>
                  </a:lnTo>
                  <a:lnTo>
                    <a:pt x="16608" y="1459"/>
                  </a:lnTo>
                  <a:lnTo>
                    <a:pt x="16608" y="1526"/>
                  </a:lnTo>
                  <a:lnTo>
                    <a:pt x="16608" y="1621"/>
                  </a:lnTo>
                  <a:lnTo>
                    <a:pt x="16608" y="1730"/>
                  </a:lnTo>
                  <a:lnTo>
                    <a:pt x="16608" y="1839"/>
                  </a:lnTo>
                  <a:lnTo>
                    <a:pt x="16608" y="1935"/>
                  </a:lnTo>
                  <a:lnTo>
                    <a:pt x="16608" y="2002"/>
                  </a:lnTo>
                  <a:lnTo>
                    <a:pt x="16608" y="2028"/>
                  </a:lnTo>
                  <a:lnTo>
                    <a:pt x="16607" y="2051"/>
                  </a:lnTo>
                  <a:lnTo>
                    <a:pt x="16605" y="2072"/>
                  </a:lnTo>
                  <a:lnTo>
                    <a:pt x="16601" y="2091"/>
                  </a:lnTo>
                  <a:lnTo>
                    <a:pt x="16595" y="2110"/>
                  </a:lnTo>
                  <a:lnTo>
                    <a:pt x="16591" y="2119"/>
                  </a:lnTo>
                  <a:lnTo>
                    <a:pt x="16587" y="2128"/>
                  </a:lnTo>
                  <a:lnTo>
                    <a:pt x="16583" y="2135"/>
                  </a:lnTo>
                  <a:lnTo>
                    <a:pt x="16579" y="2143"/>
                  </a:lnTo>
                  <a:lnTo>
                    <a:pt x="16574" y="2150"/>
                  </a:lnTo>
                  <a:lnTo>
                    <a:pt x="16568" y="2157"/>
                  </a:lnTo>
                  <a:lnTo>
                    <a:pt x="16562" y="2164"/>
                  </a:lnTo>
                  <a:lnTo>
                    <a:pt x="16556" y="2169"/>
                  </a:lnTo>
                  <a:lnTo>
                    <a:pt x="16549" y="2175"/>
                  </a:lnTo>
                  <a:lnTo>
                    <a:pt x="16542" y="2180"/>
                  </a:lnTo>
                  <a:lnTo>
                    <a:pt x="16534" y="2186"/>
                  </a:lnTo>
                  <a:lnTo>
                    <a:pt x="16526" y="2190"/>
                  </a:lnTo>
                  <a:lnTo>
                    <a:pt x="16509" y="2198"/>
                  </a:lnTo>
                  <a:lnTo>
                    <a:pt x="16491" y="2205"/>
                  </a:lnTo>
                  <a:lnTo>
                    <a:pt x="16470" y="2211"/>
                  </a:lnTo>
                  <a:lnTo>
                    <a:pt x="16448" y="2214"/>
                  </a:lnTo>
                  <a:lnTo>
                    <a:pt x="16425" y="2216"/>
                  </a:lnTo>
                  <a:lnTo>
                    <a:pt x="16400" y="2217"/>
                  </a:lnTo>
                  <a:lnTo>
                    <a:pt x="16354" y="2217"/>
                  </a:lnTo>
                  <a:lnTo>
                    <a:pt x="16322" y="2217"/>
                  </a:lnTo>
                  <a:lnTo>
                    <a:pt x="16305" y="2217"/>
                  </a:lnTo>
                  <a:lnTo>
                    <a:pt x="16299" y="2217"/>
                  </a:lnTo>
                  <a:lnTo>
                    <a:pt x="16297" y="2207"/>
                  </a:lnTo>
                  <a:lnTo>
                    <a:pt x="16289" y="2183"/>
                  </a:lnTo>
                  <a:lnTo>
                    <a:pt x="16279" y="2148"/>
                  </a:lnTo>
                  <a:lnTo>
                    <a:pt x="16268" y="2108"/>
                  </a:lnTo>
                  <a:lnTo>
                    <a:pt x="16256" y="2067"/>
                  </a:lnTo>
                  <a:lnTo>
                    <a:pt x="16247" y="2033"/>
                  </a:lnTo>
                  <a:lnTo>
                    <a:pt x="16240" y="2008"/>
                  </a:lnTo>
                  <a:lnTo>
                    <a:pt x="16236" y="1999"/>
                  </a:lnTo>
                  <a:lnTo>
                    <a:pt x="16244" y="1998"/>
                  </a:lnTo>
                  <a:lnTo>
                    <a:pt x="16257" y="1997"/>
                  </a:lnTo>
                  <a:lnTo>
                    <a:pt x="16272" y="1996"/>
                  </a:lnTo>
                  <a:lnTo>
                    <a:pt x="16278" y="1995"/>
                  </a:lnTo>
                  <a:lnTo>
                    <a:pt x="16285" y="1994"/>
                  </a:lnTo>
                  <a:lnTo>
                    <a:pt x="16290" y="1992"/>
                  </a:lnTo>
                  <a:lnTo>
                    <a:pt x="16296" y="1989"/>
                  </a:lnTo>
                  <a:lnTo>
                    <a:pt x="16300" y="1986"/>
                  </a:lnTo>
                  <a:lnTo>
                    <a:pt x="16303" y="1981"/>
                  </a:lnTo>
                  <a:lnTo>
                    <a:pt x="16306" y="1977"/>
                  </a:lnTo>
                  <a:lnTo>
                    <a:pt x="16308" y="1973"/>
                  </a:lnTo>
                  <a:lnTo>
                    <a:pt x="16309" y="1968"/>
                  </a:lnTo>
                  <a:lnTo>
                    <a:pt x="16312" y="1951"/>
                  </a:lnTo>
                  <a:lnTo>
                    <a:pt x="16312" y="1944"/>
                  </a:lnTo>
                  <a:lnTo>
                    <a:pt x="16312" y="1924"/>
                  </a:lnTo>
                  <a:lnTo>
                    <a:pt x="16312" y="1874"/>
                  </a:lnTo>
                  <a:lnTo>
                    <a:pt x="16312" y="1802"/>
                  </a:lnTo>
                  <a:lnTo>
                    <a:pt x="16312" y="1720"/>
                  </a:lnTo>
                  <a:lnTo>
                    <a:pt x="16312" y="1637"/>
                  </a:lnTo>
                  <a:lnTo>
                    <a:pt x="16312" y="1566"/>
                  </a:lnTo>
                  <a:lnTo>
                    <a:pt x="16312" y="1515"/>
                  </a:lnTo>
                  <a:lnTo>
                    <a:pt x="16312" y="1496"/>
                  </a:lnTo>
                  <a:lnTo>
                    <a:pt x="16295" y="1496"/>
                  </a:lnTo>
                  <a:lnTo>
                    <a:pt x="16256" y="1496"/>
                  </a:lnTo>
                  <a:lnTo>
                    <a:pt x="16218" y="1496"/>
                  </a:lnTo>
                  <a:lnTo>
                    <a:pt x="16200" y="1496"/>
                  </a:lnTo>
                  <a:lnTo>
                    <a:pt x="16200" y="1524"/>
                  </a:lnTo>
                  <a:lnTo>
                    <a:pt x="16200" y="1598"/>
                  </a:lnTo>
                  <a:lnTo>
                    <a:pt x="16200" y="1701"/>
                  </a:lnTo>
                  <a:lnTo>
                    <a:pt x="16200" y="1821"/>
                  </a:lnTo>
                  <a:lnTo>
                    <a:pt x="16200" y="1940"/>
                  </a:lnTo>
                  <a:lnTo>
                    <a:pt x="16200" y="2045"/>
                  </a:lnTo>
                  <a:lnTo>
                    <a:pt x="16200" y="2118"/>
                  </a:lnTo>
                  <a:lnTo>
                    <a:pt x="16200" y="2145"/>
                  </a:lnTo>
                  <a:lnTo>
                    <a:pt x="16191" y="2145"/>
                  </a:lnTo>
                  <a:lnTo>
                    <a:pt x="16165" y="2145"/>
                  </a:lnTo>
                  <a:lnTo>
                    <a:pt x="16127" y="2146"/>
                  </a:lnTo>
                  <a:lnTo>
                    <a:pt x="16085" y="2146"/>
                  </a:lnTo>
                  <a:lnTo>
                    <a:pt x="16043" y="2146"/>
                  </a:lnTo>
                  <a:lnTo>
                    <a:pt x="16006" y="2146"/>
                  </a:lnTo>
                  <a:lnTo>
                    <a:pt x="15980" y="2146"/>
                  </a:lnTo>
                  <a:lnTo>
                    <a:pt x="15971" y="2146"/>
                  </a:lnTo>
                  <a:lnTo>
                    <a:pt x="15971" y="2118"/>
                  </a:lnTo>
                  <a:lnTo>
                    <a:pt x="15971" y="2045"/>
                  </a:lnTo>
                  <a:lnTo>
                    <a:pt x="15971" y="1940"/>
                  </a:lnTo>
                  <a:lnTo>
                    <a:pt x="15971" y="1821"/>
                  </a:lnTo>
                  <a:lnTo>
                    <a:pt x="15971" y="1701"/>
                  </a:lnTo>
                  <a:lnTo>
                    <a:pt x="15971" y="1598"/>
                  </a:lnTo>
                  <a:lnTo>
                    <a:pt x="15971" y="1524"/>
                  </a:lnTo>
                  <a:lnTo>
                    <a:pt x="15971" y="1496"/>
                  </a:lnTo>
                  <a:lnTo>
                    <a:pt x="15954" y="1496"/>
                  </a:lnTo>
                  <a:lnTo>
                    <a:pt x="15919" y="1496"/>
                  </a:lnTo>
                  <a:lnTo>
                    <a:pt x="15883" y="1496"/>
                  </a:lnTo>
                  <a:lnTo>
                    <a:pt x="15867" y="1496"/>
                  </a:lnTo>
                  <a:lnTo>
                    <a:pt x="15867" y="1524"/>
                  </a:lnTo>
                  <a:lnTo>
                    <a:pt x="15867" y="1598"/>
                  </a:lnTo>
                  <a:lnTo>
                    <a:pt x="15867" y="1701"/>
                  </a:lnTo>
                  <a:lnTo>
                    <a:pt x="15867" y="1821"/>
                  </a:lnTo>
                  <a:lnTo>
                    <a:pt x="15867" y="1940"/>
                  </a:lnTo>
                  <a:lnTo>
                    <a:pt x="15867" y="2045"/>
                  </a:lnTo>
                  <a:lnTo>
                    <a:pt x="15867" y="2118"/>
                  </a:lnTo>
                  <a:lnTo>
                    <a:pt x="15867" y="2146"/>
                  </a:lnTo>
                  <a:lnTo>
                    <a:pt x="15858" y="2146"/>
                  </a:lnTo>
                  <a:lnTo>
                    <a:pt x="15833" y="2146"/>
                  </a:lnTo>
                  <a:lnTo>
                    <a:pt x="15797" y="2146"/>
                  </a:lnTo>
                  <a:lnTo>
                    <a:pt x="15757" y="2146"/>
                  </a:lnTo>
                  <a:lnTo>
                    <a:pt x="15715" y="2146"/>
                  </a:lnTo>
                  <a:lnTo>
                    <a:pt x="15680" y="2146"/>
                  </a:lnTo>
                  <a:lnTo>
                    <a:pt x="15655" y="2146"/>
                  </a:lnTo>
                  <a:lnTo>
                    <a:pt x="15646" y="2146"/>
                  </a:lnTo>
                  <a:lnTo>
                    <a:pt x="15646" y="2118"/>
                  </a:lnTo>
                  <a:lnTo>
                    <a:pt x="15646" y="2045"/>
                  </a:lnTo>
                  <a:lnTo>
                    <a:pt x="15646" y="1940"/>
                  </a:lnTo>
                  <a:lnTo>
                    <a:pt x="15646" y="1821"/>
                  </a:lnTo>
                  <a:lnTo>
                    <a:pt x="15646" y="1701"/>
                  </a:lnTo>
                  <a:lnTo>
                    <a:pt x="15646" y="1598"/>
                  </a:lnTo>
                  <a:lnTo>
                    <a:pt x="15646" y="1524"/>
                  </a:lnTo>
                  <a:lnTo>
                    <a:pt x="15646" y="1496"/>
                  </a:lnTo>
                  <a:lnTo>
                    <a:pt x="15629" y="1496"/>
                  </a:lnTo>
                  <a:lnTo>
                    <a:pt x="15592" y="1496"/>
                  </a:lnTo>
                  <a:lnTo>
                    <a:pt x="15554" y="1496"/>
                  </a:lnTo>
                  <a:lnTo>
                    <a:pt x="15538" y="1496"/>
                  </a:lnTo>
                  <a:lnTo>
                    <a:pt x="15538" y="1526"/>
                  </a:lnTo>
                  <a:lnTo>
                    <a:pt x="15538" y="1608"/>
                  </a:lnTo>
                  <a:lnTo>
                    <a:pt x="15538" y="1723"/>
                  </a:lnTo>
                  <a:lnTo>
                    <a:pt x="15538" y="1856"/>
                  </a:lnTo>
                  <a:lnTo>
                    <a:pt x="15538" y="1988"/>
                  </a:lnTo>
                  <a:lnTo>
                    <a:pt x="15538" y="2104"/>
                  </a:lnTo>
                  <a:lnTo>
                    <a:pt x="15538" y="2185"/>
                  </a:lnTo>
                  <a:lnTo>
                    <a:pt x="15538" y="2216"/>
                  </a:lnTo>
                  <a:lnTo>
                    <a:pt x="15525" y="2216"/>
                  </a:lnTo>
                  <a:lnTo>
                    <a:pt x="15491" y="2216"/>
                  </a:lnTo>
                  <a:lnTo>
                    <a:pt x="15444" y="2216"/>
                  </a:lnTo>
                  <a:lnTo>
                    <a:pt x="15389" y="2216"/>
                  </a:lnTo>
                  <a:lnTo>
                    <a:pt x="15335" y="2216"/>
                  </a:lnTo>
                  <a:lnTo>
                    <a:pt x="15288" y="2216"/>
                  </a:lnTo>
                  <a:lnTo>
                    <a:pt x="15254" y="2216"/>
                  </a:lnTo>
                  <a:lnTo>
                    <a:pt x="15242" y="2216"/>
                  </a:lnTo>
                  <a:close/>
                  <a:moveTo>
                    <a:pt x="14449" y="1113"/>
                  </a:moveTo>
                  <a:lnTo>
                    <a:pt x="14449" y="1102"/>
                  </a:lnTo>
                  <a:lnTo>
                    <a:pt x="14449" y="1075"/>
                  </a:lnTo>
                  <a:lnTo>
                    <a:pt x="14449" y="1037"/>
                  </a:lnTo>
                  <a:lnTo>
                    <a:pt x="14449" y="993"/>
                  </a:lnTo>
                  <a:lnTo>
                    <a:pt x="14449" y="950"/>
                  </a:lnTo>
                  <a:lnTo>
                    <a:pt x="14449" y="911"/>
                  </a:lnTo>
                  <a:lnTo>
                    <a:pt x="14449" y="884"/>
                  </a:lnTo>
                  <a:lnTo>
                    <a:pt x="14449" y="875"/>
                  </a:lnTo>
                  <a:lnTo>
                    <a:pt x="14457" y="875"/>
                  </a:lnTo>
                  <a:lnTo>
                    <a:pt x="14481" y="875"/>
                  </a:lnTo>
                  <a:lnTo>
                    <a:pt x="14514" y="875"/>
                  </a:lnTo>
                  <a:lnTo>
                    <a:pt x="14553" y="875"/>
                  </a:lnTo>
                  <a:lnTo>
                    <a:pt x="14591" y="875"/>
                  </a:lnTo>
                  <a:lnTo>
                    <a:pt x="14624" y="875"/>
                  </a:lnTo>
                  <a:lnTo>
                    <a:pt x="14648" y="875"/>
                  </a:lnTo>
                  <a:lnTo>
                    <a:pt x="14657" y="875"/>
                  </a:lnTo>
                  <a:lnTo>
                    <a:pt x="14657" y="858"/>
                  </a:lnTo>
                  <a:lnTo>
                    <a:pt x="14657" y="815"/>
                  </a:lnTo>
                  <a:lnTo>
                    <a:pt x="14657" y="754"/>
                  </a:lnTo>
                  <a:lnTo>
                    <a:pt x="14657" y="683"/>
                  </a:lnTo>
                  <a:lnTo>
                    <a:pt x="14657" y="613"/>
                  </a:lnTo>
                  <a:lnTo>
                    <a:pt x="14657" y="552"/>
                  </a:lnTo>
                  <a:lnTo>
                    <a:pt x="14657" y="508"/>
                  </a:lnTo>
                  <a:lnTo>
                    <a:pt x="14657" y="491"/>
                  </a:lnTo>
                  <a:lnTo>
                    <a:pt x="14648" y="491"/>
                  </a:lnTo>
                  <a:lnTo>
                    <a:pt x="14624" y="491"/>
                  </a:lnTo>
                  <a:lnTo>
                    <a:pt x="14591" y="491"/>
                  </a:lnTo>
                  <a:lnTo>
                    <a:pt x="14553" y="491"/>
                  </a:lnTo>
                  <a:lnTo>
                    <a:pt x="14514" y="491"/>
                  </a:lnTo>
                  <a:lnTo>
                    <a:pt x="14481" y="491"/>
                  </a:lnTo>
                  <a:lnTo>
                    <a:pt x="14458" y="491"/>
                  </a:lnTo>
                  <a:lnTo>
                    <a:pt x="14449" y="491"/>
                  </a:lnTo>
                  <a:lnTo>
                    <a:pt x="14449" y="482"/>
                  </a:lnTo>
                  <a:lnTo>
                    <a:pt x="14449" y="455"/>
                  </a:lnTo>
                  <a:lnTo>
                    <a:pt x="14449" y="418"/>
                  </a:lnTo>
                  <a:lnTo>
                    <a:pt x="14449" y="374"/>
                  </a:lnTo>
                  <a:lnTo>
                    <a:pt x="14449" y="331"/>
                  </a:lnTo>
                  <a:lnTo>
                    <a:pt x="14449" y="293"/>
                  </a:lnTo>
                  <a:lnTo>
                    <a:pt x="14449" y="266"/>
                  </a:lnTo>
                  <a:lnTo>
                    <a:pt x="14449" y="256"/>
                  </a:lnTo>
                  <a:lnTo>
                    <a:pt x="14479" y="256"/>
                  </a:lnTo>
                  <a:lnTo>
                    <a:pt x="14560" y="256"/>
                  </a:lnTo>
                  <a:lnTo>
                    <a:pt x="14674" y="256"/>
                  </a:lnTo>
                  <a:lnTo>
                    <a:pt x="14805" y="256"/>
                  </a:lnTo>
                  <a:lnTo>
                    <a:pt x="14935" y="256"/>
                  </a:lnTo>
                  <a:lnTo>
                    <a:pt x="15049" y="256"/>
                  </a:lnTo>
                  <a:lnTo>
                    <a:pt x="15130" y="256"/>
                  </a:lnTo>
                  <a:lnTo>
                    <a:pt x="15160" y="256"/>
                  </a:lnTo>
                  <a:lnTo>
                    <a:pt x="15160" y="266"/>
                  </a:lnTo>
                  <a:lnTo>
                    <a:pt x="15160" y="293"/>
                  </a:lnTo>
                  <a:lnTo>
                    <a:pt x="15160" y="331"/>
                  </a:lnTo>
                  <a:lnTo>
                    <a:pt x="15160" y="374"/>
                  </a:lnTo>
                  <a:lnTo>
                    <a:pt x="15160" y="418"/>
                  </a:lnTo>
                  <a:lnTo>
                    <a:pt x="15160" y="455"/>
                  </a:lnTo>
                  <a:lnTo>
                    <a:pt x="15160" y="482"/>
                  </a:lnTo>
                  <a:lnTo>
                    <a:pt x="15160" y="491"/>
                  </a:lnTo>
                  <a:lnTo>
                    <a:pt x="15152" y="491"/>
                  </a:lnTo>
                  <a:lnTo>
                    <a:pt x="15128" y="491"/>
                  </a:lnTo>
                  <a:lnTo>
                    <a:pt x="15095" y="491"/>
                  </a:lnTo>
                  <a:lnTo>
                    <a:pt x="15057" y="491"/>
                  </a:lnTo>
                  <a:lnTo>
                    <a:pt x="15019" y="491"/>
                  </a:lnTo>
                  <a:lnTo>
                    <a:pt x="14986" y="491"/>
                  </a:lnTo>
                  <a:lnTo>
                    <a:pt x="14963" y="491"/>
                  </a:lnTo>
                  <a:lnTo>
                    <a:pt x="14953" y="491"/>
                  </a:lnTo>
                  <a:lnTo>
                    <a:pt x="14953" y="508"/>
                  </a:lnTo>
                  <a:lnTo>
                    <a:pt x="14953" y="552"/>
                  </a:lnTo>
                  <a:lnTo>
                    <a:pt x="14953" y="613"/>
                  </a:lnTo>
                  <a:lnTo>
                    <a:pt x="14953" y="683"/>
                  </a:lnTo>
                  <a:lnTo>
                    <a:pt x="14953" y="754"/>
                  </a:lnTo>
                  <a:lnTo>
                    <a:pt x="14953" y="815"/>
                  </a:lnTo>
                  <a:lnTo>
                    <a:pt x="14953" y="858"/>
                  </a:lnTo>
                  <a:lnTo>
                    <a:pt x="14953" y="875"/>
                  </a:lnTo>
                  <a:lnTo>
                    <a:pt x="14963" y="875"/>
                  </a:lnTo>
                  <a:lnTo>
                    <a:pt x="14986" y="875"/>
                  </a:lnTo>
                  <a:lnTo>
                    <a:pt x="15019" y="875"/>
                  </a:lnTo>
                  <a:lnTo>
                    <a:pt x="15057" y="875"/>
                  </a:lnTo>
                  <a:lnTo>
                    <a:pt x="15095" y="875"/>
                  </a:lnTo>
                  <a:lnTo>
                    <a:pt x="15128" y="875"/>
                  </a:lnTo>
                  <a:lnTo>
                    <a:pt x="15152" y="875"/>
                  </a:lnTo>
                  <a:lnTo>
                    <a:pt x="15160" y="875"/>
                  </a:lnTo>
                  <a:lnTo>
                    <a:pt x="15158" y="884"/>
                  </a:lnTo>
                  <a:lnTo>
                    <a:pt x="15151" y="911"/>
                  </a:lnTo>
                  <a:lnTo>
                    <a:pt x="15139" y="950"/>
                  </a:lnTo>
                  <a:lnTo>
                    <a:pt x="15128" y="993"/>
                  </a:lnTo>
                  <a:lnTo>
                    <a:pt x="15115" y="1037"/>
                  </a:lnTo>
                  <a:lnTo>
                    <a:pt x="15105" y="1075"/>
                  </a:lnTo>
                  <a:lnTo>
                    <a:pt x="15098" y="1102"/>
                  </a:lnTo>
                  <a:lnTo>
                    <a:pt x="15096" y="1113"/>
                  </a:lnTo>
                  <a:lnTo>
                    <a:pt x="15073" y="1113"/>
                  </a:lnTo>
                  <a:lnTo>
                    <a:pt x="15024" y="1113"/>
                  </a:lnTo>
                  <a:lnTo>
                    <a:pt x="14975" y="1113"/>
                  </a:lnTo>
                  <a:lnTo>
                    <a:pt x="14953" y="1113"/>
                  </a:lnTo>
                  <a:lnTo>
                    <a:pt x="14953" y="1142"/>
                  </a:lnTo>
                  <a:lnTo>
                    <a:pt x="14953" y="1217"/>
                  </a:lnTo>
                  <a:lnTo>
                    <a:pt x="14953" y="1325"/>
                  </a:lnTo>
                  <a:lnTo>
                    <a:pt x="14953" y="1448"/>
                  </a:lnTo>
                  <a:lnTo>
                    <a:pt x="14953" y="1573"/>
                  </a:lnTo>
                  <a:lnTo>
                    <a:pt x="14953" y="1681"/>
                  </a:lnTo>
                  <a:lnTo>
                    <a:pt x="14953" y="1756"/>
                  </a:lnTo>
                  <a:lnTo>
                    <a:pt x="14953" y="1785"/>
                  </a:lnTo>
                  <a:lnTo>
                    <a:pt x="14962" y="1782"/>
                  </a:lnTo>
                  <a:lnTo>
                    <a:pt x="14982" y="1773"/>
                  </a:lnTo>
                  <a:lnTo>
                    <a:pt x="15013" y="1761"/>
                  </a:lnTo>
                  <a:lnTo>
                    <a:pt x="15048" y="1747"/>
                  </a:lnTo>
                  <a:lnTo>
                    <a:pt x="15082" y="1733"/>
                  </a:lnTo>
                  <a:lnTo>
                    <a:pt x="15112" y="1720"/>
                  </a:lnTo>
                  <a:lnTo>
                    <a:pt x="15133" y="1712"/>
                  </a:lnTo>
                  <a:lnTo>
                    <a:pt x="15141" y="1708"/>
                  </a:lnTo>
                  <a:lnTo>
                    <a:pt x="15142" y="1717"/>
                  </a:lnTo>
                  <a:lnTo>
                    <a:pt x="15144" y="1739"/>
                  </a:lnTo>
                  <a:lnTo>
                    <a:pt x="15148" y="1770"/>
                  </a:lnTo>
                  <a:lnTo>
                    <a:pt x="15152" y="1806"/>
                  </a:lnTo>
                  <a:lnTo>
                    <a:pt x="15156" y="1841"/>
                  </a:lnTo>
                  <a:lnTo>
                    <a:pt x="15159" y="1873"/>
                  </a:lnTo>
                  <a:lnTo>
                    <a:pt x="15161" y="1895"/>
                  </a:lnTo>
                  <a:lnTo>
                    <a:pt x="15162" y="1904"/>
                  </a:lnTo>
                  <a:lnTo>
                    <a:pt x="15133" y="1927"/>
                  </a:lnTo>
                  <a:lnTo>
                    <a:pt x="15104" y="1950"/>
                  </a:lnTo>
                  <a:lnTo>
                    <a:pt x="15075" y="1972"/>
                  </a:lnTo>
                  <a:lnTo>
                    <a:pt x="15046" y="1993"/>
                  </a:lnTo>
                  <a:lnTo>
                    <a:pt x="15017" y="2011"/>
                  </a:lnTo>
                  <a:lnTo>
                    <a:pt x="14988" y="2030"/>
                  </a:lnTo>
                  <a:lnTo>
                    <a:pt x="14959" y="2048"/>
                  </a:lnTo>
                  <a:lnTo>
                    <a:pt x="14930" y="2063"/>
                  </a:lnTo>
                  <a:lnTo>
                    <a:pt x="14902" y="2079"/>
                  </a:lnTo>
                  <a:lnTo>
                    <a:pt x="14874" y="2093"/>
                  </a:lnTo>
                  <a:lnTo>
                    <a:pt x="14847" y="2107"/>
                  </a:lnTo>
                  <a:lnTo>
                    <a:pt x="14820" y="2119"/>
                  </a:lnTo>
                  <a:lnTo>
                    <a:pt x="14768" y="2142"/>
                  </a:lnTo>
                  <a:lnTo>
                    <a:pt x="14719" y="2161"/>
                  </a:lnTo>
                  <a:lnTo>
                    <a:pt x="14673" y="2177"/>
                  </a:lnTo>
                  <a:lnTo>
                    <a:pt x="14633" y="2191"/>
                  </a:lnTo>
                  <a:lnTo>
                    <a:pt x="14596" y="2201"/>
                  </a:lnTo>
                  <a:lnTo>
                    <a:pt x="14565" y="2209"/>
                  </a:lnTo>
                  <a:lnTo>
                    <a:pt x="14522" y="2220"/>
                  </a:lnTo>
                  <a:lnTo>
                    <a:pt x="14506" y="2223"/>
                  </a:lnTo>
                  <a:lnTo>
                    <a:pt x="14503" y="2208"/>
                  </a:lnTo>
                  <a:lnTo>
                    <a:pt x="14494" y="2170"/>
                  </a:lnTo>
                  <a:lnTo>
                    <a:pt x="14481" y="2115"/>
                  </a:lnTo>
                  <a:lnTo>
                    <a:pt x="14467" y="2053"/>
                  </a:lnTo>
                  <a:lnTo>
                    <a:pt x="14452" y="1991"/>
                  </a:lnTo>
                  <a:lnTo>
                    <a:pt x="14440" y="1936"/>
                  </a:lnTo>
                  <a:lnTo>
                    <a:pt x="14430" y="1897"/>
                  </a:lnTo>
                  <a:lnTo>
                    <a:pt x="14427" y="1883"/>
                  </a:lnTo>
                  <a:lnTo>
                    <a:pt x="14435" y="1882"/>
                  </a:lnTo>
                  <a:lnTo>
                    <a:pt x="14458" y="1879"/>
                  </a:lnTo>
                  <a:lnTo>
                    <a:pt x="14490" y="1874"/>
                  </a:lnTo>
                  <a:lnTo>
                    <a:pt x="14529" y="1868"/>
                  </a:lnTo>
                  <a:lnTo>
                    <a:pt x="14569" y="1862"/>
                  </a:lnTo>
                  <a:lnTo>
                    <a:pt x="14607" y="1856"/>
                  </a:lnTo>
                  <a:lnTo>
                    <a:pt x="14637" y="1852"/>
                  </a:lnTo>
                  <a:lnTo>
                    <a:pt x="14657" y="1848"/>
                  </a:lnTo>
                  <a:lnTo>
                    <a:pt x="14657" y="1839"/>
                  </a:lnTo>
                  <a:lnTo>
                    <a:pt x="14657" y="1817"/>
                  </a:lnTo>
                  <a:lnTo>
                    <a:pt x="14657" y="1780"/>
                  </a:lnTo>
                  <a:lnTo>
                    <a:pt x="14657" y="1733"/>
                  </a:lnTo>
                  <a:lnTo>
                    <a:pt x="14657" y="1678"/>
                  </a:lnTo>
                  <a:lnTo>
                    <a:pt x="14657" y="1615"/>
                  </a:lnTo>
                  <a:lnTo>
                    <a:pt x="14657" y="1549"/>
                  </a:lnTo>
                  <a:lnTo>
                    <a:pt x="14657" y="1480"/>
                  </a:lnTo>
                  <a:lnTo>
                    <a:pt x="14657" y="1411"/>
                  </a:lnTo>
                  <a:lnTo>
                    <a:pt x="14657" y="1345"/>
                  </a:lnTo>
                  <a:lnTo>
                    <a:pt x="14657" y="1283"/>
                  </a:lnTo>
                  <a:lnTo>
                    <a:pt x="14657" y="1228"/>
                  </a:lnTo>
                  <a:lnTo>
                    <a:pt x="14657" y="1180"/>
                  </a:lnTo>
                  <a:lnTo>
                    <a:pt x="14657" y="1144"/>
                  </a:lnTo>
                  <a:lnTo>
                    <a:pt x="14657" y="1121"/>
                  </a:lnTo>
                  <a:lnTo>
                    <a:pt x="14657" y="1113"/>
                  </a:lnTo>
                  <a:lnTo>
                    <a:pt x="14648" y="1113"/>
                  </a:lnTo>
                  <a:lnTo>
                    <a:pt x="14624" y="1113"/>
                  </a:lnTo>
                  <a:lnTo>
                    <a:pt x="14591" y="1113"/>
                  </a:lnTo>
                  <a:lnTo>
                    <a:pt x="14553" y="1113"/>
                  </a:lnTo>
                  <a:lnTo>
                    <a:pt x="14514" y="1113"/>
                  </a:lnTo>
                  <a:lnTo>
                    <a:pt x="14481" y="1113"/>
                  </a:lnTo>
                  <a:lnTo>
                    <a:pt x="14457" y="1113"/>
                  </a:lnTo>
                  <a:lnTo>
                    <a:pt x="14449" y="1113"/>
                  </a:lnTo>
                  <a:close/>
                  <a:moveTo>
                    <a:pt x="2729" y="2216"/>
                  </a:moveTo>
                  <a:lnTo>
                    <a:pt x="2751" y="2216"/>
                  </a:lnTo>
                  <a:lnTo>
                    <a:pt x="2807" y="2216"/>
                  </a:lnTo>
                  <a:lnTo>
                    <a:pt x="2886" y="2216"/>
                  </a:lnTo>
                  <a:lnTo>
                    <a:pt x="2976" y="2216"/>
                  </a:lnTo>
                  <a:lnTo>
                    <a:pt x="3066" y="2216"/>
                  </a:lnTo>
                  <a:lnTo>
                    <a:pt x="3145" y="2216"/>
                  </a:lnTo>
                  <a:lnTo>
                    <a:pt x="3201" y="2216"/>
                  </a:lnTo>
                  <a:lnTo>
                    <a:pt x="3223" y="2216"/>
                  </a:lnTo>
                  <a:lnTo>
                    <a:pt x="3223" y="2198"/>
                  </a:lnTo>
                  <a:lnTo>
                    <a:pt x="3223" y="2147"/>
                  </a:lnTo>
                  <a:lnTo>
                    <a:pt x="3223" y="2068"/>
                  </a:lnTo>
                  <a:lnTo>
                    <a:pt x="3223" y="1967"/>
                  </a:lnTo>
                  <a:lnTo>
                    <a:pt x="3223" y="1846"/>
                  </a:lnTo>
                  <a:lnTo>
                    <a:pt x="3223" y="1711"/>
                  </a:lnTo>
                  <a:lnTo>
                    <a:pt x="3223" y="1567"/>
                  </a:lnTo>
                  <a:lnTo>
                    <a:pt x="3223" y="1417"/>
                  </a:lnTo>
                  <a:lnTo>
                    <a:pt x="3223" y="1269"/>
                  </a:lnTo>
                  <a:lnTo>
                    <a:pt x="3223" y="1124"/>
                  </a:lnTo>
                  <a:lnTo>
                    <a:pt x="3223" y="989"/>
                  </a:lnTo>
                  <a:lnTo>
                    <a:pt x="3223" y="869"/>
                  </a:lnTo>
                  <a:lnTo>
                    <a:pt x="3223" y="766"/>
                  </a:lnTo>
                  <a:lnTo>
                    <a:pt x="3223" y="687"/>
                  </a:lnTo>
                  <a:lnTo>
                    <a:pt x="3223" y="637"/>
                  </a:lnTo>
                  <a:lnTo>
                    <a:pt x="3223" y="619"/>
                  </a:lnTo>
                  <a:lnTo>
                    <a:pt x="3201" y="619"/>
                  </a:lnTo>
                  <a:lnTo>
                    <a:pt x="3145" y="619"/>
                  </a:lnTo>
                  <a:lnTo>
                    <a:pt x="3066" y="619"/>
                  </a:lnTo>
                  <a:lnTo>
                    <a:pt x="2976" y="619"/>
                  </a:lnTo>
                  <a:lnTo>
                    <a:pt x="2886" y="619"/>
                  </a:lnTo>
                  <a:lnTo>
                    <a:pt x="2807" y="619"/>
                  </a:lnTo>
                  <a:lnTo>
                    <a:pt x="2751" y="619"/>
                  </a:lnTo>
                  <a:lnTo>
                    <a:pt x="2729" y="619"/>
                  </a:lnTo>
                  <a:lnTo>
                    <a:pt x="2729" y="637"/>
                  </a:lnTo>
                  <a:lnTo>
                    <a:pt x="2729" y="687"/>
                  </a:lnTo>
                  <a:lnTo>
                    <a:pt x="2729" y="766"/>
                  </a:lnTo>
                  <a:lnTo>
                    <a:pt x="2729" y="869"/>
                  </a:lnTo>
                  <a:lnTo>
                    <a:pt x="2729" y="989"/>
                  </a:lnTo>
                  <a:lnTo>
                    <a:pt x="2729" y="1124"/>
                  </a:lnTo>
                  <a:lnTo>
                    <a:pt x="2729" y="1269"/>
                  </a:lnTo>
                  <a:lnTo>
                    <a:pt x="2729" y="1417"/>
                  </a:lnTo>
                  <a:lnTo>
                    <a:pt x="2729" y="1567"/>
                  </a:lnTo>
                  <a:lnTo>
                    <a:pt x="2729" y="1711"/>
                  </a:lnTo>
                  <a:lnTo>
                    <a:pt x="2729" y="1846"/>
                  </a:lnTo>
                  <a:lnTo>
                    <a:pt x="2729" y="1967"/>
                  </a:lnTo>
                  <a:lnTo>
                    <a:pt x="2729" y="2068"/>
                  </a:lnTo>
                  <a:lnTo>
                    <a:pt x="2729" y="2147"/>
                  </a:lnTo>
                  <a:lnTo>
                    <a:pt x="2729" y="2198"/>
                  </a:lnTo>
                  <a:lnTo>
                    <a:pt x="2729" y="2216"/>
                  </a:lnTo>
                  <a:close/>
                  <a:moveTo>
                    <a:pt x="9624" y="665"/>
                  </a:moveTo>
                  <a:lnTo>
                    <a:pt x="9609" y="656"/>
                  </a:lnTo>
                  <a:lnTo>
                    <a:pt x="9593" y="650"/>
                  </a:lnTo>
                  <a:lnTo>
                    <a:pt x="9578" y="644"/>
                  </a:lnTo>
                  <a:lnTo>
                    <a:pt x="9561" y="639"/>
                  </a:lnTo>
                  <a:lnTo>
                    <a:pt x="9530" y="630"/>
                  </a:lnTo>
                  <a:lnTo>
                    <a:pt x="9501" y="625"/>
                  </a:lnTo>
                  <a:lnTo>
                    <a:pt x="9475" y="622"/>
                  </a:lnTo>
                  <a:lnTo>
                    <a:pt x="9454" y="620"/>
                  </a:lnTo>
                  <a:lnTo>
                    <a:pt x="9441" y="619"/>
                  </a:lnTo>
                  <a:lnTo>
                    <a:pt x="9435" y="619"/>
                  </a:lnTo>
                  <a:lnTo>
                    <a:pt x="9426" y="619"/>
                  </a:lnTo>
                  <a:lnTo>
                    <a:pt x="9398" y="619"/>
                  </a:lnTo>
                  <a:lnTo>
                    <a:pt x="9355" y="619"/>
                  </a:lnTo>
                  <a:lnTo>
                    <a:pt x="9299" y="619"/>
                  </a:lnTo>
                  <a:lnTo>
                    <a:pt x="9233" y="619"/>
                  </a:lnTo>
                  <a:lnTo>
                    <a:pt x="9159" y="619"/>
                  </a:lnTo>
                  <a:lnTo>
                    <a:pt x="9080" y="619"/>
                  </a:lnTo>
                  <a:lnTo>
                    <a:pt x="8999" y="619"/>
                  </a:lnTo>
                  <a:lnTo>
                    <a:pt x="8917" y="619"/>
                  </a:lnTo>
                  <a:lnTo>
                    <a:pt x="8839" y="619"/>
                  </a:lnTo>
                  <a:lnTo>
                    <a:pt x="8765" y="619"/>
                  </a:lnTo>
                  <a:lnTo>
                    <a:pt x="8698" y="619"/>
                  </a:lnTo>
                  <a:lnTo>
                    <a:pt x="8642" y="619"/>
                  </a:lnTo>
                  <a:lnTo>
                    <a:pt x="8600" y="619"/>
                  </a:lnTo>
                  <a:lnTo>
                    <a:pt x="8572" y="619"/>
                  </a:lnTo>
                  <a:lnTo>
                    <a:pt x="8562" y="619"/>
                  </a:lnTo>
                  <a:lnTo>
                    <a:pt x="8556" y="631"/>
                  </a:lnTo>
                  <a:lnTo>
                    <a:pt x="8539" y="666"/>
                  </a:lnTo>
                  <a:lnTo>
                    <a:pt x="8514" y="712"/>
                  </a:lnTo>
                  <a:lnTo>
                    <a:pt x="8486" y="767"/>
                  </a:lnTo>
                  <a:lnTo>
                    <a:pt x="8458" y="821"/>
                  </a:lnTo>
                  <a:lnTo>
                    <a:pt x="8433" y="869"/>
                  </a:lnTo>
                  <a:lnTo>
                    <a:pt x="8416" y="902"/>
                  </a:lnTo>
                  <a:lnTo>
                    <a:pt x="8409" y="916"/>
                  </a:lnTo>
                  <a:lnTo>
                    <a:pt x="8417" y="916"/>
                  </a:lnTo>
                  <a:lnTo>
                    <a:pt x="8442" y="916"/>
                  </a:lnTo>
                  <a:lnTo>
                    <a:pt x="8479" y="916"/>
                  </a:lnTo>
                  <a:lnTo>
                    <a:pt x="8528" y="916"/>
                  </a:lnTo>
                  <a:lnTo>
                    <a:pt x="8585" y="916"/>
                  </a:lnTo>
                  <a:lnTo>
                    <a:pt x="8650" y="916"/>
                  </a:lnTo>
                  <a:lnTo>
                    <a:pt x="8718" y="916"/>
                  </a:lnTo>
                  <a:lnTo>
                    <a:pt x="8789" y="916"/>
                  </a:lnTo>
                  <a:lnTo>
                    <a:pt x="8860" y="916"/>
                  </a:lnTo>
                  <a:lnTo>
                    <a:pt x="8929" y="916"/>
                  </a:lnTo>
                  <a:lnTo>
                    <a:pt x="8992" y="916"/>
                  </a:lnTo>
                  <a:lnTo>
                    <a:pt x="9050" y="916"/>
                  </a:lnTo>
                  <a:lnTo>
                    <a:pt x="9099" y="916"/>
                  </a:lnTo>
                  <a:lnTo>
                    <a:pt x="9136" y="916"/>
                  </a:lnTo>
                  <a:lnTo>
                    <a:pt x="9160" y="916"/>
                  </a:lnTo>
                  <a:lnTo>
                    <a:pt x="9169" y="916"/>
                  </a:lnTo>
                  <a:lnTo>
                    <a:pt x="9183" y="916"/>
                  </a:lnTo>
                  <a:lnTo>
                    <a:pt x="9196" y="917"/>
                  </a:lnTo>
                  <a:lnTo>
                    <a:pt x="9207" y="919"/>
                  </a:lnTo>
                  <a:lnTo>
                    <a:pt x="9218" y="921"/>
                  </a:lnTo>
                  <a:lnTo>
                    <a:pt x="9229" y="923"/>
                  </a:lnTo>
                  <a:lnTo>
                    <a:pt x="9238" y="926"/>
                  </a:lnTo>
                  <a:lnTo>
                    <a:pt x="9247" y="929"/>
                  </a:lnTo>
                  <a:lnTo>
                    <a:pt x="9254" y="933"/>
                  </a:lnTo>
                  <a:lnTo>
                    <a:pt x="9261" y="937"/>
                  </a:lnTo>
                  <a:lnTo>
                    <a:pt x="9267" y="941"/>
                  </a:lnTo>
                  <a:lnTo>
                    <a:pt x="9273" y="946"/>
                  </a:lnTo>
                  <a:lnTo>
                    <a:pt x="9279" y="951"/>
                  </a:lnTo>
                  <a:lnTo>
                    <a:pt x="9288" y="961"/>
                  </a:lnTo>
                  <a:lnTo>
                    <a:pt x="9296" y="972"/>
                  </a:lnTo>
                  <a:lnTo>
                    <a:pt x="9303" y="983"/>
                  </a:lnTo>
                  <a:lnTo>
                    <a:pt x="9308" y="993"/>
                  </a:lnTo>
                  <a:lnTo>
                    <a:pt x="9311" y="1005"/>
                  </a:lnTo>
                  <a:lnTo>
                    <a:pt x="9314" y="1015"/>
                  </a:lnTo>
                  <a:lnTo>
                    <a:pt x="9317" y="1034"/>
                  </a:lnTo>
                  <a:lnTo>
                    <a:pt x="9317" y="1046"/>
                  </a:lnTo>
                  <a:lnTo>
                    <a:pt x="9317" y="1057"/>
                  </a:lnTo>
                  <a:lnTo>
                    <a:pt x="9317" y="1085"/>
                  </a:lnTo>
                  <a:lnTo>
                    <a:pt x="9317" y="1127"/>
                  </a:lnTo>
                  <a:lnTo>
                    <a:pt x="9317" y="1183"/>
                  </a:lnTo>
                  <a:lnTo>
                    <a:pt x="9317" y="1249"/>
                  </a:lnTo>
                  <a:lnTo>
                    <a:pt x="9317" y="1324"/>
                  </a:lnTo>
                  <a:lnTo>
                    <a:pt x="9317" y="1403"/>
                  </a:lnTo>
                  <a:lnTo>
                    <a:pt x="9317" y="1485"/>
                  </a:lnTo>
                  <a:lnTo>
                    <a:pt x="9317" y="1566"/>
                  </a:lnTo>
                  <a:lnTo>
                    <a:pt x="9317" y="1645"/>
                  </a:lnTo>
                  <a:lnTo>
                    <a:pt x="9317" y="1719"/>
                  </a:lnTo>
                  <a:lnTo>
                    <a:pt x="9317" y="1785"/>
                  </a:lnTo>
                  <a:lnTo>
                    <a:pt x="9317" y="1841"/>
                  </a:lnTo>
                  <a:lnTo>
                    <a:pt x="9317" y="1885"/>
                  </a:lnTo>
                  <a:lnTo>
                    <a:pt x="9317" y="1913"/>
                  </a:lnTo>
                  <a:lnTo>
                    <a:pt x="9317" y="1922"/>
                  </a:lnTo>
                  <a:lnTo>
                    <a:pt x="9302" y="1922"/>
                  </a:lnTo>
                  <a:lnTo>
                    <a:pt x="9261" y="1922"/>
                  </a:lnTo>
                  <a:lnTo>
                    <a:pt x="9204" y="1922"/>
                  </a:lnTo>
                  <a:lnTo>
                    <a:pt x="9139" y="1922"/>
                  </a:lnTo>
                  <a:lnTo>
                    <a:pt x="9072" y="1922"/>
                  </a:lnTo>
                  <a:lnTo>
                    <a:pt x="9015" y="1922"/>
                  </a:lnTo>
                  <a:lnTo>
                    <a:pt x="8975" y="1922"/>
                  </a:lnTo>
                  <a:lnTo>
                    <a:pt x="8959" y="1922"/>
                  </a:lnTo>
                  <a:lnTo>
                    <a:pt x="8941" y="1921"/>
                  </a:lnTo>
                  <a:lnTo>
                    <a:pt x="8925" y="1920"/>
                  </a:lnTo>
                  <a:lnTo>
                    <a:pt x="8909" y="1918"/>
                  </a:lnTo>
                  <a:lnTo>
                    <a:pt x="8896" y="1914"/>
                  </a:lnTo>
                  <a:lnTo>
                    <a:pt x="8882" y="1911"/>
                  </a:lnTo>
                  <a:lnTo>
                    <a:pt x="8870" y="1906"/>
                  </a:lnTo>
                  <a:lnTo>
                    <a:pt x="8858" y="1901"/>
                  </a:lnTo>
                  <a:lnTo>
                    <a:pt x="8848" y="1894"/>
                  </a:lnTo>
                  <a:lnTo>
                    <a:pt x="8839" y="1888"/>
                  </a:lnTo>
                  <a:lnTo>
                    <a:pt x="8830" y="1881"/>
                  </a:lnTo>
                  <a:lnTo>
                    <a:pt x="8822" y="1874"/>
                  </a:lnTo>
                  <a:lnTo>
                    <a:pt x="8815" y="1865"/>
                  </a:lnTo>
                  <a:lnTo>
                    <a:pt x="8807" y="1857"/>
                  </a:lnTo>
                  <a:lnTo>
                    <a:pt x="8801" y="1849"/>
                  </a:lnTo>
                  <a:lnTo>
                    <a:pt x="8795" y="1839"/>
                  </a:lnTo>
                  <a:lnTo>
                    <a:pt x="8790" y="1830"/>
                  </a:lnTo>
                  <a:lnTo>
                    <a:pt x="8780" y="1811"/>
                  </a:lnTo>
                  <a:lnTo>
                    <a:pt x="8774" y="1792"/>
                  </a:lnTo>
                  <a:lnTo>
                    <a:pt x="8769" y="1773"/>
                  </a:lnTo>
                  <a:lnTo>
                    <a:pt x="8765" y="1754"/>
                  </a:lnTo>
                  <a:lnTo>
                    <a:pt x="8762" y="1737"/>
                  </a:lnTo>
                  <a:lnTo>
                    <a:pt x="8761" y="1721"/>
                  </a:lnTo>
                  <a:lnTo>
                    <a:pt x="8760" y="1708"/>
                  </a:lnTo>
                  <a:lnTo>
                    <a:pt x="8760" y="1697"/>
                  </a:lnTo>
                  <a:lnTo>
                    <a:pt x="8760" y="1690"/>
                  </a:lnTo>
                  <a:lnTo>
                    <a:pt x="8760" y="1684"/>
                  </a:lnTo>
                  <a:lnTo>
                    <a:pt x="8761" y="1668"/>
                  </a:lnTo>
                  <a:lnTo>
                    <a:pt x="8762" y="1654"/>
                  </a:lnTo>
                  <a:lnTo>
                    <a:pt x="8764" y="1639"/>
                  </a:lnTo>
                  <a:lnTo>
                    <a:pt x="8766" y="1626"/>
                  </a:lnTo>
                  <a:lnTo>
                    <a:pt x="8769" y="1613"/>
                  </a:lnTo>
                  <a:lnTo>
                    <a:pt x="8773" y="1602"/>
                  </a:lnTo>
                  <a:lnTo>
                    <a:pt x="8777" y="1589"/>
                  </a:lnTo>
                  <a:lnTo>
                    <a:pt x="8783" y="1579"/>
                  </a:lnTo>
                  <a:lnTo>
                    <a:pt x="8788" y="1569"/>
                  </a:lnTo>
                  <a:lnTo>
                    <a:pt x="8793" y="1558"/>
                  </a:lnTo>
                  <a:lnTo>
                    <a:pt x="8799" y="1549"/>
                  </a:lnTo>
                  <a:lnTo>
                    <a:pt x="8804" y="1541"/>
                  </a:lnTo>
                  <a:lnTo>
                    <a:pt x="8818" y="1524"/>
                  </a:lnTo>
                  <a:lnTo>
                    <a:pt x="8831" y="1510"/>
                  </a:lnTo>
                  <a:lnTo>
                    <a:pt x="8845" y="1497"/>
                  </a:lnTo>
                  <a:lnTo>
                    <a:pt x="8857" y="1487"/>
                  </a:lnTo>
                  <a:lnTo>
                    <a:pt x="8870" y="1479"/>
                  </a:lnTo>
                  <a:lnTo>
                    <a:pt x="8881" y="1471"/>
                  </a:lnTo>
                  <a:lnTo>
                    <a:pt x="8899" y="1462"/>
                  </a:lnTo>
                  <a:lnTo>
                    <a:pt x="8941" y="1440"/>
                  </a:lnTo>
                  <a:lnTo>
                    <a:pt x="8999" y="1409"/>
                  </a:lnTo>
                  <a:lnTo>
                    <a:pt x="9067" y="1375"/>
                  </a:lnTo>
                  <a:lnTo>
                    <a:pt x="9133" y="1340"/>
                  </a:lnTo>
                  <a:lnTo>
                    <a:pt x="9191" y="1310"/>
                  </a:lnTo>
                  <a:lnTo>
                    <a:pt x="9232" y="1289"/>
                  </a:lnTo>
                  <a:lnTo>
                    <a:pt x="9248" y="1280"/>
                  </a:lnTo>
                  <a:lnTo>
                    <a:pt x="9248" y="1273"/>
                  </a:lnTo>
                  <a:lnTo>
                    <a:pt x="9248" y="1255"/>
                  </a:lnTo>
                  <a:lnTo>
                    <a:pt x="9248" y="1229"/>
                  </a:lnTo>
                  <a:lnTo>
                    <a:pt x="9248" y="1199"/>
                  </a:lnTo>
                  <a:lnTo>
                    <a:pt x="9248" y="1169"/>
                  </a:lnTo>
                  <a:lnTo>
                    <a:pt x="9248" y="1143"/>
                  </a:lnTo>
                  <a:lnTo>
                    <a:pt x="9248" y="1124"/>
                  </a:lnTo>
                  <a:lnTo>
                    <a:pt x="9248" y="1117"/>
                  </a:lnTo>
                  <a:lnTo>
                    <a:pt x="9221" y="1121"/>
                  </a:lnTo>
                  <a:lnTo>
                    <a:pt x="9149" y="1131"/>
                  </a:lnTo>
                  <a:lnTo>
                    <a:pt x="9047" y="1146"/>
                  </a:lnTo>
                  <a:lnTo>
                    <a:pt x="8931" y="1162"/>
                  </a:lnTo>
                  <a:lnTo>
                    <a:pt x="8816" y="1179"/>
                  </a:lnTo>
                  <a:lnTo>
                    <a:pt x="8714" y="1193"/>
                  </a:lnTo>
                  <a:lnTo>
                    <a:pt x="8642" y="1203"/>
                  </a:lnTo>
                  <a:lnTo>
                    <a:pt x="8615" y="1207"/>
                  </a:lnTo>
                  <a:lnTo>
                    <a:pt x="8600" y="1209"/>
                  </a:lnTo>
                  <a:lnTo>
                    <a:pt x="8585" y="1212"/>
                  </a:lnTo>
                  <a:lnTo>
                    <a:pt x="8572" y="1215"/>
                  </a:lnTo>
                  <a:lnTo>
                    <a:pt x="8557" y="1219"/>
                  </a:lnTo>
                  <a:lnTo>
                    <a:pt x="8545" y="1223"/>
                  </a:lnTo>
                  <a:lnTo>
                    <a:pt x="8531" y="1228"/>
                  </a:lnTo>
                  <a:lnTo>
                    <a:pt x="8519" y="1233"/>
                  </a:lnTo>
                  <a:lnTo>
                    <a:pt x="8507" y="1239"/>
                  </a:lnTo>
                  <a:lnTo>
                    <a:pt x="8496" y="1245"/>
                  </a:lnTo>
                  <a:lnTo>
                    <a:pt x="8485" y="1251"/>
                  </a:lnTo>
                  <a:lnTo>
                    <a:pt x="8474" y="1259"/>
                  </a:lnTo>
                  <a:lnTo>
                    <a:pt x="8464" y="1266"/>
                  </a:lnTo>
                  <a:lnTo>
                    <a:pt x="8444" y="1280"/>
                  </a:lnTo>
                  <a:lnTo>
                    <a:pt x="8425" y="1298"/>
                  </a:lnTo>
                  <a:lnTo>
                    <a:pt x="8409" y="1316"/>
                  </a:lnTo>
                  <a:lnTo>
                    <a:pt x="8394" y="1334"/>
                  </a:lnTo>
                  <a:lnTo>
                    <a:pt x="8380" y="1354"/>
                  </a:lnTo>
                  <a:lnTo>
                    <a:pt x="8367" y="1374"/>
                  </a:lnTo>
                  <a:lnTo>
                    <a:pt x="8356" y="1395"/>
                  </a:lnTo>
                  <a:lnTo>
                    <a:pt x="8346" y="1415"/>
                  </a:lnTo>
                  <a:lnTo>
                    <a:pt x="8337" y="1436"/>
                  </a:lnTo>
                  <a:lnTo>
                    <a:pt x="8329" y="1457"/>
                  </a:lnTo>
                  <a:lnTo>
                    <a:pt x="8322" y="1477"/>
                  </a:lnTo>
                  <a:lnTo>
                    <a:pt x="8315" y="1497"/>
                  </a:lnTo>
                  <a:lnTo>
                    <a:pt x="8310" y="1518"/>
                  </a:lnTo>
                  <a:lnTo>
                    <a:pt x="8305" y="1538"/>
                  </a:lnTo>
                  <a:lnTo>
                    <a:pt x="8298" y="1574"/>
                  </a:lnTo>
                  <a:lnTo>
                    <a:pt x="8294" y="1608"/>
                  </a:lnTo>
                  <a:lnTo>
                    <a:pt x="8291" y="1637"/>
                  </a:lnTo>
                  <a:lnTo>
                    <a:pt x="8288" y="1660"/>
                  </a:lnTo>
                  <a:lnTo>
                    <a:pt x="8288" y="1677"/>
                  </a:lnTo>
                  <a:lnTo>
                    <a:pt x="8287" y="1685"/>
                  </a:lnTo>
                  <a:lnTo>
                    <a:pt x="8287" y="1686"/>
                  </a:lnTo>
                  <a:lnTo>
                    <a:pt x="8287" y="1688"/>
                  </a:lnTo>
                  <a:lnTo>
                    <a:pt x="8288" y="1733"/>
                  </a:lnTo>
                  <a:lnTo>
                    <a:pt x="8292" y="1775"/>
                  </a:lnTo>
                  <a:lnTo>
                    <a:pt x="8297" y="1815"/>
                  </a:lnTo>
                  <a:lnTo>
                    <a:pt x="8303" y="1853"/>
                  </a:lnTo>
                  <a:lnTo>
                    <a:pt x="8310" y="1888"/>
                  </a:lnTo>
                  <a:lnTo>
                    <a:pt x="8320" y="1921"/>
                  </a:lnTo>
                  <a:lnTo>
                    <a:pt x="8330" y="1952"/>
                  </a:lnTo>
                  <a:lnTo>
                    <a:pt x="8342" y="1981"/>
                  </a:lnTo>
                  <a:lnTo>
                    <a:pt x="8355" y="2007"/>
                  </a:lnTo>
                  <a:lnTo>
                    <a:pt x="8369" y="2032"/>
                  </a:lnTo>
                  <a:lnTo>
                    <a:pt x="8384" y="2055"/>
                  </a:lnTo>
                  <a:lnTo>
                    <a:pt x="8399" y="2076"/>
                  </a:lnTo>
                  <a:lnTo>
                    <a:pt x="8416" y="2094"/>
                  </a:lnTo>
                  <a:lnTo>
                    <a:pt x="8433" y="2112"/>
                  </a:lnTo>
                  <a:lnTo>
                    <a:pt x="8450" y="2128"/>
                  </a:lnTo>
                  <a:lnTo>
                    <a:pt x="8468" y="2141"/>
                  </a:lnTo>
                  <a:lnTo>
                    <a:pt x="8486" y="2153"/>
                  </a:lnTo>
                  <a:lnTo>
                    <a:pt x="8503" y="2165"/>
                  </a:lnTo>
                  <a:lnTo>
                    <a:pt x="8521" y="2174"/>
                  </a:lnTo>
                  <a:lnTo>
                    <a:pt x="8539" y="2183"/>
                  </a:lnTo>
                  <a:lnTo>
                    <a:pt x="8556" y="2190"/>
                  </a:lnTo>
                  <a:lnTo>
                    <a:pt x="8573" y="2196"/>
                  </a:lnTo>
                  <a:lnTo>
                    <a:pt x="8588" y="2201"/>
                  </a:lnTo>
                  <a:lnTo>
                    <a:pt x="8604" y="2205"/>
                  </a:lnTo>
                  <a:lnTo>
                    <a:pt x="8632" y="2211"/>
                  </a:lnTo>
                  <a:lnTo>
                    <a:pt x="8656" y="2215"/>
                  </a:lnTo>
                  <a:lnTo>
                    <a:pt x="8675" y="2216"/>
                  </a:lnTo>
                  <a:lnTo>
                    <a:pt x="8688" y="2217"/>
                  </a:lnTo>
                  <a:lnTo>
                    <a:pt x="8692" y="2216"/>
                  </a:lnTo>
                  <a:lnTo>
                    <a:pt x="8693" y="2216"/>
                  </a:lnTo>
                  <a:lnTo>
                    <a:pt x="8706" y="2216"/>
                  </a:lnTo>
                  <a:lnTo>
                    <a:pt x="8741" y="2216"/>
                  </a:lnTo>
                  <a:lnTo>
                    <a:pt x="8796" y="2216"/>
                  </a:lnTo>
                  <a:lnTo>
                    <a:pt x="8867" y="2216"/>
                  </a:lnTo>
                  <a:lnTo>
                    <a:pt x="8951" y="2216"/>
                  </a:lnTo>
                  <a:lnTo>
                    <a:pt x="9044" y="2216"/>
                  </a:lnTo>
                  <a:lnTo>
                    <a:pt x="9144" y="2216"/>
                  </a:lnTo>
                  <a:lnTo>
                    <a:pt x="9248" y="2216"/>
                  </a:lnTo>
                  <a:lnTo>
                    <a:pt x="9350" y="2216"/>
                  </a:lnTo>
                  <a:lnTo>
                    <a:pt x="9451" y="2216"/>
                  </a:lnTo>
                  <a:lnTo>
                    <a:pt x="9544" y="2216"/>
                  </a:lnTo>
                  <a:lnTo>
                    <a:pt x="9627" y="2216"/>
                  </a:lnTo>
                  <a:lnTo>
                    <a:pt x="9699" y="2216"/>
                  </a:lnTo>
                  <a:lnTo>
                    <a:pt x="9753" y="2216"/>
                  </a:lnTo>
                  <a:lnTo>
                    <a:pt x="9788" y="2216"/>
                  </a:lnTo>
                  <a:lnTo>
                    <a:pt x="9801" y="2216"/>
                  </a:lnTo>
                  <a:lnTo>
                    <a:pt x="9801" y="2202"/>
                  </a:lnTo>
                  <a:lnTo>
                    <a:pt x="9801" y="2162"/>
                  </a:lnTo>
                  <a:lnTo>
                    <a:pt x="9801" y="2100"/>
                  </a:lnTo>
                  <a:lnTo>
                    <a:pt x="9801" y="2019"/>
                  </a:lnTo>
                  <a:lnTo>
                    <a:pt x="9801" y="1923"/>
                  </a:lnTo>
                  <a:lnTo>
                    <a:pt x="9801" y="1817"/>
                  </a:lnTo>
                  <a:lnTo>
                    <a:pt x="9801" y="1704"/>
                  </a:lnTo>
                  <a:lnTo>
                    <a:pt x="9801" y="1585"/>
                  </a:lnTo>
                  <a:lnTo>
                    <a:pt x="9801" y="1468"/>
                  </a:lnTo>
                  <a:lnTo>
                    <a:pt x="9801" y="1354"/>
                  </a:lnTo>
                  <a:lnTo>
                    <a:pt x="9801" y="1247"/>
                  </a:lnTo>
                  <a:lnTo>
                    <a:pt x="9801" y="1152"/>
                  </a:lnTo>
                  <a:lnTo>
                    <a:pt x="9801" y="1071"/>
                  </a:lnTo>
                  <a:lnTo>
                    <a:pt x="9801" y="1009"/>
                  </a:lnTo>
                  <a:lnTo>
                    <a:pt x="9801" y="968"/>
                  </a:lnTo>
                  <a:lnTo>
                    <a:pt x="9801" y="955"/>
                  </a:lnTo>
                  <a:lnTo>
                    <a:pt x="9801" y="954"/>
                  </a:lnTo>
                  <a:lnTo>
                    <a:pt x="9801" y="953"/>
                  </a:lnTo>
                  <a:lnTo>
                    <a:pt x="9801" y="939"/>
                  </a:lnTo>
                  <a:lnTo>
                    <a:pt x="9800" y="927"/>
                  </a:lnTo>
                  <a:lnTo>
                    <a:pt x="9799" y="913"/>
                  </a:lnTo>
                  <a:lnTo>
                    <a:pt x="9797" y="901"/>
                  </a:lnTo>
                  <a:lnTo>
                    <a:pt x="9791" y="877"/>
                  </a:lnTo>
                  <a:lnTo>
                    <a:pt x="9784" y="853"/>
                  </a:lnTo>
                  <a:lnTo>
                    <a:pt x="9776" y="832"/>
                  </a:lnTo>
                  <a:lnTo>
                    <a:pt x="9766" y="810"/>
                  </a:lnTo>
                  <a:lnTo>
                    <a:pt x="9755" y="790"/>
                  </a:lnTo>
                  <a:lnTo>
                    <a:pt x="9743" y="771"/>
                  </a:lnTo>
                  <a:lnTo>
                    <a:pt x="9729" y="754"/>
                  </a:lnTo>
                  <a:lnTo>
                    <a:pt x="9715" y="737"/>
                  </a:lnTo>
                  <a:lnTo>
                    <a:pt x="9700" y="722"/>
                  </a:lnTo>
                  <a:lnTo>
                    <a:pt x="9686" y="707"/>
                  </a:lnTo>
                  <a:lnTo>
                    <a:pt x="9670" y="695"/>
                  </a:lnTo>
                  <a:lnTo>
                    <a:pt x="9654" y="683"/>
                  </a:lnTo>
                  <a:lnTo>
                    <a:pt x="9639" y="673"/>
                  </a:lnTo>
                  <a:lnTo>
                    <a:pt x="9624" y="665"/>
                  </a:lnTo>
                  <a:close/>
                  <a:moveTo>
                    <a:pt x="11290" y="616"/>
                  </a:moveTo>
                  <a:lnTo>
                    <a:pt x="11286" y="626"/>
                  </a:lnTo>
                  <a:lnTo>
                    <a:pt x="11273" y="655"/>
                  </a:lnTo>
                  <a:lnTo>
                    <a:pt x="11252" y="701"/>
                  </a:lnTo>
                  <a:lnTo>
                    <a:pt x="11225" y="760"/>
                  </a:lnTo>
                  <a:lnTo>
                    <a:pt x="11194" y="829"/>
                  </a:lnTo>
                  <a:lnTo>
                    <a:pt x="11159" y="908"/>
                  </a:lnTo>
                  <a:lnTo>
                    <a:pt x="11120" y="991"/>
                  </a:lnTo>
                  <a:lnTo>
                    <a:pt x="11082" y="1077"/>
                  </a:lnTo>
                  <a:lnTo>
                    <a:pt x="11042" y="1163"/>
                  </a:lnTo>
                  <a:lnTo>
                    <a:pt x="11005" y="1246"/>
                  </a:lnTo>
                  <a:lnTo>
                    <a:pt x="10970" y="1324"/>
                  </a:lnTo>
                  <a:lnTo>
                    <a:pt x="10937" y="1393"/>
                  </a:lnTo>
                  <a:lnTo>
                    <a:pt x="10910" y="1453"/>
                  </a:lnTo>
                  <a:lnTo>
                    <a:pt x="10890" y="1498"/>
                  </a:lnTo>
                  <a:lnTo>
                    <a:pt x="10876" y="1527"/>
                  </a:lnTo>
                  <a:lnTo>
                    <a:pt x="10872" y="1538"/>
                  </a:lnTo>
                  <a:lnTo>
                    <a:pt x="10869" y="1542"/>
                  </a:lnTo>
                  <a:lnTo>
                    <a:pt x="10867" y="1546"/>
                  </a:lnTo>
                  <a:lnTo>
                    <a:pt x="10863" y="1549"/>
                  </a:lnTo>
                  <a:lnTo>
                    <a:pt x="10860" y="1551"/>
                  </a:lnTo>
                  <a:lnTo>
                    <a:pt x="10855" y="1553"/>
                  </a:lnTo>
                  <a:lnTo>
                    <a:pt x="10850" y="1555"/>
                  </a:lnTo>
                  <a:lnTo>
                    <a:pt x="10846" y="1556"/>
                  </a:lnTo>
                  <a:lnTo>
                    <a:pt x="10841" y="1556"/>
                  </a:lnTo>
                  <a:lnTo>
                    <a:pt x="10835" y="1555"/>
                  </a:lnTo>
                  <a:lnTo>
                    <a:pt x="10829" y="1554"/>
                  </a:lnTo>
                  <a:lnTo>
                    <a:pt x="10824" y="1552"/>
                  </a:lnTo>
                  <a:lnTo>
                    <a:pt x="10820" y="1549"/>
                  </a:lnTo>
                  <a:lnTo>
                    <a:pt x="10816" y="1545"/>
                  </a:lnTo>
                  <a:lnTo>
                    <a:pt x="10812" y="1541"/>
                  </a:lnTo>
                  <a:lnTo>
                    <a:pt x="10810" y="1537"/>
                  </a:lnTo>
                  <a:lnTo>
                    <a:pt x="10807" y="1532"/>
                  </a:lnTo>
                  <a:lnTo>
                    <a:pt x="10804" y="1523"/>
                  </a:lnTo>
                  <a:lnTo>
                    <a:pt x="10793" y="1498"/>
                  </a:lnTo>
                  <a:lnTo>
                    <a:pt x="10777" y="1458"/>
                  </a:lnTo>
                  <a:lnTo>
                    <a:pt x="10755" y="1406"/>
                  </a:lnTo>
                  <a:lnTo>
                    <a:pt x="10730" y="1345"/>
                  </a:lnTo>
                  <a:lnTo>
                    <a:pt x="10702" y="1276"/>
                  </a:lnTo>
                  <a:lnTo>
                    <a:pt x="10672" y="1203"/>
                  </a:lnTo>
                  <a:lnTo>
                    <a:pt x="10641" y="1127"/>
                  </a:lnTo>
                  <a:lnTo>
                    <a:pt x="10609" y="1051"/>
                  </a:lnTo>
                  <a:lnTo>
                    <a:pt x="10579" y="978"/>
                  </a:lnTo>
                  <a:lnTo>
                    <a:pt x="10551" y="909"/>
                  </a:lnTo>
                  <a:lnTo>
                    <a:pt x="10526" y="848"/>
                  </a:lnTo>
                  <a:lnTo>
                    <a:pt x="10505" y="796"/>
                  </a:lnTo>
                  <a:lnTo>
                    <a:pt x="10489" y="756"/>
                  </a:lnTo>
                  <a:lnTo>
                    <a:pt x="10478" y="730"/>
                  </a:lnTo>
                  <a:lnTo>
                    <a:pt x="10474" y="721"/>
                  </a:lnTo>
                  <a:lnTo>
                    <a:pt x="10472" y="716"/>
                  </a:lnTo>
                  <a:lnTo>
                    <a:pt x="10467" y="704"/>
                  </a:lnTo>
                  <a:lnTo>
                    <a:pt x="10463" y="697"/>
                  </a:lnTo>
                  <a:lnTo>
                    <a:pt x="10458" y="687"/>
                  </a:lnTo>
                  <a:lnTo>
                    <a:pt x="10452" y="678"/>
                  </a:lnTo>
                  <a:lnTo>
                    <a:pt x="10443" y="669"/>
                  </a:lnTo>
                  <a:lnTo>
                    <a:pt x="10434" y="658"/>
                  </a:lnTo>
                  <a:lnTo>
                    <a:pt x="10424" y="649"/>
                  </a:lnTo>
                  <a:lnTo>
                    <a:pt x="10410" y="641"/>
                  </a:lnTo>
                  <a:lnTo>
                    <a:pt x="10397" y="632"/>
                  </a:lnTo>
                  <a:lnTo>
                    <a:pt x="10380" y="626"/>
                  </a:lnTo>
                  <a:lnTo>
                    <a:pt x="10362" y="621"/>
                  </a:lnTo>
                  <a:lnTo>
                    <a:pt x="10352" y="619"/>
                  </a:lnTo>
                  <a:lnTo>
                    <a:pt x="10342" y="617"/>
                  </a:lnTo>
                  <a:lnTo>
                    <a:pt x="10331" y="617"/>
                  </a:lnTo>
                  <a:lnTo>
                    <a:pt x="10320" y="616"/>
                  </a:lnTo>
                  <a:lnTo>
                    <a:pt x="10271" y="616"/>
                  </a:lnTo>
                  <a:lnTo>
                    <a:pt x="10209" y="616"/>
                  </a:lnTo>
                  <a:lnTo>
                    <a:pt x="10139" y="616"/>
                  </a:lnTo>
                  <a:lnTo>
                    <a:pt x="10068" y="616"/>
                  </a:lnTo>
                  <a:lnTo>
                    <a:pt x="10001" y="616"/>
                  </a:lnTo>
                  <a:lnTo>
                    <a:pt x="9946" y="616"/>
                  </a:lnTo>
                  <a:lnTo>
                    <a:pt x="9909" y="616"/>
                  </a:lnTo>
                  <a:lnTo>
                    <a:pt x="9894" y="616"/>
                  </a:lnTo>
                  <a:lnTo>
                    <a:pt x="9901" y="631"/>
                  </a:lnTo>
                  <a:lnTo>
                    <a:pt x="9920" y="675"/>
                  </a:lnTo>
                  <a:lnTo>
                    <a:pt x="9950" y="743"/>
                  </a:lnTo>
                  <a:lnTo>
                    <a:pt x="9989" y="832"/>
                  </a:lnTo>
                  <a:lnTo>
                    <a:pt x="10033" y="936"/>
                  </a:lnTo>
                  <a:lnTo>
                    <a:pt x="10084" y="1053"/>
                  </a:lnTo>
                  <a:lnTo>
                    <a:pt x="10139" y="1178"/>
                  </a:lnTo>
                  <a:lnTo>
                    <a:pt x="10195" y="1306"/>
                  </a:lnTo>
                  <a:lnTo>
                    <a:pt x="10251" y="1436"/>
                  </a:lnTo>
                  <a:lnTo>
                    <a:pt x="10305" y="1560"/>
                  </a:lnTo>
                  <a:lnTo>
                    <a:pt x="10356" y="1677"/>
                  </a:lnTo>
                  <a:lnTo>
                    <a:pt x="10402" y="1781"/>
                  </a:lnTo>
                  <a:lnTo>
                    <a:pt x="10440" y="1870"/>
                  </a:lnTo>
                  <a:lnTo>
                    <a:pt x="10469" y="1938"/>
                  </a:lnTo>
                  <a:lnTo>
                    <a:pt x="10489" y="1982"/>
                  </a:lnTo>
                  <a:lnTo>
                    <a:pt x="10495" y="1997"/>
                  </a:lnTo>
                  <a:lnTo>
                    <a:pt x="10504" y="2022"/>
                  </a:lnTo>
                  <a:lnTo>
                    <a:pt x="10511" y="2050"/>
                  </a:lnTo>
                  <a:lnTo>
                    <a:pt x="10514" y="2065"/>
                  </a:lnTo>
                  <a:lnTo>
                    <a:pt x="10517" y="2082"/>
                  </a:lnTo>
                  <a:lnTo>
                    <a:pt x="10519" y="2099"/>
                  </a:lnTo>
                  <a:lnTo>
                    <a:pt x="10521" y="2116"/>
                  </a:lnTo>
                  <a:lnTo>
                    <a:pt x="10522" y="2134"/>
                  </a:lnTo>
                  <a:lnTo>
                    <a:pt x="10522" y="2151"/>
                  </a:lnTo>
                  <a:lnTo>
                    <a:pt x="10521" y="2170"/>
                  </a:lnTo>
                  <a:lnTo>
                    <a:pt x="10520" y="2189"/>
                  </a:lnTo>
                  <a:lnTo>
                    <a:pt x="10517" y="2206"/>
                  </a:lnTo>
                  <a:lnTo>
                    <a:pt x="10514" y="2225"/>
                  </a:lnTo>
                  <a:lnTo>
                    <a:pt x="10509" y="2243"/>
                  </a:lnTo>
                  <a:lnTo>
                    <a:pt x="10502" y="2260"/>
                  </a:lnTo>
                  <a:lnTo>
                    <a:pt x="10488" y="2289"/>
                  </a:lnTo>
                  <a:lnTo>
                    <a:pt x="10451" y="2365"/>
                  </a:lnTo>
                  <a:lnTo>
                    <a:pt x="10399" y="2472"/>
                  </a:lnTo>
                  <a:lnTo>
                    <a:pt x="10337" y="2594"/>
                  </a:lnTo>
                  <a:lnTo>
                    <a:pt x="10277" y="2716"/>
                  </a:lnTo>
                  <a:lnTo>
                    <a:pt x="10224" y="2823"/>
                  </a:lnTo>
                  <a:lnTo>
                    <a:pt x="10187" y="2899"/>
                  </a:lnTo>
                  <a:lnTo>
                    <a:pt x="10173" y="2928"/>
                  </a:lnTo>
                  <a:lnTo>
                    <a:pt x="10195" y="2928"/>
                  </a:lnTo>
                  <a:lnTo>
                    <a:pt x="10252" y="2928"/>
                  </a:lnTo>
                  <a:lnTo>
                    <a:pt x="10334" y="2928"/>
                  </a:lnTo>
                  <a:lnTo>
                    <a:pt x="10428" y="2928"/>
                  </a:lnTo>
                  <a:lnTo>
                    <a:pt x="10520" y="2928"/>
                  </a:lnTo>
                  <a:lnTo>
                    <a:pt x="10602" y="2928"/>
                  </a:lnTo>
                  <a:lnTo>
                    <a:pt x="10659" y="2928"/>
                  </a:lnTo>
                  <a:lnTo>
                    <a:pt x="10681" y="2928"/>
                  </a:lnTo>
                  <a:lnTo>
                    <a:pt x="10693" y="2902"/>
                  </a:lnTo>
                  <a:lnTo>
                    <a:pt x="10729" y="2828"/>
                  </a:lnTo>
                  <a:lnTo>
                    <a:pt x="10784" y="2714"/>
                  </a:lnTo>
                  <a:lnTo>
                    <a:pt x="10855" y="2567"/>
                  </a:lnTo>
                  <a:lnTo>
                    <a:pt x="10939" y="2392"/>
                  </a:lnTo>
                  <a:lnTo>
                    <a:pt x="11033" y="2197"/>
                  </a:lnTo>
                  <a:lnTo>
                    <a:pt x="11134" y="1988"/>
                  </a:lnTo>
                  <a:lnTo>
                    <a:pt x="11237" y="1772"/>
                  </a:lnTo>
                  <a:lnTo>
                    <a:pt x="11341" y="1556"/>
                  </a:lnTo>
                  <a:lnTo>
                    <a:pt x="11442" y="1348"/>
                  </a:lnTo>
                  <a:lnTo>
                    <a:pt x="11535" y="1152"/>
                  </a:lnTo>
                  <a:lnTo>
                    <a:pt x="11620" y="978"/>
                  </a:lnTo>
                  <a:lnTo>
                    <a:pt x="11691" y="829"/>
                  </a:lnTo>
                  <a:lnTo>
                    <a:pt x="11746" y="715"/>
                  </a:lnTo>
                  <a:lnTo>
                    <a:pt x="11781" y="642"/>
                  </a:lnTo>
                  <a:lnTo>
                    <a:pt x="11794" y="616"/>
                  </a:lnTo>
                  <a:lnTo>
                    <a:pt x="11772" y="616"/>
                  </a:lnTo>
                  <a:lnTo>
                    <a:pt x="11715" y="616"/>
                  </a:lnTo>
                  <a:lnTo>
                    <a:pt x="11635" y="616"/>
                  </a:lnTo>
                  <a:lnTo>
                    <a:pt x="11543" y="616"/>
                  </a:lnTo>
                  <a:lnTo>
                    <a:pt x="11450" y="616"/>
                  </a:lnTo>
                  <a:lnTo>
                    <a:pt x="11369" y="616"/>
                  </a:lnTo>
                  <a:lnTo>
                    <a:pt x="11312" y="616"/>
                  </a:lnTo>
                  <a:lnTo>
                    <a:pt x="11290" y="616"/>
                  </a:lnTo>
                  <a:close/>
                  <a:moveTo>
                    <a:pt x="2729" y="492"/>
                  </a:moveTo>
                  <a:lnTo>
                    <a:pt x="2751" y="492"/>
                  </a:lnTo>
                  <a:lnTo>
                    <a:pt x="2807" y="492"/>
                  </a:lnTo>
                  <a:lnTo>
                    <a:pt x="2886" y="492"/>
                  </a:lnTo>
                  <a:lnTo>
                    <a:pt x="2976" y="492"/>
                  </a:lnTo>
                  <a:lnTo>
                    <a:pt x="3066" y="492"/>
                  </a:lnTo>
                  <a:lnTo>
                    <a:pt x="3145" y="492"/>
                  </a:lnTo>
                  <a:lnTo>
                    <a:pt x="3201" y="492"/>
                  </a:lnTo>
                  <a:lnTo>
                    <a:pt x="3223" y="492"/>
                  </a:lnTo>
                  <a:lnTo>
                    <a:pt x="3223" y="472"/>
                  </a:lnTo>
                  <a:lnTo>
                    <a:pt x="3223" y="416"/>
                  </a:lnTo>
                  <a:lnTo>
                    <a:pt x="3223" y="337"/>
                  </a:lnTo>
                  <a:lnTo>
                    <a:pt x="3223" y="247"/>
                  </a:lnTo>
                  <a:lnTo>
                    <a:pt x="3223" y="157"/>
                  </a:lnTo>
                  <a:lnTo>
                    <a:pt x="3223" y="78"/>
                  </a:lnTo>
                  <a:lnTo>
                    <a:pt x="3223" y="22"/>
                  </a:lnTo>
                  <a:lnTo>
                    <a:pt x="3223" y="1"/>
                  </a:lnTo>
                  <a:lnTo>
                    <a:pt x="3214" y="1"/>
                  </a:lnTo>
                  <a:lnTo>
                    <a:pt x="3190" y="1"/>
                  </a:lnTo>
                  <a:lnTo>
                    <a:pt x="3152" y="1"/>
                  </a:lnTo>
                  <a:lnTo>
                    <a:pt x="3107" y="1"/>
                  </a:lnTo>
                  <a:lnTo>
                    <a:pt x="3054" y="1"/>
                  </a:lnTo>
                  <a:lnTo>
                    <a:pt x="2997" y="1"/>
                  </a:lnTo>
                  <a:lnTo>
                    <a:pt x="2940" y="1"/>
                  </a:lnTo>
                  <a:lnTo>
                    <a:pt x="2884" y="1"/>
                  </a:lnTo>
                  <a:lnTo>
                    <a:pt x="2869" y="1"/>
                  </a:lnTo>
                  <a:lnTo>
                    <a:pt x="2855" y="2"/>
                  </a:lnTo>
                  <a:lnTo>
                    <a:pt x="2841" y="4"/>
                  </a:lnTo>
                  <a:lnTo>
                    <a:pt x="2829" y="7"/>
                  </a:lnTo>
                  <a:lnTo>
                    <a:pt x="2817" y="10"/>
                  </a:lnTo>
                  <a:lnTo>
                    <a:pt x="2807" y="13"/>
                  </a:lnTo>
                  <a:lnTo>
                    <a:pt x="2796" y="18"/>
                  </a:lnTo>
                  <a:lnTo>
                    <a:pt x="2788" y="23"/>
                  </a:lnTo>
                  <a:lnTo>
                    <a:pt x="2780" y="28"/>
                  </a:lnTo>
                  <a:lnTo>
                    <a:pt x="2772" y="33"/>
                  </a:lnTo>
                  <a:lnTo>
                    <a:pt x="2766" y="39"/>
                  </a:lnTo>
                  <a:lnTo>
                    <a:pt x="2760" y="45"/>
                  </a:lnTo>
                  <a:lnTo>
                    <a:pt x="2755" y="51"/>
                  </a:lnTo>
                  <a:lnTo>
                    <a:pt x="2750" y="58"/>
                  </a:lnTo>
                  <a:lnTo>
                    <a:pt x="2747" y="64"/>
                  </a:lnTo>
                  <a:lnTo>
                    <a:pt x="2742" y="71"/>
                  </a:lnTo>
                  <a:lnTo>
                    <a:pt x="2737" y="84"/>
                  </a:lnTo>
                  <a:lnTo>
                    <a:pt x="2733" y="96"/>
                  </a:lnTo>
                  <a:lnTo>
                    <a:pt x="2731" y="108"/>
                  </a:lnTo>
                  <a:lnTo>
                    <a:pt x="2729" y="118"/>
                  </a:lnTo>
                  <a:lnTo>
                    <a:pt x="2729" y="135"/>
                  </a:lnTo>
                  <a:lnTo>
                    <a:pt x="2729" y="140"/>
                  </a:lnTo>
                  <a:lnTo>
                    <a:pt x="2729" y="156"/>
                  </a:lnTo>
                  <a:lnTo>
                    <a:pt x="2729" y="196"/>
                  </a:lnTo>
                  <a:lnTo>
                    <a:pt x="2729" y="252"/>
                  </a:lnTo>
                  <a:lnTo>
                    <a:pt x="2729" y="316"/>
                  </a:lnTo>
                  <a:lnTo>
                    <a:pt x="2729" y="382"/>
                  </a:lnTo>
                  <a:lnTo>
                    <a:pt x="2729" y="438"/>
                  </a:lnTo>
                  <a:lnTo>
                    <a:pt x="2729" y="478"/>
                  </a:lnTo>
                  <a:lnTo>
                    <a:pt x="2729" y="492"/>
                  </a:lnTo>
                  <a:close/>
                  <a:moveTo>
                    <a:pt x="6244" y="1923"/>
                  </a:moveTo>
                  <a:lnTo>
                    <a:pt x="6235" y="1923"/>
                  </a:lnTo>
                  <a:lnTo>
                    <a:pt x="6212" y="1923"/>
                  </a:lnTo>
                  <a:lnTo>
                    <a:pt x="6180" y="1923"/>
                  </a:lnTo>
                  <a:lnTo>
                    <a:pt x="6143" y="1923"/>
                  </a:lnTo>
                  <a:lnTo>
                    <a:pt x="6106" y="1923"/>
                  </a:lnTo>
                  <a:lnTo>
                    <a:pt x="6073" y="1923"/>
                  </a:lnTo>
                  <a:lnTo>
                    <a:pt x="6051" y="1923"/>
                  </a:lnTo>
                  <a:lnTo>
                    <a:pt x="6042" y="1923"/>
                  </a:lnTo>
                  <a:lnTo>
                    <a:pt x="6015" y="1922"/>
                  </a:lnTo>
                  <a:lnTo>
                    <a:pt x="5990" y="1921"/>
                  </a:lnTo>
                  <a:lnTo>
                    <a:pt x="5966" y="1919"/>
                  </a:lnTo>
                  <a:lnTo>
                    <a:pt x="5945" y="1916"/>
                  </a:lnTo>
                  <a:lnTo>
                    <a:pt x="5924" y="1912"/>
                  </a:lnTo>
                  <a:lnTo>
                    <a:pt x="5905" y="1908"/>
                  </a:lnTo>
                  <a:lnTo>
                    <a:pt x="5888" y="1903"/>
                  </a:lnTo>
                  <a:lnTo>
                    <a:pt x="5871" y="1896"/>
                  </a:lnTo>
                  <a:lnTo>
                    <a:pt x="5856" y="1889"/>
                  </a:lnTo>
                  <a:lnTo>
                    <a:pt x="5842" y="1882"/>
                  </a:lnTo>
                  <a:lnTo>
                    <a:pt x="5829" y="1873"/>
                  </a:lnTo>
                  <a:lnTo>
                    <a:pt x="5818" y="1864"/>
                  </a:lnTo>
                  <a:lnTo>
                    <a:pt x="5809" y="1854"/>
                  </a:lnTo>
                  <a:lnTo>
                    <a:pt x="5799" y="1843"/>
                  </a:lnTo>
                  <a:lnTo>
                    <a:pt x="5791" y="1832"/>
                  </a:lnTo>
                  <a:lnTo>
                    <a:pt x="5785" y="1820"/>
                  </a:lnTo>
                  <a:lnTo>
                    <a:pt x="5779" y="1807"/>
                  </a:lnTo>
                  <a:lnTo>
                    <a:pt x="5772" y="1786"/>
                  </a:lnTo>
                  <a:lnTo>
                    <a:pt x="5766" y="1759"/>
                  </a:lnTo>
                  <a:lnTo>
                    <a:pt x="5760" y="1723"/>
                  </a:lnTo>
                  <a:lnTo>
                    <a:pt x="5757" y="1702"/>
                  </a:lnTo>
                  <a:lnTo>
                    <a:pt x="5754" y="1679"/>
                  </a:lnTo>
                  <a:lnTo>
                    <a:pt x="5752" y="1652"/>
                  </a:lnTo>
                  <a:lnTo>
                    <a:pt x="5749" y="1624"/>
                  </a:lnTo>
                  <a:lnTo>
                    <a:pt x="5747" y="1592"/>
                  </a:lnTo>
                  <a:lnTo>
                    <a:pt x="5746" y="1557"/>
                  </a:lnTo>
                  <a:lnTo>
                    <a:pt x="5745" y="1520"/>
                  </a:lnTo>
                  <a:lnTo>
                    <a:pt x="5745" y="1480"/>
                  </a:lnTo>
                  <a:lnTo>
                    <a:pt x="5745" y="1466"/>
                  </a:lnTo>
                  <a:lnTo>
                    <a:pt x="5745" y="1432"/>
                  </a:lnTo>
                  <a:lnTo>
                    <a:pt x="5745" y="1383"/>
                  </a:lnTo>
                  <a:lnTo>
                    <a:pt x="5745" y="1328"/>
                  </a:lnTo>
                  <a:lnTo>
                    <a:pt x="5745" y="1272"/>
                  </a:lnTo>
                  <a:lnTo>
                    <a:pt x="5745" y="1223"/>
                  </a:lnTo>
                  <a:lnTo>
                    <a:pt x="5745" y="1189"/>
                  </a:lnTo>
                  <a:lnTo>
                    <a:pt x="5745" y="1177"/>
                  </a:lnTo>
                  <a:lnTo>
                    <a:pt x="5745" y="1176"/>
                  </a:lnTo>
                  <a:lnTo>
                    <a:pt x="5746" y="1148"/>
                  </a:lnTo>
                  <a:lnTo>
                    <a:pt x="5746" y="1122"/>
                  </a:lnTo>
                  <a:lnTo>
                    <a:pt x="5748" y="1098"/>
                  </a:lnTo>
                  <a:lnTo>
                    <a:pt x="5751" y="1077"/>
                  </a:lnTo>
                  <a:lnTo>
                    <a:pt x="5753" y="1060"/>
                  </a:lnTo>
                  <a:lnTo>
                    <a:pt x="5755" y="1043"/>
                  </a:lnTo>
                  <a:lnTo>
                    <a:pt x="5759" y="1029"/>
                  </a:lnTo>
                  <a:lnTo>
                    <a:pt x="5762" y="1016"/>
                  </a:lnTo>
                  <a:lnTo>
                    <a:pt x="5766" y="1005"/>
                  </a:lnTo>
                  <a:lnTo>
                    <a:pt x="5770" y="995"/>
                  </a:lnTo>
                  <a:lnTo>
                    <a:pt x="5774" y="986"/>
                  </a:lnTo>
                  <a:lnTo>
                    <a:pt x="5780" y="979"/>
                  </a:lnTo>
                  <a:lnTo>
                    <a:pt x="5789" y="965"/>
                  </a:lnTo>
                  <a:lnTo>
                    <a:pt x="5799" y="953"/>
                  </a:lnTo>
                  <a:lnTo>
                    <a:pt x="5811" y="942"/>
                  </a:lnTo>
                  <a:lnTo>
                    <a:pt x="5822" y="934"/>
                  </a:lnTo>
                  <a:lnTo>
                    <a:pt x="5834" y="927"/>
                  </a:lnTo>
                  <a:lnTo>
                    <a:pt x="5846" y="923"/>
                  </a:lnTo>
                  <a:lnTo>
                    <a:pt x="5858" y="919"/>
                  </a:lnTo>
                  <a:lnTo>
                    <a:pt x="5872" y="917"/>
                  </a:lnTo>
                  <a:lnTo>
                    <a:pt x="5884" y="916"/>
                  </a:lnTo>
                  <a:lnTo>
                    <a:pt x="5898" y="916"/>
                  </a:lnTo>
                  <a:lnTo>
                    <a:pt x="5913" y="916"/>
                  </a:lnTo>
                  <a:lnTo>
                    <a:pt x="5952" y="916"/>
                  </a:lnTo>
                  <a:lnTo>
                    <a:pt x="6008" y="916"/>
                  </a:lnTo>
                  <a:lnTo>
                    <a:pt x="6071" y="916"/>
                  </a:lnTo>
                  <a:lnTo>
                    <a:pt x="6135" y="916"/>
                  </a:lnTo>
                  <a:lnTo>
                    <a:pt x="6190" y="916"/>
                  </a:lnTo>
                  <a:lnTo>
                    <a:pt x="6229" y="916"/>
                  </a:lnTo>
                  <a:lnTo>
                    <a:pt x="6244" y="916"/>
                  </a:lnTo>
                  <a:lnTo>
                    <a:pt x="6244" y="927"/>
                  </a:lnTo>
                  <a:lnTo>
                    <a:pt x="6244" y="958"/>
                  </a:lnTo>
                  <a:lnTo>
                    <a:pt x="6244" y="1008"/>
                  </a:lnTo>
                  <a:lnTo>
                    <a:pt x="6244" y="1072"/>
                  </a:lnTo>
                  <a:lnTo>
                    <a:pt x="6244" y="1149"/>
                  </a:lnTo>
                  <a:lnTo>
                    <a:pt x="6244" y="1234"/>
                  </a:lnTo>
                  <a:lnTo>
                    <a:pt x="6244" y="1325"/>
                  </a:lnTo>
                  <a:lnTo>
                    <a:pt x="6244" y="1419"/>
                  </a:lnTo>
                  <a:lnTo>
                    <a:pt x="6244" y="1513"/>
                  </a:lnTo>
                  <a:lnTo>
                    <a:pt x="6244" y="1604"/>
                  </a:lnTo>
                  <a:lnTo>
                    <a:pt x="6244" y="1689"/>
                  </a:lnTo>
                  <a:lnTo>
                    <a:pt x="6244" y="1766"/>
                  </a:lnTo>
                  <a:lnTo>
                    <a:pt x="6244" y="1830"/>
                  </a:lnTo>
                  <a:lnTo>
                    <a:pt x="6244" y="1880"/>
                  </a:lnTo>
                  <a:lnTo>
                    <a:pt x="6244" y="1912"/>
                  </a:lnTo>
                  <a:lnTo>
                    <a:pt x="6244" y="1923"/>
                  </a:lnTo>
                  <a:close/>
                  <a:moveTo>
                    <a:pt x="6244" y="121"/>
                  </a:moveTo>
                  <a:lnTo>
                    <a:pt x="6244" y="142"/>
                  </a:lnTo>
                  <a:lnTo>
                    <a:pt x="6244" y="199"/>
                  </a:lnTo>
                  <a:lnTo>
                    <a:pt x="6244" y="279"/>
                  </a:lnTo>
                  <a:lnTo>
                    <a:pt x="6244" y="370"/>
                  </a:lnTo>
                  <a:lnTo>
                    <a:pt x="6244" y="461"/>
                  </a:lnTo>
                  <a:lnTo>
                    <a:pt x="6244" y="541"/>
                  </a:lnTo>
                  <a:lnTo>
                    <a:pt x="6244" y="597"/>
                  </a:lnTo>
                  <a:lnTo>
                    <a:pt x="6244" y="619"/>
                  </a:lnTo>
                  <a:lnTo>
                    <a:pt x="6222" y="619"/>
                  </a:lnTo>
                  <a:lnTo>
                    <a:pt x="6164" y="619"/>
                  </a:lnTo>
                  <a:lnTo>
                    <a:pt x="6081" y="619"/>
                  </a:lnTo>
                  <a:lnTo>
                    <a:pt x="5986" y="619"/>
                  </a:lnTo>
                  <a:lnTo>
                    <a:pt x="5892" y="619"/>
                  </a:lnTo>
                  <a:lnTo>
                    <a:pt x="5809" y="619"/>
                  </a:lnTo>
                  <a:lnTo>
                    <a:pt x="5751" y="619"/>
                  </a:lnTo>
                  <a:lnTo>
                    <a:pt x="5728" y="619"/>
                  </a:lnTo>
                  <a:lnTo>
                    <a:pt x="5727" y="619"/>
                  </a:lnTo>
                  <a:lnTo>
                    <a:pt x="5686" y="620"/>
                  </a:lnTo>
                  <a:lnTo>
                    <a:pt x="5649" y="622"/>
                  </a:lnTo>
                  <a:lnTo>
                    <a:pt x="5614" y="625"/>
                  </a:lnTo>
                  <a:lnTo>
                    <a:pt x="5580" y="631"/>
                  </a:lnTo>
                  <a:lnTo>
                    <a:pt x="5550" y="638"/>
                  </a:lnTo>
                  <a:lnTo>
                    <a:pt x="5521" y="646"/>
                  </a:lnTo>
                  <a:lnTo>
                    <a:pt x="5508" y="651"/>
                  </a:lnTo>
                  <a:lnTo>
                    <a:pt x="5495" y="656"/>
                  </a:lnTo>
                  <a:lnTo>
                    <a:pt x="5483" y="661"/>
                  </a:lnTo>
                  <a:lnTo>
                    <a:pt x="5470" y="668"/>
                  </a:lnTo>
                  <a:lnTo>
                    <a:pt x="5459" y="674"/>
                  </a:lnTo>
                  <a:lnTo>
                    <a:pt x="5447" y="680"/>
                  </a:lnTo>
                  <a:lnTo>
                    <a:pt x="5436" y="687"/>
                  </a:lnTo>
                  <a:lnTo>
                    <a:pt x="5426" y="695"/>
                  </a:lnTo>
                  <a:lnTo>
                    <a:pt x="5406" y="711"/>
                  </a:lnTo>
                  <a:lnTo>
                    <a:pt x="5387" y="729"/>
                  </a:lnTo>
                  <a:lnTo>
                    <a:pt x="5371" y="748"/>
                  </a:lnTo>
                  <a:lnTo>
                    <a:pt x="5354" y="768"/>
                  </a:lnTo>
                  <a:lnTo>
                    <a:pt x="5338" y="790"/>
                  </a:lnTo>
                  <a:lnTo>
                    <a:pt x="5325" y="814"/>
                  </a:lnTo>
                  <a:lnTo>
                    <a:pt x="5316" y="832"/>
                  </a:lnTo>
                  <a:lnTo>
                    <a:pt x="5306" y="850"/>
                  </a:lnTo>
                  <a:lnTo>
                    <a:pt x="5298" y="870"/>
                  </a:lnTo>
                  <a:lnTo>
                    <a:pt x="5291" y="891"/>
                  </a:lnTo>
                  <a:lnTo>
                    <a:pt x="5284" y="911"/>
                  </a:lnTo>
                  <a:lnTo>
                    <a:pt x="5278" y="934"/>
                  </a:lnTo>
                  <a:lnTo>
                    <a:pt x="5273" y="957"/>
                  </a:lnTo>
                  <a:lnTo>
                    <a:pt x="5268" y="982"/>
                  </a:lnTo>
                  <a:lnTo>
                    <a:pt x="5264" y="1007"/>
                  </a:lnTo>
                  <a:lnTo>
                    <a:pt x="5260" y="1033"/>
                  </a:lnTo>
                  <a:lnTo>
                    <a:pt x="5256" y="1061"/>
                  </a:lnTo>
                  <a:lnTo>
                    <a:pt x="5254" y="1089"/>
                  </a:lnTo>
                  <a:lnTo>
                    <a:pt x="5252" y="1118"/>
                  </a:lnTo>
                  <a:lnTo>
                    <a:pt x="5251" y="1148"/>
                  </a:lnTo>
                  <a:lnTo>
                    <a:pt x="5250" y="1180"/>
                  </a:lnTo>
                  <a:lnTo>
                    <a:pt x="5250" y="1212"/>
                  </a:lnTo>
                  <a:lnTo>
                    <a:pt x="5250" y="1230"/>
                  </a:lnTo>
                  <a:lnTo>
                    <a:pt x="5250" y="1276"/>
                  </a:lnTo>
                  <a:lnTo>
                    <a:pt x="5250" y="1343"/>
                  </a:lnTo>
                  <a:lnTo>
                    <a:pt x="5250" y="1417"/>
                  </a:lnTo>
                  <a:lnTo>
                    <a:pt x="5250" y="1493"/>
                  </a:lnTo>
                  <a:lnTo>
                    <a:pt x="5250" y="1559"/>
                  </a:lnTo>
                  <a:lnTo>
                    <a:pt x="5250" y="1606"/>
                  </a:lnTo>
                  <a:lnTo>
                    <a:pt x="5250" y="1624"/>
                  </a:lnTo>
                  <a:lnTo>
                    <a:pt x="5250" y="1656"/>
                  </a:lnTo>
                  <a:lnTo>
                    <a:pt x="5251" y="1688"/>
                  </a:lnTo>
                  <a:lnTo>
                    <a:pt x="5252" y="1718"/>
                  </a:lnTo>
                  <a:lnTo>
                    <a:pt x="5254" y="1747"/>
                  </a:lnTo>
                  <a:lnTo>
                    <a:pt x="5256" y="1775"/>
                  </a:lnTo>
                  <a:lnTo>
                    <a:pt x="5260" y="1803"/>
                  </a:lnTo>
                  <a:lnTo>
                    <a:pt x="5264" y="1829"/>
                  </a:lnTo>
                  <a:lnTo>
                    <a:pt x="5268" y="1854"/>
                  </a:lnTo>
                  <a:lnTo>
                    <a:pt x="5273" y="1879"/>
                  </a:lnTo>
                  <a:lnTo>
                    <a:pt x="5278" y="1902"/>
                  </a:lnTo>
                  <a:lnTo>
                    <a:pt x="5284" y="1924"/>
                  </a:lnTo>
                  <a:lnTo>
                    <a:pt x="5291" y="1945"/>
                  </a:lnTo>
                  <a:lnTo>
                    <a:pt x="5299" y="1966"/>
                  </a:lnTo>
                  <a:lnTo>
                    <a:pt x="5306" y="1986"/>
                  </a:lnTo>
                  <a:lnTo>
                    <a:pt x="5316" y="2004"/>
                  </a:lnTo>
                  <a:lnTo>
                    <a:pt x="5325" y="2022"/>
                  </a:lnTo>
                  <a:lnTo>
                    <a:pt x="5332" y="2033"/>
                  </a:lnTo>
                  <a:lnTo>
                    <a:pt x="5339" y="2046"/>
                  </a:lnTo>
                  <a:lnTo>
                    <a:pt x="5347" y="2057"/>
                  </a:lnTo>
                  <a:lnTo>
                    <a:pt x="5355" y="2067"/>
                  </a:lnTo>
                  <a:lnTo>
                    <a:pt x="5364" y="2078"/>
                  </a:lnTo>
                  <a:lnTo>
                    <a:pt x="5373" y="2088"/>
                  </a:lnTo>
                  <a:lnTo>
                    <a:pt x="5383" y="2098"/>
                  </a:lnTo>
                  <a:lnTo>
                    <a:pt x="5392" y="2107"/>
                  </a:lnTo>
                  <a:lnTo>
                    <a:pt x="5403" y="2116"/>
                  </a:lnTo>
                  <a:lnTo>
                    <a:pt x="5413" y="2124"/>
                  </a:lnTo>
                  <a:lnTo>
                    <a:pt x="5424" y="2133"/>
                  </a:lnTo>
                  <a:lnTo>
                    <a:pt x="5435" y="2141"/>
                  </a:lnTo>
                  <a:lnTo>
                    <a:pt x="5458" y="2156"/>
                  </a:lnTo>
                  <a:lnTo>
                    <a:pt x="5483" y="2168"/>
                  </a:lnTo>
                  <a:lnTo>
                    <a:pt x="5509" y="2179"/>
                  </a:lnTo>
                  <a:lnTo>
                    <a:pt x="5536" y="2190"/>
                  </a:lnTo>
                  <a:lnTo>
                    <a:pt x="5565" y="2198"/>
                  </a:lnTo>
                  <a:lnTo>
                    <a:pt x="5595" y="2204"/>
                  </a:lnTo>
                  <a:lnTo>
                    <a:pt x="5625" y="2211"/>
                  </a:lnTo>
                  <a:lnTo>
                    <a:pt x="5657" y="2214"/>
                  </a:lnTo>
                  <a:lnTo>
                    <a:pt x="5690" y="2216"/>
                  </a:lnTo>
                  <a:lnTo>
                    <a:pt x="5726" y="2217"/>
                  </a:lnTo>
                  <a:lnTo>
                    <a:pt x="5727" y="2217"/>
                  </a:lnTo>
                  <a:lnTo>
                    <a:pt x="5738" y="2217"/>
                  </a:lnTo>
                  <a:lnTo>
                    <a:pt x="5769" y="2217"/>
                  </a:lnTo>
                  <a:lnTo>
                    <a:pt x="5819" y="2217"/>
                  </a:lnTo>
                  <a:lnTo>
                    <a:pt x="5883" y="2217"/>
                  </a:lnTo>
                  <a:lnTo>
                    <a:pt x="5959" y="2217"/>
                  </a:lnTo>
                  <a:lnTo>
                    <a:pt x="6044" y="2217"/>
                  </a:lnTo>
                  <a:lnTo>
                    <a:pt x="6135" y="2217"/>
                  </a:lnTo>
                  <a:lnTo>
                    <a:pt x="6228" y="2217"/>
                  </a:lnTo>
                  <a:lnTo>
                    <a:pt x="6321" y="2217"/>
                  </a:lnTo>
                  <a:lnTo>
                    <a:pt x="6412" y="2217"/>
                  </a:lnTo>
                  <a:lnTo>
                    <a:pt x="6497" y="2217"/>
                  </a:lnTo>
                  <a:lnTo>
                    <a:pt x="6573" y="2217"/>
                  </a:lnTo>
                  <a:lnTo>
                    <a:pt x="6637" y="2217"/>
                  </a:lnTo>
                  <a:lnTo>
                    <a:pt x="6687" y="2217"/>
                  </a:lnTo>
                  <a:lnTo>
                    <a:pt x="6718" y="2217"/>
                  </a:lnTo>
                  <a:lnTo>
                    <a:pt x="6729" y="2217"/>
                  </a:lnTo>
                  <a:lnTo>
                    <a:pt x="6729" y="2192"/>
                  </a:lnTo>
                  <a:lnTo>
                    <a:pt x="6729" y="2121"/>
                  </a:lnTo>
                  <a:lnTo>
                    <a:pt x="6729" y="2012"/>
                  </a:lnTo>
                  <a:lnTo>
                    <a:pt x="6729" y="1870"/>
                  </a:lnTo>
                  <a:lnTo>
                    <a:pt x="6729" y="1702"/>
                  </a:lnTo>
                  <a:lnTo>
                    <a:pt x="6729" y="1516"/>
                  </a:lnTo>
                  <a:lnTo>
                    <a:pt x="6729" y="1315"/>
                  </a:lnTo>
                  <a:lnTo>
                    <a:pt x="6729" y="1108"/>
                  </a:lnTo>
                  <a:lnTo>
                    <a:pt x="6729" y="902"/>
                  </a:lnTo>
                  <a:lnTo>
                    <a:pt x="6729" y="702"/>
                  </a:lnTo>
                  <a:lnTo>
                    <a:pt x="6729" y="514"/>
                  </a:lnTo>
                  <a:lnTo>
                    <a:pt x="6729" y="346"/>
                  </a:lnTo>
                  <a:lnTo>
                    <a:pt x="6729" y="204"/>
                  </a:lnTo>
                  <a:lnTo>
                    <a:pt x="6729" y="95"/>
                  </a:lnTo>
                  <a:lnTo>
                    <a:pt x="6729" y="25"/>
                  </a:lnTo>
                  <a:lnTo>
                    <a:pt x="6729" y="0"/>
                  </a:lnTo>
                  <a:lnTo>
                    <a:pt x="6720" y="0"/>
                  </a:lnTo>
                  <a:lnTo>
                    <a:pt x="6693" y="0"/>
                  </a:lnTo>
                  <a:lnTo>
                    <a:pt x="6653" y="0"/>
                  </a:lnTo>
                  <a:lnTo>
                    <a:pt x="6603" y="0"/>
                  </a:lnTo>
                  <a:lnTo>
                    <a:pt x="6548" y="0"/>
                  </a:lnTo>
                  <a:lnTo>
                    <a:pt x="6490" y="0"/>
                  </a:lnTo>
                  <a:lnTo>
                    <a:pt x="6432" y="0"/>
                  </a:lnTo>
                  <a:lnTo>
                    <a:pt x="6381" y="0"/>
                  </a:lnTo>
                  <a:lnTo>
                    <a:pt x="6368" y="1"/>
                  </a:lnTo>
                  <a:lnTo>
                    <a:pt x="6357" y="2"/>
                  </a:lnTo>
                  <a:lnTo>
                    <a:pt x="6346" y="3"/>
                  </a:lnTo>
                  <a:lnTo>
                    <a:pt x="6336" y="5"/>
                  </a:lnTo>
                  <a:lnTo>
                    <a:pt x="6327" y="8"/>
                  </a:lnTo>
                  <a:lnTo>
                    <a:pt x="6317" y="11"/>
                  </a:lnTo>
                  <a:lnTo>
                    <a:pt x="6309" y="16"/>
                  </a:lnTo>
                  <a:lnTo>
                    <a:pt x="6302" y="19"/>
                  </a:lnTo>
                  <a:lnTo>
                    <a:pt x="6294" y="24"/>
                  </a:lnTo>
                  <a:lnTo>
                    <a:pt x="6288" y="28"/>
                  </a:lnTo>
                  <a:lnTo>
                    <a:pt x="6283" y="33"/>
                  </a:lnTo>
                  <a:lnTo>
                    <a:pt x="6278" y="38"/>
                  </a:lnTo>
                  <a:lnTo>
                    <a:pt x="6268" y="50"/>
                  </a:lnTo>
                  <a:lnTo>
                    <a:pt x="6261" y="60"/>
                  </a:lnTo>
                  <a:lnTo>
                    <a:pt x="6255" y="72"/>
                  </a:lnTo>
                  <a:lnTo>
                    <a:pt x="6251" y="83"/>
                  </a:lnTo>
                  <a:lnTo>
                    <a:pt x="6248" y="93"/>
                  </a:lnTo>
                  <a:lnTo>
                    <a:pt x="6246" y="102"/>
                  </a:lnTo>
                  <a:lnTo>
                    <a:pt x="6245" y="116"/>
                  </a:lnTo>
                  <a:lnTo>
                    <a:pt x="6244" y="121"/>
                  </a:lnTo>
                  <a:close/>
                  <a:moveTo>
                    <a:pt x="4814" y="684"/>
                  </a:moveTo>
                  <a:lnTo>
                    <a:pt x="4798" y="674"/>
                  </a:lnTo>
                  <a:lnTo>
                    <a:pt x="4780" y="665"/>
                  </a:lnTo>
                  <a:lnTo>
                    <a:pt x="4763" y="656"/>
                  </a:lnTo>
                  <a:lnTo>
                    <a:pt x="4747" y="649"/>
                  </a:lnTo>
                  <a:lnTo>
                    <a:pt x="4731" y="643"/>
                  </a:lnTo>
                  <a:lnTo>
                    <a:pt x="4715" y="638"/>
                  </a:lnTo>
                  <a:lnTo>
                    <a:pt x="4699" y="634"/>
                  </a:lnTo>
                  <a:lnTo>
                    <a:pt x="4683" y="629"/>
                  </a:lnTo>
                  <a:lnTo>
                    <a:pt x="4653" y="624"/>
                  </a:lnTo>
                  <a:lnTo>
                    <a:pt x="4627" y="621"/>
                  </a:lnTo>
                  <a:lnTo>
                    <a:pt x="4604" y="620"/>
                  </a:lnTo>
                  <a:lnTo>
                    <a:pt x="4583" y="619"/>
                  </a:lnTo>
                  <a:lnTo>
                    <a:pt x="4568" y="619"/>
                  </a:lnTo>
                  <a:lnTo>
                    <a:pt x="4532" y="619"/>
                  </a:lnTo>
                  <a:lnTo>
                    <a:pt x="4477" y="619"/>
                  </a:lnTo>
                  <a:lnTo>
                    <a:pt x="4406" y="619"/>
                  </a:lnTo>
                  <a:lnTo>
                    <a:pt x="4323" y="619"/>
                  </a:lnTo>
                  <a:lnTo>
                    <a:pt x="4232" y="619"/>
                  </a:lnTo>
                  <a:lnTo>
                    <a:pt x="4134" y="619"/>
                  </a:lnTo>
                  <a:lnTo>
                    <a:pt x="4033" y="619"/>
                  </a:lnTo>
                  <a:lnTo>
                    <a:pt x="3932" y="619"/>
                  </a:lnTo>
                  <a:lnTo>
                    <a:pt x="3834" y="619"/>
                  </a:lnTo>
                  <a:lnTo>
                    <a:pt x="3744" y="619"/>
                  </a:lnTo>
                  <a:lnTo>
                    <a:pt x="3662" y="619"/>
                  </a:lnTo>
                  <a:lnTo>
                    <a:pt x="3594" y="619"/>
                  </a:lnTo>
                  <a:lnTo>
                    <a:pt x="3541" y="619"/>
                  </a:lnTo>
                  <a:lnTo>
                    <a:pt x="3506" y="619"/>
                  </a:lnTo>
                  <a:lnTo>
                    <a:pt x="3494" y="619"/>
                  </a:lnTo>
                  <a:lnTo>
                    <a:pt x="3494" y="637"/>
                  </a:lnTo>
                  <a:lnTo>
                    <a:pt x="3494" y="687"/>
                  </a:lnTo>
                  <a:lnTo>
                    <a:pt x="3494" y="766"/>
                  </a:lnTo>
                  <a:lnTo>
                    <a:pt x="3494" y="869"/>
                  </a:lnTo>
                  <a:lnTo>
                    <a:pt x="3494" y="989"/>
                  </a:lnTo>
                  <a:lnTo>
                    <a:pt x="3494" y="1125"/>
                  </a:lnTo>
                  <a:lnTo>
                    <a:pt x="3494" y="1269"/>
                  </a:lnTo>
                  <a:lnTo>
                    <a:pt x="3494" y="1417"/>
                  </a:lnTo>
                  <a:lnTo>
                    <a:pt x="3494" y="1567"/>
                  </a:lnTo>
                  <a:lnTo>
                    <a:pt x="3494" y="1711"/>
                  </a:lnTo>
                  <a:lnTo>
                    <a:pt x="3494" y="1847"/>
                  </a:lnTo>
                  <a:lnTo>
                    <a:pt x="3494" y="1967"/>
                  </a:lnTo>
                  <a:lnTo>
                    <a:pt x="3494" y="2070"/>
                  </a:lnTo>
                  <a:lnTo>
                    <a:pt x="3494" y="2148"/>
                  </a:lnTo>
                  <a:lnTo>
                    <a:pt x="3494" y="2199"/>
                  </a:lnTo>
                  <a:lnTo>
                    <a:pt x="3494" y="2217"/>
                  </a:lnTo>
                  <a:lnTo>
                    <a:pt x="3516" y="2217"/>
                  </a:lnTo>
                  <a:lnTo>
                    <a:pt x="3572" y="2217"/>
                  </a:lnTo>
                  <a:lnTo>
                    <a:pt x="3653" y="2217"/>
                  </a:lnTo>
                  <a:lnTo>
                    <a:pt x="3744" y="2217"/>
                  </a:lnTo>
                  <a:lnTo>
                    <a:pt x="3836" y="2217"/>
                  </a:lnTo>
                  <a:lnTo>
                    <a:pt x="3916" y="2217"/>
                  </a:lnTo>
                  <a:lnTo>
                    <a:pt x="3973" y="2217"/>
                  </a:lnTo>
                  <a:lnTo>
                    <a:pt x="3994" y="2217"/>
                  </a:lnTo>
                  <a:lnTo>
                    <a:pt x="3994" y="2202"/>
                  </a:lnTo>
                  <a:lnTo>
                    <a:pt x="3994" y="2161"/>
                  </a:lnTo>
                  <a:lnTo>
                    <a:pt x="3994" y="2096"/>
                  </a:lnTo>
                  <a:lnTo>
                    <a:pt x="3994" y="2014"/>
                  </a:lnTo>
                  <a:lnTo>
                    <a:pt x="3994" y="1915"/>
                  </a:lnTo>
                  <a:lnTo>
                    <a:pt x="3994" y="1805"/>
                  </a:lnTo>
                  <a:lnTo>
                    <a:pt x="3994" y="1688"/>
                  </a:lnTo>
                  <a:lnTo>
                    <a:pt x="3994" y="1567"/>
                  </a:lnTo>
                  <a:lnTo>
                    <a:pt x="3994" y="1445"/>
                  </a:lnTo>
                  <a:lnTo>
                    <a:pt x="3994" y="1327"/>
                  </a:lnTo>
                  <a:lnTo>
                    <a:pt x="3994" y="1217"/>
                  </a:lnTo>
                  <a:lnTo>
                    <a:pt x="3994" y="1119"/>
                  </a:lnTo>
                  <a:lnTo>
                    <a:pt x="3994" y="1036"/>
                  </a:lnTo>
                  <a:lnTo>
                    <a:pt x="3994" y="972"/>
                  </a:lnTo>
                  <a:lnTo>
                    <a:pt x="3994" y="930"/>
                  </a:lnTo>
                  <a:lnTo>
                    <a:pt x="3994" y="916"/>
                  </a:lnTo>
                  <a:lnTo>
                    <a:pt x="4009" y="916"/>
                  </a:lnTo>
                  <a:lnTo>
                    <a:pt x="4047" y="916"/>
                  </a:lnTo>
                  <a:lnTo>
                    <a:pt x="4101" y="916"/>
                  </a:lnTo>
                  <a:lnTo>
                    <a:pt x="4162" y="916"/>
                  </a:lnTo>
                  <a:lnTo>
                    <a:pt x="4225" y="916"/>
                  </a:lnTo>
                  <a:lnTo>
                    <a:pt x="4279" y="916"/>
                  </a:lnTo>
                  <a:lnTo>
                    <a:pt x="4317" y="916"/>
                  </a:lnTo>
                  <a:lnTo>
                    <a:pt x="4332" y="916"/>
                  </a:lnTo>
                  <a:lnTo>
                    <a:pt x="4345" y="917"/>
                  </a:lnTo>
                  <a:lnTo>
                    <a:pt x="4358" y="918"/>
                  </a:lnTo>
                  <a:lnTo>
                    <a:pt x="4370" y="920"/>
                  </a:lnTo>
                  <a:lnTo>
                    <a:pt x="4380" y="922"/>
                  </a:lnTo>
                  <a:lnTo>
                    <a:pt x="4391" y="925"/>
                  </a:lnTo>
                  <a:lnTo>
                    <a:pt x="4400" y="928"/>
                  </a:lnTo>
                  <a:lnTo>
                    <a:pt x="4409" y="932"/>
                  </a:lnTo>
                  <a:lnTo>
                    <a:pt x="4417" y="936"/>
                  </a:lnTo>
                  <a:lnTo>
                    <a:pt x="4424" y="941"/>
                  </a:lnTo>
                  <a:lnTo>
                    <a:pt x="4431" y="947"/>
                  </a:lnTo>
                  <a:lnTo>
                    <a:pt x="4437" y="953"/>
                  </a:lnTo>
                  <a:lnTo>
                    <a:pt x="4444" y="959"/>
                  </a:lnTo>
                  <a:lnTo>
                    <a:pt x="4454" y="972"/>
                  </a:lnTo>
                  <a:lnTo>
                    <a:pt x="4462" y="986"/>
                  </a:lnTo>
                  <a:lnTo>
                    <a:pt x="4470" y="1001"/>
                  </a:lnTo>
                  <a:lnTo>
                    <a:pt x="4476" y="1016"/>
                  </a:lnTo>
                  <a:lnTo>
                    <a:pt x="4480" y="1032"/>
                  </a:lnTo>
                  <a:lnTo>
                    <a:pt x="4483" y="1046"/>
                  </a:lnTo>
                  <a:lnTo>
                    <a:pt x="4485" y="1062"/>
                  </a:lnTo>
                  <a:lnTo>
                    <a:pt x="4487" y="1075"/>
                  </a:lnTo>
                  <a:lnTo>
                    <a:pt x="4487" y="1088"/>
                  </a:lnTo>
                  <a:lnTo>
                    <a:pt x="4488" y="1098"/>
                  </a:lnTo>
                  <a:lnTo>
                    <a:pt x="4488" y="1110"/>
                  </a:lnTo>
                  <a:lnTo>
                    <a:pt x="4487" y="1146"/>
                  </a:lnTo>
                  <a:lnTo>
                    <a:pt x="4487" y="1201"/>
                  </a:lnTo>
                  <a:lnTo>
                    <a:pt x="4487" y="1272"/>
                  </a:lnTo>
                  <a:lnTo>
                    <a:pt x="4487" y="1357"/>
                  </a:lnTo>
                  <a:lnTo>
                    <a:pt x="4487" y="1452"/>
                  </a:lnTo>
                  <a:lnTo>
                    <a:pt x="4487" y="1553"/>
                  </a:lnTo>
                  <a:lnTo>
                    <a:pt x="4487" y="1657"/>
                  </a:lnTo>
                  <a:lnTo>
                    <a:pt x="4487" y="1762"/>
                  </a:lnTo>
                  <a:lnTo>
                    <a:pt x="4487" y="1863"/>
                  </a:lnTo>
                  <a:lnTo>
                    <a:pt x="4487" y="1958"/>
                  </a:lnTo>
                  <a:lnTo>
                    <a:pt x="4487" y="2042"/>
                  </a:lnTo>
                  <a:lnTo>
                    <a:pt x="4487" y="2113"/>
                  </a:lnTo>
                  <a:lnTo>
                    <a:pt x="4487" y="2169"/>
                  </a:lnTo>
                  <a:lnTo>
                    <a:pt x="4487" y="2204"/>
                  </a:lnTo>
                  <a:lnTo>
                    <a:pt x="4487" y="2217"/>
                  </a:lnTo>
                  <a:lnTo>
                    <a:pt x="4508" y="2217"/>
                  </a:lnTo>
                  <a:lnTo>
                    <a:pt x="4564" y="2217"/>
                  </a:lnTo>
                  <a:lnTo>
                    <a:pt x="4643" y="2217"/>
                  </a:lnTo>
                  <a:lnTo>
                    <a:pt x="4732" y="2217"/>
                  </a:lnTo>
                  <a:lnTo>
                    <a:pt x="4823" y="2217"/>
                  </a:lnTo>
                  <a:lnTo>
                    <a:pt x="4901" y="2217"/>
                  </a:lnTo>
                  <a:lnTo>
                    <a:pt x="4956" y="2217"/>
                  </a:lnTo>
                  <a:lnTo>
                    <a:pt x="4978" y="2217"/>
                  </a:lnTo>
                  <a:lnTo>
                    <a:pt x="4978" y="2203"/>
                  </a:lnTo>
                  <a:lnTo>
                    <a:pt x="4978" y="2167"/>
                  </a:lnTo>
                  <a:lnTo>
                    <a:pt x="4978" y="2109"/>
                  </a:lnTo>
                  <a:lnTo>
                    <a:pt x="4978" y="2034"/>
                  </a:lnTo>
                  <a:lnTo>
                    <a:pt x="4978" y="1946"/>
                  </a:lnTo>
                  <a:lnTo>
                    <a:pt x="4978" y="1848"/>
                  </a:lnTo>
                  <a:lnTo>
                    <a:pt x="4978" y="1742"/>
                  </a:lnTo>
                  <a:lnTo>
                    <a:pt x="4978" y="1634"/>
                  </a:lnTo>
                  <a:lnTo>
                    <a:pt x="4978" y="1525"/>
                  </a:lnTo>
                  <a:lnTo>
                    <a:pt x="4978" y="1419"/>
                  </a:lnTo>
                  <a:lnTo>
                    <a:pt x="4978" y="1321"/>
                  </a:lnTo>
                  <a:lnTo>
                    <a:pt x="4978" y="1233"/>
                  </a:lnTo>
                  <a:lnTo>
                    <a:pt x="4978" y="1158"/>
                  </a:lnTo>
                  <a:lnTo>
                    <a:pt x="4978" y="1101"/>
                  </a:lnTo>
                  <a:lnTo>
                    <a:pt x="4978" y="1064"/>
                  </a:lnTo>
                  <a:lnTo>
                    <a:pt x="4978" y="1050"/>
                  </a:lnTo>
                  <a:lnTo>
                    <a:pt x="4978" y="1049"/>
                  </a:lnTo>
                  <a:lnTo>
                    <a:pt x="4977" y="1014"/>
                  </a:lnTo>
                  <a:lnTo>
                    <a:pt x="4975" y="981"/>
                  </a:lnTo>
                  <a:lnTo>
                    <a:pt x="4971" y="949"/>
                  </a:lnTo>
                  <a:lnTo>
                    <a:pt x="4965" y="919"/>
                  </a:lnTo>
                  <a:lnTo>
                    <a:pt x="4957" y="891"/>
                  </a:lnTo>
                  <a:lnTo>
                    <a:pt x="4949" y="865"/>
                  </a:lnTo>
                  <a:lnTo>
                    <a:pt x="4940" y="840"/>
                  </a:lnTo>
                  <a:lnTo>
                    <a:pt x="4929" y="816"/>
                  </a:lnTo>
                  <a:lnTo>
                    <a:pt x="4918" y="795"/>
                  </a:lnTo>
                  <a:lnTo>
                    <a:pt x="4906" y="775"/>
                  </a:lnTo>
                  <a:lnTo>
                    <a:pt x="4891" y="756"/>
                  </a:lnTo>
                  <a:lnTo>
                    <a:pt x="4878" y="739"/>
                  </a:lnTo>
                  <a:lnTo>
                    <a:pt x="4862" y="724"/>
                  </a:lnTo>
                  <a:lnTo>
                    <a:pt x="4846" y="709"/>
                  </a:lnTo>
                  <a:lnTo>
                    <a:pt x="4831" y="696"/>
                  </a:lnTo>
                  <a:lnTo>
                    <a:pt x="4814" y="684"/>
                  </a:lnTo>
                  <a:close/>
                  <a:moveTo>
                    <a:pt x="2293" y="684"/>
                  </a:moveTo>
                  <a:lnTo>
                    <a:pt x="2276" y="674"/>
                  </a:lnTo>
                  <a:lnTo>
                    <a:pt x="2260" y="665"/>
                  </a:lnTo>
                  <a:lnTo>
                    <a:pt x="2243" y="656"/>
                  </a:lnTo>
                  <a:lnTo>
                    <a:pt x="2227" y="649"/>
                  </a:lnTo>
                  <a:lnTo>
                    <a:pt x="2210" y="643"/>
                  </a:lnTo>
                  <a:lnTo>
                    <a:pt x="2193" y="638"/>
                  </a:lnTo>
                  <a:lnTo>
                    <a:pt x="2178" y="634"/>
                  </a:lnTo>
                  <a:lnTo>
                    <a:pt x="2162" y="629"/>
                  </a:lnTo>
                  <a:lnTo>
                    <a:pt x="2133" y="624"/>
                  </a:lnTo>
                  <a:lnTo>
                    <a:pt x="2106" y="621"/>
                  </a:lnTo>
                  <a:lnTo>
                    <a:pt x="2082" y="620"/>
                  </a:lnTo>
                  <a:lnTo>
                    <a:pt x="2061" y="619"/>
                  </a:lnTo>
                  <a:lnTo>
                    <a:pt x="2039" y="619"/>
                  </a:lnTo>
                  <a:lnTo>
                    <a:pt x="1973" y="619"/>
                  </a:lnTo>
                  <a:lnTo>
                    <a:pt x="1872" y="619"/>
                  </a:lnTo>
                  <a:lnTo>
                    <a:pt x="1740" y="619"/>
                  </a:lnTo>
                  <a:lnTo>
                    <a:pt x="1584" y="619"/>
                  </a:lnTo>
                  <a:lnTo>
                    <a:pt x="1410" y="619"/>
                  </a:lnTo>
                  <a:lnTo>
                    <a:pt x="1223" y="619"/>
                  </a:lnTo>
                  <a:lnTo>
                    <a:pt x="1031" y="619"/>
                  </a:lnTo>
                  <a:lnTo>
                    <a:pt x="839" y="619"/>
                  </a:lnTo>
                  <a:lnTo>
                    <a:pt x="653" y="619"/>
                  </a:lnTo>
                  <a:lnTo>
                    <a:pt x="479" y="619"/>
                  </a:lnTo>
                  <a:lnTo>
                    <a:pt x="322" y="619"/>
                  </a:lnTo>
                  <a:lnTo>
                    <a:pt x="190" y="619"/>
                  </a:lnTo>
                  <a:lnTo>
                    <a:pt x="89" y="619"/>
                  </a:lnTo>
                  <a:lnTo>
                    <a:pt x="23" y="619"/>
                  </a:lnTo>
                  <a:lnTo>
                    <a:pt x="0" y="619"/>
                  </a:lnTo>
                  <a:lnTo>
                    <a:pt x="0" y="637"/>
                  </a:lnTo>
                  <a:lnTo>
                    <a:pt x="0" y="687"/>
                  </a:lnTo>
                  <a:lnTo>
                    <a:pt x="0" y="766"/>
                  </a:lnTo>
                  <a:lnTo>
                    <a:pt x="0" y="869"/>
                  </a:lnTo>
                  <a:lnTo>
                    <a:pt x="0" y="989"/>
                  </a:lnTo>
                  <a:lnTo>
                    <a:pt x="0" y="1124"/>
                  </a:lnTo>
                  <a:lnTo>
                    <a:pt x="0" y="1269"/>
                  </a:lnTo>
                  <a:lnTo>
                    <a:pt x="0" y="1417"/>
                  </a:lnTo>
                  <a:lnTo>
                    <a:pt x="0" y="1567"/>
                  </a:lnTo>
                  <a:lnTo>
                    <a:pt x="0" y="1711"/>
                  </a:lnTo>
                  <a:lnTo>
                    <a:pt x="0" y="1846"/>
                  </a:lnTo>
                  <a:lnTo>
                    <a:pt x="0" y="1967"/>
                  </a:lnTo>
                  <a:lnTo>
                    <a:pt x="0" y="2068"/>
                  </a:lnTo>
                  <a:lnTo>
                    <a:pt x="0" y="2147"/>
                  </a:lnTo>
                  <a:lnTo>
                    <a:pt x="0" y="2198"/>
                  </a:lnTo>
                  <a:lnTo>
                    <a:pt x="0" y="2216"/>
                  </a:lnTo>
                  <a:lnTo>
                    <a:pt x="21" y="2216"/>
                  </a:lnTo>
                  <a:lnTo>
                    <a:pt x="77" y="2216"/>
                  </a:lnTo>
                  <a:lnTo>
                    <a:pt x="155" y="2216"/>
                  </a:lnTo>
                  <a:lnTo>
                    <a:pt x="245" y="2216"/>
                  </a:lnTo>
                  <a:lnTo>
                    <a:pt x="334" y="2216"/>
                  </a:lnTo>
                  <a:lnTo>
                    <a:pt x="413" y="2216"/>
                  </a:lnTo>
                  <a:lnTo>
                    <a:pt x="468" y="2216"/>
                  </a:lnTo>
                  <a:lnTo>
                    <a:pt x="490" y="2216"/>
                  </a:lnTo>
                  <a:lnTo>
                    <a:pt x="490" y="2201"/>
                  </a:lnTo>
                  <a:lnTo>
                    <a:pt x="490" y="2160"/>
                  </a:lnTo>
                  <a:lnTo>
                    <a:pt x="490" y="2096"/>
                  </a:lnTo>
                  <a:lnTo>
                    <a:pt x="490" y="2012"/>
                  </a:lnTo>
                  <a:lnTo>
                    <a:pt x="490" y="1914"/>
                  </a:lnTo>
                  <a:lnTo>
                    <a:pt x="490" y="1804"/>
                  </a:lnTo>
                  <a:lnTo>
                    <a:pt x="490" y="1687"/>
                  </a:lnTo>
                  <a:lnTo>
                    <a:pt x="490" y="1566"/>
                  </a:lnTo>
                  <a:lnTo>
                    <a:pt x="490" y="1444"/>
                  </a:lnTo>
                  <a:lnTo>
                    <a:pt x="490" y="1327"/>
                  </a:lnTo>
                  <a:lnTo>
                    <a:pt x="490" y="1217"/>
                  </a:lnTo>
                  <a:lnTo>
                    <a:pt x="490" y="1119"/>
                  </a:lnTo>
                  <a:lnTo>
                    <a:pt x="490" y="1035"/>
                  </a:lnTo>
                  <a:lnTo>
                    <a:pt x="490" y="972"/>
                  </a:lnTo>
                  <a:lnTo>
                    <a:pt x="490" y="930"/>
                  </a:lnTo>
                  <a:lnTo>
                    <a:pt x="490" y="916"/>
                  </a:lnTo>
                  <a:lnTo>
                    <a:pt x="504" y="916"/>
                  </a:lnTo>
                  <a:lnTo>
                    <a:pt x="542" y="916"/>
                  </a:lnTo>
                  <a:lnTo>
                    <a:pt x="596" y="916"/>
                  </a:lnTo>
                  <a:lnTo>
                    <a:pt x="658" y="916"/>
                  </a:lnTo>
                  <a:lnTo>
                    <a:pt x="719" y="916"/>
                  </a:lnTo>
                  <a:lnTo>
                    <a:pt x="773" y="916"/>
                  </a:lnTo>
                  <a:lnTo>
                    <a:pt x="812" y="916"/>
                  </a:lnTo>
                  <a:lnTo>
                    <a:pt x="826" y="916"/>
                  </a:lnTo>
                  <a:lnTo>
                    <a:pt x="840" y="916"/>
                  </a:lnTo>
                  <a:lnTo>
                    <a:pt x="853" y="917"/>
                  </a:lnTo>
                  <a:lnTo>
                    <a:pt x="865" y="919"/>
                  </a:lnTo>
                  <a:lnTo>
                    <a:pt x="876" y="921"/>
                  </a:lnTo>
                  <a:lnTo>
                    <a:pt x="886" y="924"/>
                  </a:lnTo>
                  <a:lnTo>
                    <a:pt x="896" y="928"/>
                  </a:lnTo>
                  <a:lnTo>
                    <a:pt x="904" y="932"/>
                  </a:lnTo>
                  <a:lnTo>
                    <a:pt x="912" y="936"/>
                  </a:lnTo>
                  <a:lnTo>
                    <a:pt x="920" y="941"/>
                  </a:lnTo>
                  <a:lnTo>
                    <a:pt x="926" y="947"/>
                  </a:lnTo>
                  <a:lnTo>
                    <a:pt x="932" y="953"/>
                  </a:lnTo>
                  <a:lnTo>
                    <a:pt x="938" y="958"/>
                  </a:lnTo>
                  <a:lnTo>
                    <a:pt x="949" y="972"/>
                  </a:lnTo>
                  <a:lnTo>
                    <a:pt x="957" y="986"/>
                  </a:lnTo>
                  <a:lnTo>
                    <a:pt x="964" y="1001"/>
                  </a:lnTo>
                  <a:lnTo>
                    <a:pt x="971" y="1016"/>
                  </a:lnTo>
                  <a:lnTo>
                    <a:pt x="975" y="1032"/>
                  </a:lnTo>
                  <a:lnTo>
                    <a:pt x="978" y="1046"/>
                  </a:lnTo>
                  <a:lnTo>
                    <a:pt x="981" y="1062"/>
                  </a:lnTo>
                  <a:lnTo>
                    <a:pt x="982" y="1075"/>
                  </a:lnTo>
                  <a:lnTo>
                    <a:pt x="983" y="1088"/>
                  </a:lnTo>
                  <a:lnTo>
                    <a:pt x="983" y="1098"/>
                  </a:lnTo>
                  <a:lnTo>
                    <a:pt x="983" y="1099"/>
                  </a:lnTo>
                  <a:lnTo>
                    <a:pt x="983" y="1114"/>
                  </a:lnTo>
                  <a:lnTo>
                    <a:pt x="983" y="1150"/>
                  </a:lnTo>
                  <a:lnTo>
                    <a:pt x="983" y="1206"/>
                  </a:lnTo>
                  <a:lnTo>
                    <a:pt x="983" y="1278"/>
                  </a:lnTo>
                  <a:lnTo>
                    <a:pt x="983" y="1362"/>
                  </a:lnTo>
                  <a:lnTo>
                    <a:pt x="983" y="1457"/>
                  </a:lnTo>
                  <a:lnTo>
                    <a:pt x="983" y="1557"/>
                  </a:lnTo>
                  <a:lnTo>
                    <a:pt x="983" y="1661"/>
                  </a:lnTo>
                  <a:lnTo>
                    <a:pt x="983" y="1765"/>
                  </a:lnTo>
                  <a:lnTo>
                    <a:pt x="983" y="1865"/>
                  </a:lnTo>
                  <a:lnTo>
                    <a:pt x="983" y="1959"/>
                  </a:lnTo>
                  <a:lnTo>
                    <a:pt x="982" y="2043"/>
                  </a:lnTo>
                  <a:lnTo>
                    <a:pt x="982" y="2114"/>
                  </a:lnTo>
                  <a:lnTo>
                    <a:pt x="982" y="2168"/>
                  </a:lnTo>
                  <a:lnTo>
                    <a:pt x="982" y="2203"/>
                  </a:lnTo>
                  <a:lnTo>
                    <a:pt x="982" y="2216"/>
                  </a:lnTo>
                  <a:lnTo>
                    <a:pt x="1004" y="2216"/>
                  </a:lnTo>
                  <a:lnTo>
                    <a:pt x="1059" y="2216"/>
                  </a:lnTo>
                  <a:lnTo>
                    <a:pt x="1138" y="2216"/>
                  </a:lnTo>
                  <a:lnTo>
                    <a:pt x="1228" y="2216"/>
                  </a:lnTo>
                  <a:lnTo>
                    <a:pt x="1318" y="2216"/>
                  </a:lnTo>
                  <a:lnTo>
                    <a:pt x="1397" y="2216"/>
                  </a:lnTo>
                  <a:lnTo>
                    <a:pt x="1452" y="2216"/>
                  </a:lnTo>
                  <a:lnTo>
                    <a:pt x="1474" y="2216"/>
                  </a:lnTo>
                  <a:lnTo>
                    <a:pt x="1474" y="2201"/>
                  </a:lnTo>
                  <a:lnTo>
                    <a:pt x="1474" y="2160"/>
                  </a:lnTo>
                  <a:lnTo>
                    <a:pt x="1474" y="2096"/>
                  </a:lnTo>
                  <a:lnTo>
                    <a:pt x="1474" y="2012"/>
                  </a:lnTo>
                  <a:lnTo>
                    <a:pt x="1474" y="1914"/>
                  </a:lnTo>
                  <a:lnTo>
                    <a:pt x="1474" y="1804"/>
                  </a:lnTo>
                  <a:lnTo>
                    <a:pt x="1474" y="1687"/>
                  </a:lnTo>
                  <a:lnTo>
                    <a:pt x="1474" y="1566"/>
                  </a:lnTo>
                  <a:lnTo>
                    <a:pt x="1474" y="1444"/>
                  </a:lnTo>
                  <a:lnTo>
                    <a:pt x="1474" y="1327"/>
                  </a:lnTo>
                  <a:lnTo>
                    <a:pt x="1474" y="1217"/>
                  </a:lnTo>
                  <a:lnTo>
                    <a:pt x="1474" y="1119"/>
                  </a:lnTo>
                  <a:lnTo>
                    <a:pt x="1474" y="1035"/>
                  </a:lnTo>
                  <a:lnTo>
                    <a:pt x="1474" y="972"/>
                  </a:lnTo>
                  <a:lnTo>
                    <a:pt x="1474" y="930"/>
                  </a:lnTo>
                  <a:lnTo>
                    <a:pt x="1474" y="916"/>
                  </a:lnTo>
                  <a:lnTo>
                    <a:pt x="1488" y="916"/>
                  </a:lnTo>
                  <a:lnTo>
                    <a:pt x="1526" y="916"/>
                  </a:lnTo>
                  <a:lnTo>
                    <a:pt x="1580" y="916"/>
                  </a:lnTo>
                  <a:lnTo>
                    <a:pt x="1642" y="916"/>
                  </a:lnTo>
                  <a:lnTo>
                    <a:pt x="1703" y="916"/>
                  </a:lnTo>
                  <a:lnTo>
                    <a:pt x="1757" y="916"/>
                  </a:lnTo>
                  <a:lnTo>
                    <a:pt x="1796" y="916"/>
                  </a:lnTo>
                  <a:lnTo>
                    <a:pt x="1810" y="916"/>
                  </a:lnTo>
                  <a:lnTo>
                    <a:pt x="1824" y="916"/>
                  </a:lnTo>
                  <a:lnTo>
                    <a:pt x="1837" y="917"/>
                  </a:lnTo>
                  <a:lnTo>
                    <a:pt x="1849" y="919"/>
                  </a:lnTo>
                  <a:lnTo>
                    <a:pt x="1860" y="921"/>
                  </a:lnTo>
                  <a:lnTo>
                    <a:pt x="1869" y="924"/>
                  </a:lnTo>
                  <a:lnTo>
                    <a:pt x="1880" y="928"/>
                  </a:lnTo>
                  <a:lnTo>
                    <a:pt x="1888" y="932"/>
                  </a:lnTo>
                  <a:lnTo>
                    <a:pt x="1896" y="936"/>
                  </a:lnTo>
                  <a:lnTo>
                    <a:pt x="1904" y="941"/>
                  </a:lnTo>
                  <a:lnTo>
                    <a:pt x="1910" y="947"/>
                  </a:lnTo>
                  <a:lnTo>
                    <a:pt x="1916" y="953"/>
                  </a:lnTo>
                  <a:lnTo>
                    <a:pt x="1922" y="958"/>
                  </a:lnTo>
                  <a:lnTo>
                    <a:pt x="1933" y="972"/>
                  </a:lnTo>
                  <a:lnTo>
                    <a:pt x="1941" y="986"/>
                  </a:lnTo>
                  <a:lnTo>
                    <a:pt x="1948" y="1001"/>
                  </a:lnTo>
                  <a:lnTo>
                    <a:pt x="1955" y="1016"/>
                  </a:lnTo>
                  <a:lnTo>
                    <a:pt x="1959" y="1032"/>
                  </a:lnTo>
                  <a:lnTo>
                    <a:pt x="1962" y="1046"/>
                  </a:lnTo>
                  <a:lnTo>
                    <a:pt x="1964" y="1062"/>
                  </a:lnTo>
                  <a:lnTo>
                    <a:pt x="1966" y="1075"/>
                  </a:lnTo>
                  <a:lnTo>
                    <a:pt x="1967" y="1088"/>
                  </a:lnTo>
                  <a:lnTo>
                    <a:pt x="1967" y="1098"/>
                  </a:lnTo>
                  <a:lnTo>
                    <a:pt x="1967" y="1099"/>
                  </a:lnTo>
                  <a:lnTo>
                    <a:pt x="1967" y="1114"/>
                  </a:lnTo>
                  <a:lnTo>
                    <a:pt x="1967" y="1150"/>
                  </a:lnTo>
                  <a:lnTo>
                    <a:pt x="1967" y="1206"/>
                  </a:lnTo>
                  <a:lnTo>
                    <a:pt x="1967" y="1278"/>
                  </a:lnTo>
                  <a:lnTo>
                    <a:pt x="1967" y="1363"/>
                  </a:lnTo>
                  <a:lnTo>
                    <a:pt x="1967" y="1458"/>
                  </a:lnTo>
                  <a:lnTo>
                    <a:pt x="1966" y="1558"/>
                  </a:lnTo>
                  <a:lnTo>
                    <a:pt x="1966" y="1662"/>
                  </a:lnTo>
                  <a:lnTo>
                    <a:pt x="1966" y="1766"/>
                  </a:lnTo>
                  <a:lnTo>
                    <a:pt x="1966" y="1866"/>
                  </a:lnTo>
                  <a:lnTo>
                    <a:pt x="1966" y="1960"/>
                  </a:lnTo>
                  <a:lnTo>
                    <a:pt x="1966" y="2044"/>
                  </a:lnTo>
                  <a:lnTo>
                    <a:pt x="1966" y="2114"/>
                  </a:lnTo>
                  <a:lnTo>
                    <a:pt x="1966" y="2169"/>
                  </a:lnTo>
                  <a:lnTo>
                    <a:pt x="1966" y="2204"/>
                  </a:lnTo>
                  <a:lnTo>
                    <a:pt x="1966" y="2217"/>
                  </a:lnTo>
                  <a:lnTo>
                    <a:pt x="1988" y="2217"/>
                  </a:lnTo>
                  <a:lnTo>
                    <a:pt x="2043" y="2217"/>
                  </a:lnTo>
                  <a:lnTo>
                    <a:pt x="2122" y="2217"/>
                  </a:lnTo>
                  <a:lnTo>
                    <a:pt x="2212" y="2217"/>
                  </a:lnTo>
                  <a:lnTo>
                    <a:pt x="2301" y="2217"/>
                  </a:lnTo>
                  <a:lnTo>
                    <a:pt x="2380" y="2217"/>
                  </a:lnTo>
                  <a:lnTo>
                    <a:pt x="2436" y="2217"/>
                  </a:lnTo>
                  <a:lnTo>
                    <a:pt x="2457" y="2217"/>
                  </a:lnTo>
                  <a:lnTo>
                    <a:pt x="2457" y="2203"/>
                  </a:lnTo>
                  <a:lnTo>
                    <a:pt x="2457" y="2167"/>
                  </a:lnTo>
                  <a:lnTo>
                    <a:pt x="2457" y="2109"/>
                  </a:lnTo>
                  <a:lnTo>
                    <a:pt x="2457" y="2034"/>
                  </a:lnTo>
                  <a:lnTo>
                    <a:pt x="2457" y="1946"/>
                  </a:lnTo>
                  <a:lnTo>
                    <a:pt x="2457" y="1848"/>
                  </a:lnTo>
                  <a:lnTo>
                    <a:pt x="2457" y="1742"/>
                  </a:lnTo>
                  <a:lnTo>
                    <a:pt x="2457" y="1633"/>
                  </a:lnTo>
                  <a:lnTo>
                    <a:pt x="2457" y="1524"/>
                  </a:lnTo>
                  <a:lnTo>
                    <a:pt x="2457" y="1418"/>
                  </a:lnTo>
                  <a:lnTo>
                    <a:pt x="2457" y="1320"/>
                  </a:lnTo>
                  <a:lnTo>
                    <a:pt x="2457" y="1232"/>
                  </a:lnTo>
                  <a:lnTo>
                    <a:pt x="2457" y="1157"/>
                  </a:lnTo>
                  <a:lnTo>
                    <a:pt x="2457" y="1100"/>
                  </a:lnTo>
                  <a:lnTo>
                    <a:pt x="2457" y="1063"/>
                  </a:lnTo>
                  <a:lnTo>
                    <a:pt x="2457" y="1049"/>
                  </a:lnTo>
                  <a:lnTo>
                    <a:pt x="2456" y="1014"/>
                  </a:lnTo>
                  <a:lnTo>
                    <a:pt x="2454" y="981"/>
                  </a:lnTo>
                  <a:lnTo>
                    <a:pt x="2450" y="949"/>
                  </a:lnTo>
                  <a:lnTo>
                    <a:pt x="2443" y="919"/>
                  </a:lnTo>
                  <a:lnTo>
                    <a:pt x="2437" y="891"/>
                  </a:lnTo>
                  <a:lnTo>
                    <a:pt x="2429" y="865"/>
                  </a:lnTo>
                  <a:lnTo>
                    <a:pt x="2420" y="840"/>
                  </a:lnTo>
                  <a:lnTo>
                    <a:pt x="2408" y="816"/>
                  </a:lnTo>
                  <a:lnTo>
                    <a:pt x="2397" y="795"/>
                  </a:lnTo>
                  <a:lnTo>
                    <a:pt x="2384" y="775"/>
                  </a:lnTo>
                  <a:lnTo>
                    <a:pt x="2371" y="756"/>
                  </a:lnTo>
                  <a:lnTo>
                    <a:pt x="2356" y="739"/>
                  </a:lnTo>
                  <a:lnTo>
                    <a:pt x="2341" y="724"/>
                  </a:lnTo>
                  <a:lnTo>
                    <a:pt x="2325" y="709"/>
                  </a:lnTo>
                  <a:lnTo>
                    <a:pt x="2310" y="696"/>
                  </a:lnTo>
                  <a:lnTo>
                    <a:pt x="2293" y="684"/>
                  </a:lnTo>
                  <a:close/>
                  <a:moveTo>
                    <a:pt x="7884" y="618"/>
                  </a:moveTo>
                  <a:lnTo>
                    <a:pt x="7882" y="618"/>
                  </a:lnTo>
                  <a:lnTo>
                    <a:pt x="7879" y="618"/>
                  </a:lnTo>
                  <a:lnTo>
                    <a:pt x="7832" y="619"/>
                  </a:lnTo>
                  <a:lnTo>
                    <a:pt x="7787" y="620"/>
                  </a:lnTo>
                  <a:lnTo>
                    <a:pt x="7743" y="623"/>
                  </a:lnTo>
                  <a:lnTo>
                    <a:pt x="7703" y="626"/>
                  </a:lnTo>
                  <a:lnTo>
                    <a:pt x="7664" y="631"/>
                  </a:lnTo>
                  <a:lnTo>
                    <a:pt x="7626" y="637"/>
                  </a:lnTo>
                  <a:lnTo>
                    <a:pt x="7590" y="644"/>
                  </a:lnTo>
                  <a:lnTo>
                    <a:pt x="7557" y="651"/>
                  </a:lnTo>
                  <a:lnTo>
                    <a:pt x="7524" y="660"/>
                  </a:lnTo>
                  <a:lnTo>
                    <a:pt x="7493" y="670"/>
                  </a:lnTo>
                  <a:lnTo>
                    <a:pt x="7465" y="681"/>
                  </a:lnTo>
                  <a:lnTo>
                    <a:pt x="7437" y="693"/>
                  </a:lnTo>
                  <a:lnTo>
                    <a:pt x="7411" y="705"/>
                  </a:lnTo>
                  <a:lnTo>
                    <a:pt x="7387" y="720"/>
                  </a:lnTo>
                  <a:lnTo>
                    <a:pt x="7365" y="734"/>
                  </a:lnTo>
                  <a:lnTo>
                    <a:pt x="7343" y="751"/>
                  </a:lnTo>
                  <a:lnTo>
                    <a:pt x="7323" y="767"/>
                  </a:lnTo>
                  <a:lnTo>
                    <a:pt x="7303" y="785"/>
                  </a:lnTo>
                  <a:lnTo>
                    <a:pt x="7286" y="804"/>
                  </a:lnTo>
                  <a:lnTo>
                    <a:pt x="7269" y="824"/>
                  </a:lnTo>
                  <a:lnTo>
                    <a:pt x="7254" y="845"/>
                  </a:lnTo>
                  <a:lnTo>
                    <a:pt x="7239" y="867"/>
                  </a:lnTo>
                  <a:lnTo>
                    <a:pt x="7226" y="890"/>
                  </a:lnTo>
                  <a:lnTo>
                    <a:pt x="7213" y="913"/>
                  </a:lnTo>
                  <a:lnTo>
                    <a:pt x="7201" y="938"/>
                  </a:lnTo>
                  <a:lnTo>
                    <a:pt x="7190" y="964"/>
                  </a:lnTo>
                  <a:lnTo>
                    <a:pt x="7180" y="991"/>
                  </a:lnTo>
                  <a:lnTo>
                    <a:pt x="7171" y="1019"/>
                  </a:lnTo>
                  <a:lnTo>
                    <a:pt x="7162" y="1048"/>
                  </a:lnTo>
                  <a:lnTo>
                    <a:pt x="7154" y="1078"/>
                  </a:lnTo>
                  <a:lnTo>
                    <a:pt x="7147" y="1109"/>
                  </a:lnTo>
                  <a:lnTo>
                    <a:pt x="7139" y="1142"/>
                  </a:lnTo>
                  <a:lnTo>
                    <a:pt x="7136" y="1153"/>
                  </a:lnTo>
                  <a:lnTo>
                    <a:pt x="7129" y="1187"/>
                  </a:lnTo>
                  <a:lnTo>
                    <a:pt x="7118" y="1240"/>
                  </a:lnTo>
                  <a:lnTo>
                    <a:pt x="7103" y="1308"/>
                  </a:lnTo>
                  <a:lnTo>
                    <a:pt x="7085" y="1390"/>
                  </a:lnTo>
                  <a:lnTo>
                    <a:pt x="7066" y="1481"/>
                  </a:lnTo>
                  <a:lnTo>
                    <a:pt x="7045" y="1577"/>
                  </a:lnTo>
                  <a:lnTo>
                    <a:pt x="7023" y="1678"/>
                  </a:lnTo>
                  <a:lnTo>
                    <a:pt x="7001" y="1777"/>
                  </a:lnTo>
                  <a:lnTo>
                    <a:pt x="6981" y="1875"/>
                  </a:lnTo>
                  <a:lnTo>
                    <a:pt x="6961" y="1965"/>
                  </a:lnTo>
                  <a:lnTo>
                    <a:pt x="6943" y="2046"/>
                  </a:lnTo>
                  <a:lnTo>
                    <a:pt x="6929" y="2114"/>
                  </a:lnTo>
                  <a:lnTo>
                    <a:pt x="6917" y="2167"/>
                  </a:lnTo>
                  <a:lnTo>
                    <a:pt x="6910" y="2201"/>
                  </a:lnTo>
                  <a:lnTo>
                    <a:pt x="6907" y="2214"/>
                  </a:lnTo>
                  <a:lnTo>
                    <a:pt x="6930" y="2214"/>
                  </a:lnTo>
                  <a:lnTo>
                    <a:pt x="6991" y="2214"/>
                  </a:lnTo>
                  <a:lnTo>
                    <a:pt x="7076" y="2214"/>
                  </a:lnTo>
                  <a:lnTo>
                    <a:pt x="7174" y="2214"/>
                  </a:lnTo>
                  <a:lnTo>
                    <a:pt x="7272" y="2214"/>
                  </a:lnTo>
                  <a:lnTo>
                    <a:pt x="7357" y="2214"/>
                  </a:lnTo>
                  <a:lnTo>
                    <a:pt x="7418" y="2214"/>
                  </a:lnTo>
                  <a:lnTo>
                    <a:pt x="7440" y="2214"/>
                  </a:lnTo>
                  <a:lnTo>
                    <a:pt x="7442" y="2202"/>
                  </a:lnTo>
                  <a:lnTo>
                    <a:pt x="7450" y="2170"/>
                  </a:lnTo>
                  <a:lnTo>
                    <a:pt x="7460" y="2121"/>
                  </a:lnTo>
                  <a:lnTo>
                    <a:pt x="7475" y="2057"/>
                  </a:lnTo>
                  <a:lnTo>
                    <a:pt x="7491" y="1980"/>
                  </a:lnTo>
                  <a:lnTo>
                    <a:pt x="7509" y="1895"/>
                  </a:lnTo>
                  <a:lnTo>
                    <a:pt x="7529" y="1805"/>
                  </a:lnTo>
                  <a:lnTo>
                    <a:pt x="7549" y="1712"/>
                  </a:lnTo>
                  <a:lnTo>
                    <a:pt x="7569" y="1617"/>
                  </a:lnTo>
                  <a:lnTo>
                    <a:pt x="7589" y="1527"/>
                  </a:lnTo>
                  <a:lnTo>
                    <a:pt x="7608" y="1442"/>
                  </a:lnTo>
                  <a:lnTo>
                    <a:pt x="7624" y="1367"/>
                  </a:lnTo>
                  <a:lnTo>
                    <a:pt x="7638" y="1302"/>
                  </a:lnTo>
                  <a:lnTo>
                    <a:pt x="7648" y="1252"/>
                  </a:lnTo>
                  <a:lnTo>
                    <a:pt x="7655" y="1220"/>
                  </a:lnTo>
                  <a:lnTo>
                    <a:pt x="7657" y="1209"/>
                  </a:lnTo>
                  <a:lnTo>
                    <a:pt x="7671" y="1152"/>
                  </a:lnTo>
                  <a:lnTo>
                    <a:pt x="7683" y="1104"/>
                  </a:lnTo>
                  <a:lnTo>
                    <a:pt x="7696" y="1064"/>
                  </a:lnTo>
                  <a:lnTo>
                    <a:pt x="7707" y="1033"/>
                  </a:lnTo>
                  <a:lnTo>
                    <a:pt x="7716" y="1008"/>
                  </a:lnTo>
                  <a:lnTo>
                    <a:pt x="7726" y="990"/>
                  </a:lnTo>
                  <a:lnTo>
                    <a:pt x="7733" y="978"/>
                  </a:lnTo>
                  <a:lnTo>
                    <a:pt x="7739" y="970"/>
                  </a:lnTo>
                  <a:lnTo>
                    <a:pt x="7746" y="963"/>
                  </a:lnTo>
                  <a:lnTo>
                    <a:pt x="7753" y="957"/>
                  </a:lnTo>
                  <a:lnTo>
                    <a:pt x="7760" y="951"/>
                  </a:lnTo>
                  <a:lnTo>
                    <a:pt x="7767" y="946"/>
                  </a:lnTo>
                  <a:lnTo>
                    <a:pt x="7777" y="940"/>
                  </a:lnTo>
                  <a:lnTo>
                    <a:pt x="7786" y="936"/>
                  </a:lnTo>
                  <a:lnTo>
                    <a:pt x="7795" y="931"/>
                  </a:lnTo>
                  <a:lnTo>
                    <a:pt x="7807" y="928"/>
                  </a:lnTo>
                  <a:lnTo>
                    <a:pt x="7819" y="924"/>
                  </a:lnTo>
                  <a:lnTo>
                    <a:pt x="7833" y="921"/>
                  </a:lnTo>
                  <a:lnTo>
                    <a:pt x="7847" y="919"/>
                  </a:lnTo>
                  <a:lnTo>
                    <a:pt x="7863" y="917"/>
                  </a:lnTo>
                  <a:lnTo>
                    <a:pt x="7879" y="914"/>
                  </a:lnTo>
                  <a:lnTo>
                    <a:pt x="7897" y="913"/>
                  </a:lnTo>
                  <a:lnTo>
                    <a:pt x="7917" y="912"/>
                  </a:lnTo>
                  <a:lnTo>
                    <a:pt x="7939" y="912"/>
                  </a:lnTo>
                  <a:lnTo>
                    <a:pt x="7947" y="912"/>
                  </a:lnTo>
                  <a:lnTo>
                    <a:pt x="7969" y="912"/>
                  </a:lnTo>
                  <a:lnTo>
                    <a:pt x="8001" y="912"/>
                  </a:lnTo>
                  <a:lnTo>
                    <a:pt x="8037" y="912"/>
                  </a:lnTo>
                  <a:lnTo>
                    <a:pt x="8075" y="912"/>
                  </a:lnTo>
                  <a:lnTo>
                    <a:pt x="8106" y="912"/>
                  </a:lnTo>
                  <a:lnTo>
                    <a:pt x="8129" y="912"/>
                  </a:lnTo>
                  <a:lnTo>
                    <a:pt x="8137" y="912"/>
                  </a:lnTo>
                  <a:lnTo>
                    <a:pt x="8144" y="900"/>
                  </a:lnTo>
                  <a:lnTo>
                    <a:pt x="8162" y="867"/>
                  </a:lnTo>
                  <a:lnTo>
                    <a:pt x="8187" y="819"/>
                  </a:lnTo>
                  <a:lnTo>
                    <a:pt x="8215" y="765"/>
                  </a:lnTo>
                  <a:lnTo>
                    <a:pt x="8244" y="711"/>
                  </a:lnTo>
                  <a:lnTo>
                    <a:pt x="8269" y="665"/>
                  </a:lnTo>
                  <a:lnTo>
                    <a:pt x="8286" y="631"/>
                  </a:lnTo>
                  <a:lnTo>
                    <a:pt x="8293" y="618"/>
                  </a:lnTo>
                  <a:lnTo>
                    <a:pt x="8275" y="618"/>
                  </a:lnTo>
                  <a:lnTo>
                    <a:pt x="8229" y="618"/>
                  </a:lnTo>
                  <a:lnTo>
                    <a:pt x="8163" y="618"/>
                  </a:lnTo>
                  <a:lnTo>
                    <a:pt x="8088" y="618"/>
                  </a:lnTo>
                  <a:lnTo>
                    <a:pt x="8013" y="618"/>
                  </a:lnTo>
                  <a:lnTo>
                    <a:pt x="7948" y="618"/>
                  </a:lnTo>
                  <a:lnTo>
                    <a:pt x="7901" y="618"/>
                  </a:lnTo>
                  <a:lnTo>
                    <a:pt x="7884" y="61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defTabSz="411480"/>
              <a:endParaRPr lang="zh-CN" altLang="en-US" sz="1145">
                <a:solidFill>
                  <a:srgbClr val="000000"/>
                </a:solidFill>
              </a:endParaRPr>
            </a:p>
          </p:txBody>
        </p:sp>
      </p:grpSp>
    </p:spTree>
    <p:extLst>
      <p:ext uri="{BB962C8B-B14F-4D97-AF65-F5344CB8AC3E}">
        <p14:creationId xmlns:p14="http://schemas.microsoft.com/office/powerpoint/2010/main" val="3813652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17456943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p:spPr>
        <p:txBody>
          <a:bodyPr anchor="b"/>
          <a:lstStyle>
            <a:lvl1pPr>
              <a:defRPr sz="54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1" y="4589467"/>
            <a:ext cx="10515600" cy="1500187"/>
          </a:xfrm>
        </p:spPr>
        <p:txBody>
          <a:bodyPr/>
          <a:lstStyle>
            <a:lvl1pPr marL="0" indent="0">
              <a:buNone/>
              <a:defRPr sz="2160">
                <a:solidFill>
                  <a:schemeClr val="tx1"/>
                </a:solidFill>
              </a:defRPr>
            </a:lvl1pPr>
            <a:lvl2pPr marL="411480" indent="0">
              <a:buNone/>
              <a:defRPr sz="180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1917933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30370452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8"/>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9" y="1681163"/>
            <a:ext cx="5157787" cy="82391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编辑母版文本样式</a:t>
            </a:r>
          </a:p>
        </p:txBody>
      </p:sp>
      <p:sp>
        <p:nvSpPr>
          <p:cNvPr id="4" name="Content Placeholder 3"/>
          <p:cNvSpPr>
            <a:spLocks noGrp="1"/>
          </p:cNvSpPr>
          <p:nvPr>
            <p:ph sz="half" idx="2" hasCustomPrompt="1"/>
          </p:nvPr>
        </p:nvSpPr>
        <p:spPr>
          <a:xfrm>
            <a:off x="839789" y="2505077"/>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3" y="1681163"/>
            <a:ext cx="5183188" cy="82391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编辑母版文本样式</a:t>
            </a:r>
          </a:p>
        </p:txBody>
      </p:sp>
      <p:sp>
        <p:nvSpPr>
          <p:cNvPr id="6" name="Content Placeholder 5"/>
          <p:cNvSpPr>
            <a:spLocks noGrp="1"/>
          </p:cNvSpPr>
          <p:nvPr>
            <p:ph sz="quarter" idx="4" hasCustomPrompt="1"/>
          </p:nvPr>
        </p:nvSpPr>
        <p:spPr>
          <a:xfrm>
            <a:off x="6172203" y="2505077"/>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28367912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39092746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583603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88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8"/>
            <a:ext cx="6172200" cy="487362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1"/>
            <a:ext cx="3932237" cy="3811588"/>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212452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88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8"/>
            <a:ext cx="6172200" cy="4873625"/>
          </a:xfrm>
        </p:spPr>
        <p:txBody>
          <a:bodyPr anchor="t"/>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zh-CN" altLang="en-US"/>
              <a:t>单击图标添加图片</a:t>
            </a:r>
            <a:endParaRPr lang="en-US"/>
          </a:p>
        </p:txBody>
      </p:sp>
      <p:sp>
        <p:nvSpPr>
          <p:cNvPr id="4" name="Text Placeholder 3"/>
          <p:cNvSpPr>
            <a:spLocks noGrp="1"/>
          </p:cNvSpPr>
          <p:nvPr>
            <p:ph type="body" sz="half" idx="2" hasCustomPrompt="1"/>
          </p:nvPr>
        </p:nvSpPr>
        <p:spPr>
          <a:xfrm>
            <a:off x="839788" y="2057401"/>
            <a:ext cx="3932237" cy="3811588"/>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13380402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20517994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6"/>
            <a:ext cx="2628900" cy="581183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3" y="365126"/>
            <a:ext cx="7734300" cy="5811837"/>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20036674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p:spTree>
      <p:nvGrpSpPr>
        <p:cNvPr id="1" name=""/>
        <p:cNvGrpSpPr/>
        <p:nvPr/>
      </p:nvGrpSpPr>
      <p:grpSpPr>
        <a:xfrm>
          <a:off x="0" y="0"/>
          <a:ext cx="0" cy="0"/>
          <a:chOff x="0" y="0"/>
          <a:chExt cx="0" cy="0"/>
        </a:xfrm>
      </p:grpSpPr>
      <p:sp>
        <p:nvSpPr>
          <p:cNvPr id="2" name="Header 1"/>
          <p:cNvSpPr>
            <a:spLocks noGrp="1"/>
          </p:cNvSpPr>
          <p:nvPr>
            <p:ph type="title" hasCustomPrompt="1"/>
          </p:nvPr>
        </p:nvSpPr>
        <p:spPr>
          <a:xfrm>
            <a:off x="503556" y="570316"/>
            <a:ext cx="9063989" cy="2281257"/>
          </a:xfrm>
        </p:spPr>
        <p:txBody>
          <a:bodyPr/>
          <a:lstStyle/>
          <a:p>
            <a:r>
              <a:rPr lang="en-US" noProof="0"/>
              <a:t>Title</a:t>
            </a:r>
          </a:p>
        </p:txBody>
      </p:sp>
      <p:sp>
        <p:nvSpPr>
          <p:cNvPr id="3" name="Text 2"/>
          <p:cNvSpPr>
            <a:spLocks noGrp="1"/>
          </p:cNvSpPr>
          <p:nvPr>
            <p:ph type="body" idx="1" hasCustomPrompt="1"/>
          </p:nvPr>
        </p:nvSpPr>
        <p:spPr>
          <a:xfrm>
            <a:off x="503556" y="3279309"/>
            <a:ext cx="9063989" cy="9410192"/>
          </a:xfrm>
        </p:spPr>
        <p:txBody>
          <a:bodyPr/>
          <a:lstStyle/>
          <a:p>
            <a:pPr lvl="0"/>
            <a:r>
              <a:rPr lang="en-US" noProof="0"/>
              <a:t>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Holder 4"/>
          <p:cNvSpPr>
            <a:spLocks noGrp="1" noChangeArrowheads="1"/>
          </p:cNvSpPr>
          <p:nvPr>
            <p:ph type="ftr" sz="quarter" idx="10"/>
            <p:custDataLst>
              <p:tags r:id="rId1"/>
            </p:custDataLst>
          </p:nvPr>
        </p:nvSpPr>
        <p:spPr/>
        <p:txBody>
          <a:bodyPr/>
          <a:lstStyle>
            <a:lvl1pPr>
              <a:defRPr/>
            </a:lvl1pPr>
          </a:lstStyle>
          <a:p>
            <a:endParaRPr lang="zh-CN" altLang="zh-CN"/>
          </a:p>
        </p:txBody>
      </p:sp>
      <p:sp>
        <p:nvSpPr>
          <p:cNvPr id="5" name="Holder 5"/>
          <p:cNvSpPr>
            <a:spLocks noGrp="1" noChangeArrowheads="1"/>
          </p:cNvSpPr>
          <p:nvPr>
            <p:ph type="dt" sz="half" idx="11"/>
            <p:custDataLst>
              <p:tags r:id="rId2"/>
            </p:custDataLst>
          </p:nvPr>
        </p:nvSpPr>
        <p:spPr/>
        <p:txBody>
          <a:bodyPr/>
          <a:lstStyle>
            <a:lvl1pPr>
              <a:defRPr/>
            </a:lvl1pPr>
          </a:lstStyle>
          <a:p>
            <a:fld id="{35EF6414-B997-47F0-A97A-BE1B368164AA}" type="datetime1">
              <a:rPr lang="en-US" altLang="zh-CN"/>
              <a:t>11/1/2024</a:t>
            </a:fld>
            <a:endParaRPr lang="en-US" altLang="zh-CN"/>
          </a:p>
        </p:txBody>
      </p:sp>
      <p:sp>
        <p:nvSpPr>
          <p:cNvPr id="6" name="Holder 6"/>
          <p:cNvSpPr>
            <a:spLocks noGrp="1"/>
          </p:cNvSpPr>
          <p:nvPr>
            <p:ph type="sldNum" sz="quarter" idx="12"/>
            <p:custDataLst>
              <p:tags r:id="rId3"/>
            </p:custDataLst>
          </p:nvPr>
        </p:nvSpPr>
        <p:spPr/>
        <p:txBody>
          <a:bodyPr/>
          <a:lstStyle>
            <a:lvl1pPr>
              <a:defRPr/>
            </a:lvl1pPr>
          </a:lstStyle>
          <a:p>
            <a:fld id="{E94A81CE-5D92-4DEE-8ED1-E433003EFCC2}" type="slidenum">
              <a:rPr lang="ru-RU" altLang="zh-CN"/>
              <a:t>‹#›</a:t>
            </a:fld>
            <a:endParaRPr lang="ru-RU" altLang="zh-CN"/>
          </a:p>
        </p:txBody>
      </p:sp>
    </p:spTree>
    <p:extLst>
      <p:ext uri="{BB962C8B-B14F-4D97-AF65-F5344CB8AC3E}">
        <p14:creationId xmlns:p14="http://schemas.microsoft.com/office/powerpoint/2010/main" val="229109000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431372" y="272057"/>
            <a:ext cx="10972800" cy="535531"/>
          </a:xfrm>
          <a:prstGeom prst="rect">
            <a:avLst/>
          </a:prstGeom>
        </p:spPr>
        <p:txBody>
          <a:bodyPr/>
          <a:lstStyle>
            <a:lvl1pPr>
              <a:defRPr>
                <a:solidFill>
                  <a:srgbClr val="C00000"/>
                </a:solidFill>
              </a:defRPr>
            </a:lvl1pPr>
          </a:lstStyle>
          <a:p>
            <a:r>
              <a:rPr lang="zh-CN" altLang="en-US"/>
              <a:t>单击此处编辑母版标题样式</a:t>
            </a:r>
          </a:p>
        </p:txBody>
      </p:sp>
    </p:spTree>
    <p:extLst>
      <p:ext uri="{BB962C8B-B14F-4D97-AF65-F5344CB8AC3E}">
        <p14:creationId xmlns:p14="http://schemas.microsoft.com/office/powerpoint/2010/main" val="27401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3986230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7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293615238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notesSlide" Target="../notesSlides/notesSlide3.xml"/><Relationship Id="rId7"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jp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26.jpeg"/><Relationship Id="rId5" Type="http://schemas.openxmlformats.org/officeDocument/2006/relationships/image" Target="../media/image25.jp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jpe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hemeOverride" Target="../theme/themeOverride1.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36.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07DCFFF8-8824-A14B-8D4D-BB31ED9A272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6293" r="6293"/>
          <a:stretch/>
        </p:blipFill>
        <p:spPr>
          <a:xfrm>
            <a:off x="0" y="-86837"/>
            <a:ext cx="12192000" cy="6953226"/>
          </a:xfrm>
          <a:prstGeom prst="rect">
            <a:avLst/>
          </a:prstGeom>
        </p:spPr>
      </p:pic>
      <p:sp>
        <p:nvSpPr>
          <p:cNvPr id="3" name="矩形 2">
            <a:extLst>
              <a:ext uri="{FF2B5EF4-FFF2-40B4-BE49-F238E27FC236}">
                <a16:creationId xmlns:a16="http://schemas.microsoft.com/office/drawing/2014/main" id="{EA344B25-997F-BB49-B147-95F6C08DCCDA}"/>
              </a:ext>
            </a:extLst>
          </p:cNvPr>
          <p:cNvSpPr/>
          <p:nvPr/>
        </p:nvSpPr>
        <p:spPr>
          <a:xfrm>
            <a:off x="319538" y="2452543"/>
            <a:ext cx="11759170" cy="707886"/>
          </a:xfrm>
          <a:prstGeom prst="rect">
            <a:avLst/>
          </a:prstGeom>
        </p:spPr>
        <p:txBody>
          <a:bodyPr wrap="square">
            <a:spAutoFit/>
          </a:bodyPr>
          <a:lstStyle/>
          <a:p>
            <a:pPr algn="ctr"/>
            <a:r>
              <a:rPr lang="en-US" altLang="zh-CN" sz="4000" b="1" spc="300" dirty="0" smtClean="0">
                <a:solidFill>
                  <a:schemeClr val="bg1"/>
                </a:solidFill>
                <a:cs typeface="+mn-ea"/>
                <a:sym typeface="+mn-lt"/>
              </a:rPr>
              <a:t>U1/R1 Troubleshooting and image setting</a:t>
            </a:r>
            <a:endParaRPr lang="zh-CN" altLang="en-US" sz="4000" b="1" spc="300" dirty="0">
              <a:solidFill>
                <a:schemeClr val="bg1"/>
              </a:solidFill>
              <a:cs typeface="+mn-ea"/>
              <a:sym typeface="+mn-lt"/>
            </a:endParaRPr>
          </a:p>
        </p:txBody>
      </p:sp>
      <p:sp>
        <p:nvSpPr>
          <p:cNvPr id="4" name="矩形 3">
            <a:extLst>
              <a:ext uri="{FF2B5EF4-FFF2-40B4-BE49-F238E27FC236}">
                <a16:creationId xmlns:a16="http://schemas.microsoft.com/office/drawing/2014/main" id="{CADC6739-A6FB-8C4D-B4C8-470DE765E256}"/>
              </a:ext>
            </a:extLst>
          </p:cNvPr>
          <p:cNvSpPr/>
          <p:nvPr/>
        </p:nvSpPr>
        <p:spPr>
          <a:xfrm>
            <a:off x="6713311" y="5331135"/>
            <a:ext cx="5396393" cy="1200329"/>
          </a:xfrm>
          <a:prstGeom prst="rect">
            <a:avLst/>
          </a:prstGeom>
        </p:spPr>
        <p:txBody>
          <a:bodyPr wrap="square">
            <a:spAutoFit/>
          </a:bodyPr>
          <a:lstStyle/>
          <a:p>
            <a:pPr>
              <a:lnSpc>
                <a:spcPct val="150000"/>
              </a:lnSpc>
            </a:pPr>
            <a:r>
              <a:rPr lang="en-US" altLang="zh-CN" sz="2400" dirty="0">
                <a:solidFill>
                  <a:schemeClr val="bg1"/>
                </a:solidFill>
                <a:cs typeface="+mn-ea"/>
                <a:sym typeface="+mn-lt"/>
              </a:rPr>
              <a:t>Minimally Invasive Surgery Customer Service Department——Daniel</a:t>
            </a:r>
          </a:p>
        </p:txBody>
      </p:sp>
    </p:spTree>
    <p:extLst>
      <p:ext uri="{BB962C8B-B14F-4D97-AF65-F5344CB8AC3E}">
        <p14:creationId xmlns:p14="http://schemas.microsoft.com/office/powerpoint/2010/main" val="20118076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CAN function</a:t>
            </a:r>
            <a:endParaRPr lang="en-US" altLang="zh-CN" sz="2800" b="1" dirty="0">
              <a:solidFill>
                <a:srgbClr val="C00000"/>
              </a:solidFill>
              <a:latin typeface="+mn-lt"/>
              <a:ea typeface="+mn-ea"/>
              <a:cs typeface="+mn-ea"/>
              <a:sym typeface="+mn-lt"/>
            </a:endParaRPr>
          </a:p>
        </p:txBody>
      </p:sp>
      <p:pic>
        <p:nvPicPr>
          <p:cNvPr id="3" name="图片 2"/>
          <p:cNvPicPr>
            <a:picLocks noChangeAspect="1"/>
          </p:cNvPicPr>
          <p:nvPr/>
        </p:nvPicPr>
        <p:blipFill>
          <a:blip r:embed="rId3"/>
          <a:stretch>
            <a:fillRect/>
          </a:stretch>
        </p:blipFill>
        <p:spPr>
          <a:xfrm>
            <a:off x="952163" y="969643"/>
            <a:ext cx="5029786" cy="2123885"/>
          </a:xfrm>
          <a:prstGeom prst="rect">
            <a:avLst/>
          </a:prstGeom>
        </p:spPr>
      </p:pic>
      <p:pic>
        <p:nvPicPr>
          <p:cNvPr id="2" name="图片 1"/>
          <p:cNvPicPr>
            <a:picLocks noChangeAspect="1"/>
          </p:cNvPicPr>
          <p:nvPr/>
        </p:nvPicPr>
        <p:blipFill>
          <a:blip r:embed="rId4"/>
          <a:stretch>
            <a:fillRect/>
          </a:stretch>
        </p:blipFill>
        <p:spPr>
          <a:xfrm>
            <a:off x="1022094" y="3196956"/>
            <a:ext cx="4959855" cy="2059679"/>
          </a:xfrm>
          <a:prstGeom prst="rect">
            <a:avLst/>
          </a:prstGeom>
        </p:spPr>
      </p:pic>
      <p:sp>
        <p:nvSpPr>
          <p:cNvPr id="5" name="文本框 4"/>
          <p:cNvSpPr txBox="1"/>
          <p:nvPr/>
        </p:nvSpPr>
        <p:spPr>
          <a:xfrm>
            <a:off x="506437" y="969643"/>
            <a:ext cx="759655" cy="369332"/>
          </a:xfrm>
          <a:prstGeom prst="rect">
            <a:avLst/>
          </a:prstGeom>
          <a:noFill/>
        </p:spPr>
        <p:txBody>
          <a:bodyPr wrap="square" rtlCol="0">
            <a:spAutoFit/>
          </a:bodyPr>
          <a:lstStyle/>
          <a:p>
            <a:r>
              <a:rPr lang="en-US" altLang="zh-CN" b="1" dirty="0" smtClean="0"/>
              <a:t>R1</a:t>
            </a:r>
          </a:p>
        </p:txBody>
      </p:sp>
      <p:sp>
        <p:nvSpPr>
          <p:cNvPr id="6" name="文本框 5"/>
          <p:cNvSpPr txBox="1"/>
          <p:nvPr/>
        </p:nvSpPr>
        <p:spPr>
          <a:xfrm>
            <a:off x="506437" y="3119543"/>
            <a:ext cx="1167618" cy="369332"/>
          </a:xfrm>
          <a:prstGeom prst="rect">
            <a:avLst/>
          </a:prstGeom>
          <a:noFill/>
        </p:spPr>
        <p:txBody>
          <a:bodyPr wrap="square" rtlCol="0">
            <a:spAutoFit/>
          </a:bodyPr>
          <a:lstStyle/>
          <a:p>
            <a:r>
              <a:rPr lang="en-US" altLang="zh-CN" b="1" dirty="0" smtClean="0"/>
              <a:t>HB300R</a:t>
            </a:r>
          </a:p>
        </p:txBody>
      </p:sp>
      <p:cxnSp>
        <p:nvCxnSpPr>
          <p:cNvPr id="13" name="直接连接符 12"/>
          <p:cNvCxnSpPr/>
          <p:nvPr/>
        </p:nvCxnSpPr>
        <p:spPr>
          <a:xfrm>
            <a:off x="3992962" y="1835163"/>
            <a:ext cx="0" cy="2286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2504050" y="1835163"/>
            <a:ext cx="15120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3657601" y="4121163"/>
            <a:ext cx="3600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2242665" y="1658120"/>
            <a:ext cx="393896" cy="37346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3388906" y="3934430"/>
            <a:ext cx="393896" cy="37346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6825" y="969643"/>
            <a:ext cx="5106411" cy="2151810"/>
          </a:xfrm>
          <a:prstGeom prst="rect">
            <a:avLst/>
          </a:prstGeom>
        </p:spPr>
      </p:pic>
      <p:pic>
        <p:nvPicPr>
          <p:cNvPr id="27" name="图片 26"/>
          <p:cNvPicPr>
            <a:picLocks noChangeAspect="1"/>
          </p:cNvPicPr>
          <p:nvPr/>
        </p:nvPicPr>
        <p:blipFill>
          <a:blip r:embed="rId6"/>
          <a:stretch>
            <a:fillRect/>
          </a:stretch>
        </p:blipFill>
        <p:spPr>
          <a:xfrm>
            <a:off x="6666825" y="3197324"/>
            <a:ext cx="5106411" cy="2221141"/>
          </a:xfrm>
          <a:prstGeom prst="rect">
            <a:avLst/>
          </a:prstGeom>
        </p:spPr>
      </p:pic>
      <p:sp>
        <p:nvSpPr>
          <p:cNvPr id="28" name="文本框 27"/>
          <p:cNvSpPr txBox="1"/>
          <p:nvPr/>
        </p:nvSpPr>
        <p:spPr>
          <a:xfrm>
            <a:off x="6311870" y="969643"/>
            <a:ext cx="759655" cy="369332"/>
          </a:xfrm>
          <a:prstGeom prst="rect">
            <a:avLst/>
          </a:prstGeom>
          <a:noFill/>
        </p:spPr>
        <p:txBody>
          <a:bodyPr wrap="square" rtlCol="0">
            <a:spAutoFit/>
          </a:bodyPr>
          <a:lstStyle/>
          <a:p>
            <a:r>
              <a:rPr lang="en-US" altLang="zh-CN" b="1" dirty="0" smtClean="0"/>
              <a:t>U1</a:t>
            </a:r>
          </a:p>
        </p:txBody>
      </p:sp>
      <p:sp>
        <p:nvSpPr>
          <p:cNvPr id="29" name="文本框 28"/>
          <p:cNvSpPr txBox="1"/>
          <p:nvPr/>
        </p:nvSpPr>
        <p:spPr>
          <a:xfrm>
            <a:off x="6311870" y="3119543"/>
            <a:ext cx="1167618" cy="369332"/>
          </a:xfrm>
          <a:prstGeom prst="rect">
            <a:avLst/>
          </a:prstGeom>
          <a:noFill/>
        </p:spPr>
        <p:txBody>
          <a:bodyPr wrap="square" rtlCol="0">
            <a:spAutoFit/>
          </a:bodyPr>
          <a:lstStyle/>
          <a:p>
            <a:r>
              <a:rPr lang="en-US" altLang="zh-CN" b="1" dirty="0" smtClean="0"/>
              <a:t>HB300L</a:t>
            </a:r>
          </a:p>
        </p:txBody>
      </p:sp>
      <p:cxnSp>
        <p:nvCxnSpPr>
          <p:cNvPr id="30" name="直接连接符 29"/>
          <p:cNvCxnSpPr/>
          <p:nvPr/>
        </p:nvCxnSpPr>
        <p:spPr>
          <a:xfrm>
            <a:off x="9702101" y="1910499"/>
            <a:ext cx="0" cy="2286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H="1">
            <a:off x="8213189" y="1910499"/>
            <a:ext cx="15120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a:off x="7951804" y="1733456"/>
            <a:ext cx="393896" cy="37346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8211784" y="3981630"/>
            <a:ext cx="393896" cy="37346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箭头连接符 33"/>
          <p:cNvCxnSpPr/>
          <p:nvPr/>
        </p:nvCxnSpPr>
        <p:spPr>
          <a:xfrm flipH="1">
            <a:off x="8605680" y="4160351"/>
            <a:ext cx="11520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1022094" y="5515200"/>
            <a:ext cx="10407059" cy="1064642"/>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There is CAN connectors on rear panel of U1 and R1 camera </a:t>
            </a:r>
            <a:r>
              <a:rPr lang="en-US" altLang="zh-CN" sz="2000" b="1" dirty="0" smtClean="0">
                <a:solidFill>
                  <a:schemeClr val="bg1"/>
                </a:solidFill>
                <a:latin typeface="微软雅黑" panose="020B0503020204020204" pitchFamily="34" charset="-122"/>
                <a:ea typeface="微软雅黑" panose="020B0503020204020204" pitchFamily="34" charset="-122"/>
              </a:rPr>
              <a:t>system.</a:t>
            </a:r>
            <a:endParaRPr lang="en-US" altLang="zh-CN" sz="2000" b="1" dirty="0" smtClean="0">
              <a:solidFill>
                <a:schemeClr val="bg1"/>
              </a:solidFill>
              <a:latin typeface="微软雅黑" panose="020B0503020204020204" pitchFamily="34" charset="-122"/>
              <a:ea typeface="微软雅黑" panose="020B0503020204020204" pitchFamily="34" charset="-122"/>
            </a:endParaRPr>
          </a:p>
          <a:p>
            <a:pPr>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We need link the video processor and light source by CAN cable.</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98840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7013" y="994919"/>
            <a:ext cx="3263250" cy="3953235"/>
          </a:xfrm>
          <a:prstGeom prst="rect">
            <a:avLst/>
          </a:prstGeom>
        </p:spPr>
      </p:pic>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CAN function</a:t>
            </a:r>
            <a:endParaRPr lang="en-US" altLang="zh-CN" sz="2800" b="1" dirty="0">
              <a:solidFill>
                <a:srgbClr val="C00000"/>
              </a:solidFill>
              <a:latin typeface="+mn-lt"/>
              <a:ea typeface="+mn-ea"/>
              <a:cs typeface="+mn-ea"/>
              <a:sym typeface="+mn-lt"/>
            </a:endParaRPr>
          </a:p>
        </p:txBody>
      </p:sp>
      <p:pic>
        <p:nvPicPr>
          <p:cNvPr id="36" name="图片 35">
            <a:extLst>
              <a:ext uri="{FF2B5EF4-FFF2-40B4-BE49-F238E27FC236}">
                <a16:creationId xmlns:a16="http://schemas.microsoft.com/office/drawing/2014/main" id="{3BE4FFC8-C0F4-4A16-BE28-7809A8687202}"/>
              </a:ext>
            </a:extLst>
          </p:cNvPr>
          <p:cNvPicPr>
            <a:picLocks noChangeAspect="1"/>
          </p:cNvPicPr>
          <p:nvPr/>
        </p:nvPicPr>
        <p:blipFill rotWithShape="1">
          <a:blip r:embed="rId5"/>
          <a:srcRect l="35014" t="40379" r="4705" b="31487"/>
          <a:stretch/>
        </p:blipFill>
        <p:spPr>
          <a:xfrm rot="16200000">
            <a:off x="1060757" y="4636811"/>
            <a:ext cx="1635760" cy="2337443"/>
          </a:xfrm>
          <a:prstGeom prst="rect">
            <a:avLst/>
          </a:prstGeom>
        </p:spPr>
      </p:pic>
      <p:sp>
        <p:nvSpPr>
          <p:cNvPr id="7" name="矩形 6"/>
          <p:cNvSpPr/>
          <p:nvPr/>
        </p:nvSpPr>
        <p:spPr>
          <a:xfrm>
            <a:off x="1000832" y="4618320"/>
            <a:ext cx="1826141" cy="369332"/>
          </a:xfrm>
          <a:prstGeom prst="rect">
            <a:avLst/>
          </a:prstGeom>
        </p:spPr>
        <p:txBody>
          <a:bodyPr wrap="none">
            <a:spAutoFit/>
          </a:bodyPr>
          <a:lstStyle/>
          <a:p>
            <a:r>
              <a:rPr lang="zh-CN" altLang="en-US" b="1" dirty="0">
                <a:solidFill>
                  <a:srgbClr val="FF0000"/>
                </a:solidFill>
              </a:rPr>
              <a:t>009-009910-00</a:t>
            </a:r>
          </a:p>
        </p:txBody>
      </p:sp>
      <p:pic>
        <p:nvPicPr>
          <p:cNvPr id="8" name="图片 7"/>
          <p:cNvPicPr>
            <a:picLocks noChangeAspect="1"/>
          </p:cNvPicPr>
          <p:nvPr/>
        </p:nvPicPr>
        <p:blipFill>
          <a:blip r:embed="rId6"/>
          <a:stretch>
            <a:fillRect/>
          </a:stretch>
        </p:blipFill>
        <p:spPr>
          <a:xfrm>
            <a:off x="8833199" y="5574404"/>
            <a:ext cx="3276183" cy="1216641"/>
          </a:xfrm>
          <a:prstGeom prst="rect">
            <a:avLst/>
          </a:prstGeom>
        </p:spPr>
      </p:pic>
      <p:graphicFrame>
        <p:nvGraphicFramePr>
          <p:cNvPr id="38" name="对象 37"/>
          <p:cNvGraphicFramePr>
            <a:graphicFrameLocks noChangeAspect="1"/>
          </p:cNvGraphicFramePr>
          <p:nvPr>
            <p:extLst>
              <p:ext uri="{D42A27DB-BD31-4B8C-83A1-F6EECF244321}">
                <p14:modId xmlns:p14="http://schemas.microsoft.com/office/powerpoint/2010/main" val="3368198773"/>
              </p:ext>
            </p:extLst>
          </p:nvPr>
        </p:nvGraphicFramePr>
        <p:xfrm>
          <a:off x="10241310" y="4388298"/>
          <a:ext cx="2053938" cy="1861381"/>
        </p:xfrm>
        <a:graphic>
          <a:graphicData uri="http://schemas.openxmlformats.org/presentationml/2006/ole">
            <mc:AlternateContent xmlns:mc="http://schemas.openxmlformats.org/markup-compatibility/2006">
              <mc:Choice xmlns:v="urn:schemas-microsoft-com:vml" Requires="v">
                <p:oleObj spid="_x0000_s1045" name="Acrobat Document" showAsIcon="1" r:id="rId7" imgW="914400" imgH="828720" progId="AcroExch.Document.DC">
                  <p:embed/>
                </p:oleObj>
              </mc:Choice>
              <mc:Fallback>
                <p:oleObj name="Acrobat Document" showAsIcon="1" r:id="rId7" imgW="914400" imgH="828720" progId="AcroExch.Document.DC">
                  <p:embed/>
                  <p:pic>
                    <p:nvPicPr>
                      <p:cNvPr id="8" name="对象 7"/>
                      <p:cNvPicPr/>
                      <p:nvPr/>
                    </p:nvPicPr>
                    <p:blipFill>
                      <a:blip r:embed="rId8"/>
                      <a:stretch>
                        <a:fillRect/>
                      </a:stretch>
                    </p:blipFill>
                    <p:spPr>
                      <a:xfrm>
                        <a:off x="10241310" y="4388298"/>
                        <a:ext cx="2053938" cy="1861381"/>
                      </a:xfrm>
                      <a:prstGeom prst="rect">
                        <a:avLst/>
                      </a:prstGeom>
                    </p:spPr>
                  </p:pic>
                </p:oleObj>
              </mc:Fallback>
            </mc:AlternateContent>
          </a:graphicData>
        </a:graphic>
      </p:graphicFrame>
      <p:pic>
        <p:nvPicPr>
          <p:cNvPr id="39" name="图片 38"/>
          <p:cNvPicPr>
            <a:picLocks noChangeAspect="1"/>
          </p:cNvPicPr>
          <p:nvPr/>
        </p:nvPicPr>
        <p:blipFill>
          <a:blip r:embed="rId9"/>
          <a:stretch>
            <a:fillRect/>
          </a:stretch>
        </p:blipFill>
        <p:spPr>
          <a:xfrm>
            <a:off x="3841873" y="1559265"/>
            <a:ext cx="3038817" cy="939099"/>
          </a:xfrm>
          <a:prstGeom prst="rect">
            <a:avLst/>
          </a:prstGeom>
        </p:spPr>
      </p:pic>
      <p:sp>
        <p:nvSpPr>
          <p:cNvPr id="9" name="文本框 8"/>
          <p:cNvSpPr txBox="1"/>
          <p:nvPr/>
        </p:nvSpPr>
        <p:spPr>
          <a:xfrm>
            <a:off x="3745186" y="826749"/>
            <a:ext cx="6271009" cy="369332"/>
          </a:xfrm>
          <a:prstGeom prst="rect">
            <a:avLst/>
          </a:prstGeom>
          <a:noFill/>
        </p:spPr>
        <p:txBody>
          <a:bodyPr wrap="square" rtlCol="0">
            <a:spAutoFit/>
          </a:bodyPr>
          <a:lstStyle/>
          <a:p>
            <a:r>
              <a:rPr lang="en-US" altLang="zh-CN" b="1" dirty="0" smtClean="0"/>
              <a:t>With CAN connection, we can realize tow functions on U1.</a:t>
            </a:r>
            <a:endParaRPr lang="zh-CN" altLang="en-US" b="1" dirty="0"/>
          </a:p>
        </p:txBody>
      </p:sp>
      <p:sp>
        <p:nvSpPr>
          <p:cNvPr id="10" name="文本框 9"/>
          <p:cNvSpPr txBox="1"/>
          <p:nvPr/>
        </p:nvSpPr>
        <p:spPr>
          <a:xfrm>
            <a:off x="3745186" y="1207598"/>
            <a:ext cx="3418449" cy="338554"/>
          </a:xfrm>
          <a:prstGeom prst="rect">
            <a:avLst/>
          </a:prstGeom>
          <a:noFill/>
        </p:spPr>
        <p:txBody>
          <a:bodyPr wrap="square" rtlCol="0">
            <a:spAutoFit/>
          </a:bodyPr>
          <a:lstStyle/>
          <a:p>
            <a:r>
              <a:rPr lang="zh-CN" altLang="en-US" sz="1600" dirty="0" smtClean="0">
                <a:latin typeface="Arial" panose="020B0604020202020204" pitchFamily="34" charset="0"/>
                <a:cs typeface="Arial" panose="020B0604020202020204" pitchFamily="34" charset="0"/>
              </a:rPr>
              <a:t>① </a:t>
            </a:r>
            <a:r>
              <a:rPr lang="en-US" altLang="zh-CN" sz="1600" dirty="0" smtClean="0">
                <a:latin typeface="Arial" panose="020B0604020202020204" pitchFamily="34" charset="0"/>
                <a:cs typeface="Arial" panose="020B0604020202020204" pitchFamily="34" charset="0"/>
              </a:rPr>
              <a:t>Control HB300L by U1.</a:t>
            </a:r>
            <a:endParaRPr lang="zh-CN" altLang="en-US" sz="1600" dirty="0">
              <a:latin typeface="Arial" panose="020B0604020202020204" pitchFamily="34" charset="0"/>
              <a:cs typeface="Arial" panose="020B0604020202020204" pitchFamily="34" charset="0"/>
            </a:endParaRPr>
          </a:p>
        </p:txBody>
      </p:sp>
      <p:sp>
        <p:nvSpPr>
          <p:cNvPr id="40" name="文本框 39"/>
          <p:cNvSpPr txBox="1"/>
          <p:nvPr/>
        </p:nvSpPr>
        <p:spPr>
          <a:xfrm>
            <a:off x="3745185" y="2523283"/>
            <a:ext cx="7002531" cy="1354217"/>
          </a:xfrm>
          <a:prstGeom prst="rect">
            <a:avLst/>
          </a:prstGeom>
          <a:noFill/>
        </p:spPr>
        <p:txBody>
          <a:bodyPr wrap="square" rtlCol="0">
            <a:spAutoFit/>
          </a:bodyPr>
          <a:lstStyle/>
          <a:p>
            <a:r>
              <a:rPr lang="en-US" altLang="zh-CN" sz="1600" dirty="0" smtClean="0">
                <a:latin typeface="Arial" panose="020B0604020202020204" pitchFamily="34" charset="0"/>
                <a:cs typeface="Arial" panose="020B0604020202020204" pitchFamily="34" charset="0"/>
              </a:rPr>
              <a:t>With CAN cable connection, we can use U1 touch screen to control HB300L and adjust the light source brightness.</a:t>
            </a:r>
          </a:p>
          <a:p>
            <a:r>
              <a:rPr lang="en-US" altLang="zh-CN" sz="1600" dirty="0" smtClean="0">
                <a:latin typeface="Arial" panose="020B0604020202020204" pitchFamily="34" charset="0"/>
                <a:cs typeface="Arial" panose="020B0604020202020204" pitchFamily="34" charset="0"/>
              </a:rPr>
              <a:t>Press Menu</a:t>
            </a:r>
            <a:r>
              <a:rPr lang="zh-CN" altLang="en-US" sz="1600" dirty="0" smtClean="0">
                <a:latin typeface="Arial" panose="020B0604020202020204" pitchFamily="34" charset="0"/>
                <a:cs typeface="Arial" panose="020B0604020202020204" pitchFamily="34" charset="0"/>
              </a:rPr>
              <a:t>➡</a:t>
            </a:r>
            <a:r>
              <a:rPr lang="en-US" altLang="zh-CN" sz="1600" dirty="0" smtClean="0">
                <a:latin typeface="Arial" panose="020B0604020202020204" pitchFamily="34" charset="0"/>
                <a:cs typeface="Arial" panose="020B0604020202020204" pitchFamily="34" charset="0"/>
              </a:rPr>
              <a:t>Press Function Setup</a:t>
            </a:r>
            <a:r>
              <a:rPr lang="zh-CN" altLang="en-US" sz="1600" dirty="0">
                <a:latin typeface="Arial" panose="020B0604020202020204" pitchFamily="34" charset="0"/>
                <a:cs typeface="Arial" panose="020B0604020202020204" pitchFamily="34" charset="0"/>
              </a:rPr>
              <a:t> </a:t>
            </a:r>
            <a:r>
              <a:rPr lang="zh-CN" altLang="en-US" sz="1600" dirty="0" smtClean="0">
                <a:latin typeface="Arial" panose="020B0604020202020204" pitchFamily="34" charset="0"/>
                <a:cs typeface="Arial" panose="020B0604020202020204" pitchFamily="34" charset="0"/>
              </a:rPr>
              <a:t>➡</a:t>
            </a:r>
            <a:r>
              <a:rPr lang="en-US" altLang="zh-CN" sz="1600" dirty="0" smtClean="0">
                <a:latin typeface="Arial" panose="020B0604020202020204" pitchFamily="34" charset="0"/>
                <a:cs typeface="Arial" panose="020B0604020202020204" pitchFamily="34" charset="0"/>
              </a:rPr>
              <a:t>Select Light source </a:t>
            </a:r>
          </a:p>
          <a:p>
            <a:r>
              <a:rPr lang="en-US" altLang="zh-CN" sz="1600" dirty="0" smtClean="0">
                <a:latin typeface="Arial" panose="020B0604020202020204" pitchFamily="34" charset="0"/>
                <a:cs typeface="Arial" panose="020B0604020202020204" pitchFamily="34" charset="0"/>
              </a:rPr>
              <a:t>Then can adjust the light source brightness on U1 touch screen.</a:t>
            </a:r>
          </a:p>
          <a:p>
            <a:r>
              <a:rPr lang="en-US" altLang="zh-CN" sz="1600" dirty="0" smtClean="0">
                <a:latin typeface="Arial" panose="020B0604020202020204" pitchFamily="34" charset="0"/>
                <a:cs typeface="Arial" panose="020B0604020202020204" pitchFamily="34" charset="0"/>
              </a:rPr>
              <a:t>All software versions support this function.</a:t>
            </a:r>
            <a:endParaRPr lang="zh-CN" altLang="en-US" sz="1600" dirty="0">
              <a:latin typeface="Arial" panose="020B0604020202020204" pitchFamily="34" charset="0"/>
              <a:cs typeface="Arial" panose="020B0604020202020204" pitchFamily="34" charset="0"/>
            </a:endParaRPr>
          </a:p>
        </p:txBody>
      </p:sp>
      <p:sp>
        <p:nvSpPr>
          <p:cNvPr id="41" name="文本框 40"/>
          <p:cNvSpPr txBox="1"/>
          <p:nvPr/>
        </p:nvSpPr>
        <p:spPr>
          <a:xfrm>
            <a:off x="3745186" y="3902419"/>
            <a:ext cx="6563570" cy="338554"/>
          </a:xfrm>
          <a:prstGeom prst="rect">
            <a:avLst/>
          </a:prstGeom>
          <a:noFill/>
        </p:spPr>
        <p:txBody>
          <a:bodyPr wrap="square" rtlCol="0">
            <a:spAutoFit/>
          </a:bodyPr>
          <a:lstStyle/>
          <a:p>
            <a:r>
              <a:rPr lang="zh-CN" altLang="en-US" sz="1600" dirty="0">
                <a:latin typeface="Arial" panose="020B0604020202020204" pitchFamily="34" charset="0"/>
                <a:cs typeface="Arial" panose="020B0604020202020204" pitchFamily="34" charset="0"/>
              </a:rPr>
              <a:t>②</a:t>
            </a:r>
            <a:r>
              <a:rPr lang="zh-CN" altLang="en-US" sz="1600" dirty="0" smtClean="0">
                <a:latin typeface="Arial" panose="020B0604020202020204" pitchFamily="34" charset="0"/>
                <a:cs typeface="Arial" panose="020B0604020202020204" pitchFamily="34" charset="0"/>
              </a:rPr>
              <a:t> </a:t>
            </a:r>
            <a:r>
              <a:rPr lang="en-US" altLang="zh-CN" sz="1600" dirty="0" smtClean="0">
                <a:latin typeface="Arial" panose="020B0604020202020204" pitchFamily="34" charset="0"/>
                <a:cs typeface="Arial" panose="020B0604020202020204" pitchFamily="34" charset="0"/>
              </a:rPr>
              <a:t>Turn on LED from standby when you conduct white balance.</a:t>
            </a:r>
            <a:endParaRPr lang="zh-CN" altLang="en-US" sz="1600" dirty="0">
              <a:latin typeface="Arial" panose="020B0604020202020204" pitchFamily="34" charset="0"/>
              <a:cs typeface="Arial" panose="020B0604020202020204" pitchFamily="34" charset="0"/>
            </a:endParaRPr>
          </a:p>
        </p:txBody>
      </p:sp>
      <p:sp>
        <p:nvSpPr>
          <p:cNvPr id="42" name="文本框 41"/>
          <p:cNvSpPr txBox="1"/>
          <p:nvPr/>
        </p:nvSpPr>
        <p:spPr>
          <a:xfrm>
            <a:off x="3841873" y="4357944"/>
            <a:ext cx="7002531" cy="1323439"/>
          </a:xfrm>
          <a:prstGeom prst="rect">
            <a:avLst/>
          </a:prstGeom>
          <a:noFill/>
        </p:spPr>
        <p:txBody>
          <a:bodyPr wrap="square" rtlCol="0">
            <a:spAutoFit/>
          </a:bodyPr>
          <a:lstStyle/>
          <a:p>
            <a:r>
              <a:rPr lang="en-US" altLang="zh-CN" sz="1600" dirty="0" smtClean="0">
                <a:latin typeface="Arial" panose="020B0604020202020204" pitchFamily="34" charset="0"/>
                <a:cs typeface="Arial" panose="020B0604020202020204" pitchFamily="34" charset="0"/>
              </a:rPr>
              <a:t>With CAN cable connection, if the light source (HB300L) is turned on and the LED is standby, when the surgeon conduct white balance, the light </a:t>
            </a:r>
            <a:r>
              <a:rPr lang="en-US" altLang="zh-CN" sz="1600" dirty="0">
                <a:latin typeface="Arial" panose="020B0604020202020204" pitchFamily="34" charset="0"/>
                <a:cs typeface="Arial" panose="020B0604020202020204" pitchFamily="34" charset="0"/>
              </a:rPr>
              <a:t>s</a:t>
            </a:r>
            <a:r>
              <a:rPr lang="en-US" altLang="zh-CN" sz="1600" dirty="0" smtClean="0">
                <a:latin typeface="Arial" panose="020B0604020202020204" pitchFamily="34" charset="0"/>
                <a:cs typeface="Arial" panose="020B0604020202020204" pitchFamily="34" charset="0"/>
              </a:rPr>
              <a:t>ource can turn on the LED automatically. </a:t>
            </a:r>
          </a:p>
          <a:p>
            <a:r>
              <a:rPr lang="en-US" altLang="zh-CN" sz="1600" dirty="0" smtClean="0">
                <a:latin typeface="Arial" panose="020B0604020202020204" pitchFamily="34" charset="0"/>
                <a:cs typeface="Arial" panose="020B0604020202020204" pitchFamily="34" charset="0"/>
              </a:rPr>
              <a:t>But for this function we need make sure that the software version equal or above </a:t>
            </a:r>
            <a:r>
              <a:rPr lang="en-US" altLang="zh-CN" sz="1600" b="1" kern="100" dirty="0" smtClean="0">
                <a:latin typeface="Calibri" panose="020F0502020204030204" pitchFamily="34" charset="0"/>
                <a:ea typeface="微软雅黑" panose="020B0503020204020204" pitchFamily="34" charset="-122"/>
                <a:cs typeface="Times New Roman" panose="02020603050405020304" pitchFamily="18" charset="0"/>
              </a:rPr>
              <a:t>01.13.00.04.</a:t>
            </a:r>
            <a:endParaRPr lang="en-US" altLang="zh-CN" sz="1600" dirty="0" smtClean="0">
              <a:latin typeface="Arial" panose="020B0604020202020204" pitchFamily="34" charset="0"/>
              <a:cs typeface="Arial" panose="020B0604020202020204" pitchFamily="34" charset="0"/>
            </a:endParaRPr>
          </a:p>
        </p:txBody>
      </p:sp>
      <p:sp>
        <p:nvSpPr>
          <p:cNvPr id="11" name="矩形 10"/>
          <p:cNvSpPr/>
          <p:nvPr/>
        </p:nvSpPr>
        <p:spPr>
          <a:xfrm>
            <a:off x="3814350" y="5637974"/>
            <a:ext cx="6096000" cy="584775"/>
          </a:xfrm>
          <a:prstGeom prst="rect">
            <a:avLst/>
          </a:prstGeom>
        </p:spPr>
        <p:txBody>
          <a:bodyPr>
            <a:spAutoFit/>
          </a:bodyPr>
          <a:lstStyle/>
          <a:p>
            <a:r>
              <a:rPr lang="en-US" altLang="zh-CN" sz="1600" b="1" dirty="0">
                <a:solidFill>
                  <a:srgbClr val="B61B23"/>
                </a:solidFill>
                <a:latin typeface="Cabin"/>
              </a:rPr>
              <a:t>/Rigid Endoscope/002_U1 System/U1/Software upgrade/Upgrade guide/</a:t>
            </a:r>
            <a:endParaRPr lang="zh-CN" altLang="en-US" sz="1600" dirty="0"/>
          </a:p>
        </p:txBody>
      </p:sp>
      <p:sp>
        <p:nvSpPr>
          <p:cNvPr id="12" name="矩形 11"/>
          <p:cNvSpPr/>
          <p:nvPr/>
        </p:nvSpPr>
        <p:spPr>
          <a:xfrm>
            <a:off x="3832690" y="6222749"/>
            <a:ext cx="5083127" cy="584775"/>
          </a:xfrm>
          <a:prstGeom prst="rect">
            <a:avLst/>
          </a:prstGeom>
        </p:spPr>
        <p:txBody>
          <a:bodyPr wrap="square">
            <a:spAutoFit/>
          </a:bodyPr>
          <a:lstStyle/>
          <a:p>
            <a:r>
              <a:rPr lang="en-US" altLang="zh-CN" sz="1600" b="1" dirty="0">
                <a:solidFill>
                  <a:srgbClr val="B61B23"/>
                </a:solidFill>
                <a:latin typeface="Cabin"/>
              </a:rPr>
              <a:t>/Rigid Endoscope/002_U1 System/U1/Software upgrade/TYJ-22505/</a:t>
            </a:r>
            <a:endParaRPr lang="zh-CN" altLang="en-US" sz="1600" dirty="0"/>
          </a:p>
        </p:txBody>
      </p:sp>
    </p:spTree>
    <p:extLst>
      <p:ext uri="{BB962C8B-B14F-4D97-AF65-F5344CB8AC3E}">
        <p14:creationId xmlns:p14="http://schemas.microsoft.com/office/powerpoint/2010/main" val="32045544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9440481" y="4314255"/>
            <a:ext cx="2542016" cy="1887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An error message will be displayed if you don’t connect the </a:t>
            </a:r>
          </a:p>
          <a:p>
            <a:r>
              <a:rPr lang="en-US" altLang="zh-CN" dirty="0" smtClean="0"/>
              <a:t>CAN cable or the CAN cable communication is disconnected.</a:t>
            </a:r>
            <a:endParaRPr lang="zh-CN" altLang="en-US" dirty="0"/>
          </a:p>
        </p:txBody>
      </p:sp>
      <p:pic>
        <p:nvPicPr>
          <p:cNvPr id="3" name="图片 2"/>
          <p:cNvPicPr>
            <a:picLocks noChangeAspect="1"/>
          </p:cNvPicPr>
          <p:nvPr/>
        </p:nvPicPr>
        <p:blipFill>
          <a:blip r:embed="rId3"/>
          <a:stretch>
            <a:fillRect/>
          </a:stretch>
        </p:blipFill>
        <p:spPr>
          <a:xfrm>
            <a:off x="582330" y="801166"/>
            <a:ext cx="2475732" cy="4456317"/>
          </a:xfrm>
          <a:prstGeom prst="rect">
            <a:avLst/>
          </a:prstGeom>
        </p:spPr>
      </p:pic>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CAN function</a:t>
            </a:r>
            <a:endParaRPr lang="en-US" altLang="zh-CN" sz="2800" b="1" dirty="0">
              <a:solidFill>
                <a:srgbClr val="C00000"/>
              </a:solidFill>
              <a:latin typeface="+mn-lt"/>
              <a:ea typeface="+mn-ea"/>
              <a:cs typeface="+mn-ea"/>
              <a:sym typeface="+mn-lt"/>
            </a:endParaRPr>
          </a:p>
        </p:txBody>
      </p:sp>
      <p:pic>
        <p:nvPicPr>
          <p:cNvPr id="5" name="图片 4">
            <a:extLst>
              <a:ext uri="{FF2B5EF4-FFF2-40B4-BE49-F238E27FC236}">
                <a16:creationId xmlns:a16="http://schemas.microsoft.com/office/drawing/2014/main" id="{3BE4FFC8-C0F4-4A16-BE28-7809A8687202}"/>
              </a:ext>
            </a:extLst>
          </p:cNvPr>
          <p:cNvPicPr>
            <a:picLocks noChangeAspect="1"/>
          </p:cNvPicPr>
          <p:nvPr/>
        </p:nvPicPr>
        <p:blipFill rotWithShape="1">
          <a:blip r:embed="rId4"/>
          <a:srcRect l="35014" t="40379" r="4705" b="31487"/>
          <a:stretch/>
        </p:blipFill>
        <p:spPr>
          <a:xfrm rot="16200000">
            <a:off x="1060757" y="4636811"/>
            <a:ext cx="1635760" cy="2337443"/>
          </a:xfrm>
          <a:prstGeom prst="rect">
            <a:avLst/>
          </a:prstGeom>
        </p:spPr>
      </p:pic>
      <p:sp>
        <p:nvSpPr>
          <p:cNvPr id="6" name="矩形 5"/>
          <p:cNvSpPr/>
          <p:nvPr/>
        </p:nvSpPr>
        <p:spPr>
          <a:xfrm>
            <a:off x="1000832" y="4618320"/>
            <a:ext cx="1826141" cy="369332"/>
          </a:xfrm>
          <a:prstGeom prst="rect">
            <a:avLst/>
          </a:prstGeom>
        </p:spPr>
        <p:txBody>
          <a:bodyPr wrap="none">
            <a:spAutoFit/>
          </a:bodyPr>
          <a:lstStyle/>
          <a:p>
            <a:r>
              <a:rPr lang="zh-CN" altLang="en-US" b="1" dirty="0">
                <a:solidFill>
                  <a:srgbClr val="FF0000"/>
                </a:solidFill>
              </a:rPr>
              <a:t>009-009910-00</a:t>
            </a:r>
          </a:p>
        </p:txBody>
      </p:sp>
      <p:sp>
        <p:nvSpPr>
          <p:cNvPr id="7" name="文本框 6"/>
          <p:cNvSpPr txBox="1"/>
          <p:nvPr/>
        </p:nvSpPr>
        <p:spPr>
          <a:xfrm>
            <a:off x="3323152" y="826749"/>
            <a:ext cx="6721177" cy="369332"/>
          </a:xfrm>
          <a:prstGeom prst="rect">
            <a:avLst/>
          </a:prstGeom>
          <a:noFill/>
        </p:spPr>
        <p:txBody>
          <a:bodyPr wrap="square" rtlCol="0">
            <a:spAutoFit/>
          </a:bodyPr>
          <a:lstStyle/>
          <a:p>
            <a:r>
              <a:rPr lang="en-US" altLang="zh-CN" b="1" dirty="0" smtClean="0"/>
              <a:t>With CAN connection, we can realize three functions on R1.</a:t>
            </a:r>
            <a:endParaRPr lang="zh-CN" altLang="en-US" b="1" dirty="0"/>
          </a:p>
        </p:txBody>
      </p:sp>
      <p:sp>
        <p:nvSpPr>
          <p:cNvPr id="8" name="文本框 7"/>
          <p:cNvSpPr txBox="1"/>
          <p:nvPr/>
        </p:nvSpPr>
        <p:spPr>
          <a:xfrm>
            <a:off x="3265291" y="3641309"/>
            <a:ext cx="3418449" cy="338554"/>
          </a:xfrm>
          <a:prstGeom prst="rect">
            <a:avLst/>
          </a:prstGeom>
          <a:noFill/>
        </p:spPr>
        <p:txBody>
          <a:bodyPr wrap="square" rtlCol="0">
            <a:spAutoFit/>
          </a:bodyPr>
          <a:lstStyle/>
          <a:p>
            <a:r>
              <a:rPr lang="zh-CN" altLang="en-US" sz="1600" dirty="0">
                <a:latin typeface="Arial" panose="020B0604020202020204" pitchFamily="34" charset="0"/>
                <a:cs typeface="Arial" panose="020B0604020202020204" pitchFamily="34" charset="0"/>
              </a:rPr>
              <a:t>②</a:t>
            </a:r>
            <a:r>
              <a:rPr lang="zh-CN" altLang="en-US" sz="1600" dirty="0" smtClean="0">
                <a:latin typeface="Arial" panose="020B0604020202020204" pitchFamily="34" charset="0"/>
                <a:cs typeface="Arial" panose="020B0604020202020204" pitchFamily="34" charset="0"/>
              </a:rPr>
              <a:t> </a:t>
            </a:r>
            <a:r>
              <a:rPr lang="en-US" altLang="zh-CN" sz="1600" dirty="0" smtClean="0">
                <a:latin typeface="Arial" panose="020B0604020202020204" pitchFamily="34" charset="0"/>
                <a:cs typeface="Arial" panose="020B0604020202020204" pitchFamily="34" charset="0"/>
              </a:rPr>
              <a:t>Control HB300R by R1.</a:t>
            </a:r>
            <a:endParaRPr lang="zh-CN" altLang="en-US" sz="1600" dirty="0">
              <a:latin typeface="Arial" panose="020B0604020202020204" pitchFamily="34" charset="0"/>
              <a:cs typeface="Arial" panose="020B0604020202020204" pitchFamily="34" charset="0"/>
            </a:endParaRPr>
          </a:p>
        </p:txBody>
      </p:sp>
      <p:pic>
        <p:nvPicPr>
          <p:cNvPr id="9" name="图片 8"/>
          <p:cNvPicPr>
            <a:picLocks noChangeAspect="1"/>
          </p:cNvPicPr>
          <p:nvPr/>
        </p:nvPicPr>
        <p:blipFill>
          <a:blip r:embed="rId5"/>
          <a:stretch>
            <a:fillRect/>
          </a:stretch>
        </p:blipFill>
        <p:spPr>
          <a:xfrm>
            <a:off x="3323152" y="3979863"/>
            <a:ext cx="3038817" cy="939099"/>
          </a:xfrm>
          <a:prstGeom prst="rect">
            <a:avLst/>
          </a:prstGeom>
        </p:spPr>
      </p:pic>
      <p:sp>
        <p:nvSpPr>
          <p:cNvPr id="10" name="文本框 9"/>
          <p:cNvSpPr txBox="1"/>
          <p:nvPr/>
        </p:nvSpPr>
        <p:spPr>
          <a:xfrm>
            <a:off x="3265291" y="5088206"/>
            <a:ext cx="5992765" cy="338554"/>
          </a:xfrm>
          <a:prstGeom prst="rect">
            <a:avLst/>
          </a:prstGeom>
          <a:noFill/>
        </p:spPr>
        <p:txBody>
          <a:bodyPr wrap="square" rtlCol="0">
            <a:spAutoFit/>
          </a:bodyPr>
          <a:lstStyle/>
          <a:p>
            <a:r>
              <a:rPr lang="zh-CN" altLang="en-US" sz="1600" dirty="0" smtClean="0">
                <a:latin typeface="Arial" panose="020B0604020202020204" pitchFamily="34" charset="0"/>
                <a:cs typeface="Arial" panose="020B0604020202020204" pitchFamily="34" charset="0"/>
              </a:rPr>
              <a:t>③ </a:t>
            </a:r>
            <a:r>
              <a:rPr lang="en-US" altLang="zh-CN" sz="1600" dirty="0" smtClean="0">
                <a:latin typeface="Arial" panose="020B0604020202020204" pitchFamily="34" charset="0"/>
                <a:cs typeface="Arial" panose="020B0604020202020204" pitchFamily="34" charset="0"/>
              </a:rPr>
              <a:t>Turn on LED from standby when you conduct white balance.</a:t>
            </a:r>
            <a:endParaRPr lang="zh-CN" altLang="en-US" sz="1600" dirty="0">
              <a:latin typeface="Arial" panose="020B0604020202020204" pitchFamily="34" charset="0"/>
              <a:cs typeface="Arial" panose="020B0604020202020204" pitchFamily="34" charset="0"/>
            </a:endParaRPr>
          </a:p>
        </p:txBody>
      </p:sp>
      <p:sp>
        <p:nvSpPr>
          <p:cNvPr id="2" name="矩形 1"/>
          <p:cNvSpPr/>
          <p:nvPr/>
        </p:nvSpPr>
        <p:spPr>
          <a:xfrm>
            <a:off x="3323152" y="5456566"/>
            <a:ext cx="6096000" cy="615553"/>
          </a:xfrm>
          <a:prstGeom prst="rect">
            <a:avLst/>
          </a:prstGeom>
          <a:noFill/>
        </p:spPr>
        <p:txBody>
          <a:bodyPr wrap="square" rtlCol="0">
            <a:spAutoFit/>
          </a:bodyPr>
          <a:lstStyle/>
          <a:p>
            <a:r>
              <a:rPr lang="en-US" altLang="zh-CN" sz="1600" dirty="0">
                <a:latin typeface="Arial" panose="020B0604020202020204" pitchFamily="34" charset="0"/>
                <a:cs typeface="Arial" panose="020B0604020202020204" pitchFamily="34" charset="0"/>
              </a:rPr>
              <a:t>But for this function we need make sure that the software version equal or above </a:t>
            </a:r>
            <a:r>
              <a:rPr lang="en-US" altLang="zh-CN" dirty="0" smtClean="0"/>
              <a:t>01.11.00.04</a:t>
            </a:r>
            <a:r>
              <a:rPr lang="en-US" altLang="zh-CN" dirty="0"/>
              <a:t>.</a:t>
            </a:r>
            <a:endParaRPr lang="en-US" altLang="zh-CN" sz="1600" dirty="0">
              <a:latin typeface="Arial" panose="020B0604020202020204" pitchFamily="34" charset="0"/>
              <a:cs typeface="Arial" panose="020B0604020202020204" pitchFamily="34" charset="0"/>
            </a:endParaRPr>
          </a:p>
        </p:txBody>
      </p:sp>
      <p:sp>
        <p:nvSpPr>
          <p:cNvPr id="11" name="矩形 10"/>
          <p:cNvSpPr/>
          <p:nvPr/>
        </p:nvSpPr>
        <p:spPr>
          <a:xfrm>
            <a:off x="3323152" y="6101925"/>
            <a:ext cx="6096000" cy="646331"/>
          </a:xfrm>
          <a:prstGeom prst="rect">
            <a:avLst/>
          </a:prstGeom>
        </p:spPr>
        <p:txBody>
          <a:bodyPr>
            <a:spAutoFit/>
          </a:bodyPr>
          <a:lstStyle/>
          <a:p>
            <a:r>
              <a:rPr lang="en-US" altLang="zh-CN" b="1" dirty="0">
                <a:solidFill>
                  <a:srgbClr val="B61B23"/>
                </a:solidFill>
                <a:latin typeface="Cabin"/>
              </a:rPr>
              <a:t>/Rigid Endoscope/003_R1 System/R1/Software upgrade/Latest version/</a:t>
            </a:r>
            <a:endParaRPr lang="zh-CN" altLang="en-US" dirty="0"/>
          </a:p>
        </p:txBody>
      </p:sp>
      <p:sp>
        <p:nvSpPr>
          <p:cNvPr id="12" name="文本框 11"/>
          <p:cNvSpPr txBox="1"/>
          <p:nvPr/>
        </p:nvSpPr>
        <p:spPr>
          <a:xfrm>
            <a:off x="3306312" y="1230364"/>
            <a:ext cx="5529710" cy="1569660"/>
          </a:xfrm>
          <a:prstGeom prst="rect">
            <a:avLst/>
          </a:prstGeom>
          <a:noFill/>
        </p:spPr>
        <p:txBody>
          <a:bodyPr wrap="square" rtlCol="0">
            <a:spAutoFit/>
          </a:bodyPr>
          <a:lstStyle/>
          <a:p>
            <a:r>
              <a:rPr lang="zh-CN" altLang="en-US" sz="1600" dirty="0">
                <a:latin typeface="Arial" panose="020B0604020202020204" pitchFamily="34" charset="0"/>
                <a:cs typeface="Arial" panose="020B0604020202020204" pitchFamily="34" charset="0"/>
              </a:rPr>
              <a:t>①</a:t>
            </a:r>
            <a:r>
              <a:rPr lang="zh-CN" altLang="en-US" sz="1600" dirty="0" smtClean="0">
                <a:latin typeface="Arial" panose="020B0604020202020204" pitchFamily="34" charset="0"/>
                <a:cs typeface="Arial" panose="020B0604020202020204" pitchFamily="34" charset="0"/>
              </a:rPr>
              <a:t> </a:t>
            </a:r>
            <a:r>
              <a:rPr lang="en-US" altLang="zh-CN" sz="1600" dirty="0" smtClean="0">
                <a:latin typeface="Arial" panose="020B0604020202020204" pitchFamily="34" charset="0"/>
                <a:cs typeface="Arial" panose="020B0604020202020204" pitchFamily="34" charset="0"/>
              </a:rPr>
              <a:t>Shift image mode to fluorescence and turn on fluorescence function. You can shift image mode by press up and down arrow key on camera head. And you can tell that HB300R has turned on infra red laser by observation the mark display on the right top corner of light source touch screen.</a:t>
            </a:r>
            <a:endParaRPr lang="zh-CN" altLang="en-US" sz="1600" dirty="0">
              <a:latin typeface="Arial" panose="020B0604020202020204" pitchFamily="34" charset="0"/>
              <a:cs typeface="Arial" panose="020B0604020202020204" pitchFamily="34" charset="0"/>
            </a:endParaRPr>
          </a:p>
        </p:txBody>
      </p:sp>
      <p:pic>
        <p:nvPicPr>
          <p:cNvPr id="13" name="图片 12">
            <a:extLst>
              <a:ext uri="{FF2B5EF4-FFF2-40B4-BE49-F238E27FC236}">
                <a16:creationId xmlns:a16="http://schemas.microsoft.com/office/drawing/2014/main" id="{1E8B05B6-63F0-4182-8A5C-B4995FE96DC4}"/>
              </a:ext>
            </a:extLst>
          </p:cNvPr>
          <p:cNvPicPr>
            <a:picLocks noChangeAspect="1"/>
          </p:cNvPicPr>
          <p:nvPr/>
        </p:nvPicPr>
        <p:blipFill>
          <a:blip r:embed="rId6"/>
          <a:stretch>
            <a:fillRect/>
          </a:stretch>
        </p:blipFill>
        <p:spPr>
          <a:xfrm>
            <a:off x="4761046" y="2635739"/>
            <a:ext cx="3595161" cy="946419"/>
          </a:xfrm>
          <a:prstGeom prst="rect">
            <a:avLst/>
          </a:prstGeom>
        </p:spPr>
      </p:pic>
      <p:pic>
        <p:nvPicPr>
          <p:cNvPr id="16" name="图片 15"/>
          <p:cNvPicPr>
            <a:picLocks noChangeAspect="1"/>
          </p:cNvPicPr>
          <p:nvPr/>
        </p:nvPicPr>
        <p:blipFill>
          <a:blip r:embed="rId7"/>
          <a:stretch>
            <a:fillRect/>
          </a:stretch>
        </p:blipFill>
        <p:spPr>
          <a:xfrm>
            <a:off x="9451723" y="2008477"/>
            <a:ext cx="2530774" cy="1075179"/>
          </a:xfrm>
          <a:prstGeom prst="rect">
            <a:avLst/>
          </a:prstGeom>
        </p:spPr>
      </p:pic>
      <p:cxnSp>
        <p:nvCxnSpPr>
          <p:cNvPr id="20" name="直接箭头连接符 19"/>
          <p:cNvCxnSpPr/>
          <p:nvPr/>
        </p:nvCxnSpPr>
        <p:spPr>
          <a:xfrm flipV="1">
            <a:off x="10740403" y="1722889"/>
            <a:ext cx="365760" cy="74883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flipV="1">
            <a:off x="10058232" y="1722889"/>
            <a:ext cx="416652" cy="79238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10617931" y="1316614"/>
            <a:ext cx="1364566" cy="369332"/>
          </a:xfrm>
          <a:prstGeom prst="rect">
            <a:avLst/>
          </a:prstGeom>
          <a:noFill/>
        </p:spPr>
        <p:txBody>
          <a:bodyPr wrap="square" rtlCol="0">
            <a:spAutoFit/>
          </a:bodyPr>
          <a:lstStyle/>
          <a:p>
            <a:r>
              <a:rPr lang="en-US" altLang="zh-CN" dirty="0" smtClean="0"/>
              <a:t>Up arrow</a:t>
            </a:r>
            <a:endParaRPr lang="zh-CN" altLang="en-US" dirty="0"/>
          </a:p>
        </p:txBody>
      </p:sp>
      <p:sp>
        <p:nvSpPr>
          <p:cNvPr id="24" name="文本框 23"/>
          <p:cNvSpPr txBox="1"/>
          <p:nvPr/>
        </p:nvSpPr>
        <p:spPr>
          <a:xfrm>
            <a:off x="9258056" y="1316614"/>
            <a:ext cx="1665227" cy="369332"/>
          </a:xfrm>
          <a:prstGeom prst="rect">
            <a:avLst/>
          </a:prstGeom>
          <a:noFill/>
        </p:spPr>
        <p:txBody>
          <a:bodyPr wrap="square" rtlCol="0">
            <a:spAutoFit/>
          </a:bodyPr>
          <a:lstStyle/>
          <a:p>
            <a:r>
              <a:rPr lang="en-US" altLang="zh-CN" dirty="0" smtClean="0"/>
              <a:t>Down arrow</a:t>
            </a:r>
            <a:endParaRPr lang="zh-CN" altLang="en-US" dirty="0"/>
          </a:p>
        </p:txBody>
      </p:sp>
    </p:spTree>
    <p:extLst>
      <p:ext uri="{BB962C8B-B14F-4D97-AF65-F5344CB8AC3E}">
        <p14:creationId xmlns:p14="http://schemas.microsoft.com/office/powerpoint/2010/main" val="6920934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User Setting——R1</a:t>
            </a:r>
            <a:endParaRPr lang="en-US" altLang="zh-CN" sz="2800" b="1" dirty="0">
              <a:solidFill>
                <a:srgbClr val="C00000"/>
              </a:solidFill>
              <a:latin typeface="+mn-lt"/>
              <a:ea typeface="+mn-ea"/>
              <a:cs typeface="+mn-ea"/>
              <a:sym typeface="+mn-lt"/>
            </a:endParaRPr>
          </a:p>
        </p:txBody>
      </p:sp>
      <p:pic>
        <p:nvPicPr>
          <p:cNvPr id="2" name="图片 1"/>
          <p:cNvPicPr>
            <a:picLocks noChangeAspect="1"/>
          </p:cNvPicPr>
          <p:nvPr/>
        </p:nvPicPr>
        <p:blipFill>
          <a:blip r:embed="rId3"/>
          <a:stretch>
            <a:fillRect/>
          </a:stretch>
        </p:blipFill>
        <p:spPr>
          <a:xfrm>
            <a:off x="1022095" y="1050820"/>
            <a:ext cx="4746034" cy="1593906"/>
          </a:xfrm>
          <a:prstGeom prst="rect">
            <a:avLst/>
          </a:prstGeom>
        </p:spPr>
      </p:pic>
      <p:pic>
        <p:nvPicPr>
          <p:cNvPr id="3" name="图片 2"/>
          <p:cNvPicPr>
            <a:picLocks noChangeAspect="1"/>
          </p:cNvPicPr>
          <p:nvPr/>
        </p:nvPicPr>
        <p:blipFill>
          <a:blip r:embed="rId4"/>
          <a:stretch>
            <a:fillRect/>
          </a:stretch>
        </p:blipFill>
        <p:spPr>
          <a:xfrm>
            <a:off x="1018236" y="2922516"/>
            <a:ext cx="4749893" cy="1700579"/>
          </a:xfrm>
          <a:prstGeom prst="rect">
            <a:avLst/>
          </a:prstGeom>
        </p:spPr>
      </p:pic>
      <p:pic>
        <p:nvPicPr>
          <p:cNvPr id="5" name="图片 4"/>
          <p:cNvPicPr>
            <a:picLocks noChangeAspect="1"/>
          </p:cNvPicPr>
          <p:nvPr/>
        </p:nvPicPr>
        <p:blipFill>
          <a:blip r:embed="rId5"/>
          <a:stretch>
            <a:fillRect/>
          </a:stretch>
        </p:blipFill>
        <p:spPr>
          <a:xfrm>
            <a:off x="1001712" y="4869213"/>
            <a:ext cx="4766417" cy="1600842"/>
          </a:xfrm>
          <a:prstGeom prst="rect">
            <a:avLst/>
          </a:prstGeom>
        </p:spPr>
      </p:pic>
      <p:pic>
        <p:nvPicPr>
          <p:cNvPr id="6" name="图片 5"/>
          <p:cNvPicPr>
            <a:picLocks noChangeAspect="1"/>
          </p:cNvPicPr>
          <p:nvPr/>
        </p:nvPicPr>
        <p:blipFill>
          <a:blip r:embed="rId6"/>
          <a:stretch>
            <a:fillRect/>
          </a:stretch>
        </p:blipFill>
        <p:spPr>
          <a:xfrm>
            <a:off x="6511068" y="1050820"/>
            <a:ext cx="5092723" cy="1593906"/>
          </a:xfrm>
          <a:prstGeom prst="rect">
            <a:avLst/>
          </a:prstGeom>
        </p:spPr>
      </p:pic>
      <p:pic>
        <p:nvPicPr>
          <p:cNvPr id="7" name="图片 6"/>
          <p:cNvPicPr>
            <a:picLocks noChangeAspect="1"/>
          </p:cNvPicPr>
          <p:nvPr/>
        </p:nvPicPr>
        <p:blipFill>
          <a:blip r:embed="rId7"/>
          <a:stretch>
            <a:fillRect/>
          </a:stretch>
        </p:blipFill>
        <p:spPr>
          <a:xfrm>
            <a:off x="6511066" y="2922516"/>
            <a:ext cx="5092723" cy="1619854"/>
          </a:xfrm>
          <a:prstGeom prst="rect">
            <a:avLst/>
          </a:prstGeom>
        </p:spPr>
      </p:pic>
      <p:pic>
        <p:nvPicPr>
          <p:cNvPr id="8" name="图片 7"/>
          <p:cNvPicPr>
            <a:picLocks noChangeAspect="1"/>
          </p:cNvPicPr>
          <p:nvPr/>
        </p:nvPicPr>
        <p:blipFill>
          <a:blip r:embed="rId8"/>
          <a:stretch>
            <a:fillRect/>
          </a:stretch>
        </p:blipFill>
        <p:spPr>
          <a:xfrm>
            <a:off x="6511067" y="4833707"/>
            <a:ext cx="5092723" cy="1671854"/>
          </a:xfrm>
          <a:prstGeom prst="rect">
            <a:avLst/>
          </a:prstGeom>
        </p:spPr>
      </p:pic>
      <p:sp>
        <p:nvSpPr>
          <p:cNvPr id="9" name="文本框 8"/>
          <p:cNvSpPr txBox="1"/>
          <p:nvPr/>
        </p:nvSpPr>
        <p:spPr>
          <a:xfrm>
            <a:off x="9791113" y="4979963"/>
            <a:ext cx="1252025" cy="369332"/>
          </a:xfrm>
          <a:prstGeom prst="rect">
            <a:avLst/>
          </a:prstGeom>
          <a:solidFill>
            <a:srgbClr val="3B96F1"/>
          </a:solidFill>
        </p:spPr>
        <p:txBody>
          <a:bodyPr wrap="square" rtlCol="0">
            <a:spAutoFit/>
          </a:bodyPr>
          <a:lstStyle/>
          <a:p>
            <a:r>
              <a:rPr lang="en-US" altLang="zh-CN" b="1" dirty="0" smtClean="0">
                <a:solidFill>
                  <a:schemeClr val="bg1"/>
                </a:solidFill>
              </a:rPr>
              <a:t>HEP User</a:t>
            </a:r>
            <a:endParaRPr lang="zh-CN" altLang="en-US" b="1" dirty="0">
              <a:solidFill>
                <a:schemeClr val="bg1"/>
              </a:solidFill>
            </a:endParaRPr>
          </a:p>
        </p:txBody>
      </p:sp>
    </p:spTree>
    <p:extLst>
      <p:ext uri="{BB962C8B-B14F-4D97-AF65-F5344CB8AC3E}">
        <p14:creationId xmlns:p14="http://schemas.microsoft.com/office/powerpoint/2010/main" val="2789968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Image setting</a:t>
            </a:r>
            <a:r>
              <a:rPr lang="en-US" altLang="zh-CN" sz="2800" b="1" dirty="0">
                <a:solidFill>
                  <a:srgbClr val="C00000"/>
                </a:solidFill>
                <a:latin typeface="+mn-lt"/>
                <a:ea typeface="+mn-ea"/>
                <a:cs typeface="+mn-ea"/>
                <a:sym typeface="+mn-lt"/>
              </a:rPr>
              <a:t>——</a:t>
            </a:r>
            <a:r>
              <a:rPr lang="en-US" altLang="zh-CN" sz="2800" b="1" dirty="0">
                <a:solidFill>
                  <a:srgbClr val="C00000"/>
                </a:solidFill>
                <a:latin typeface="+mn-lt"/>
                <a:ea typeface="+mn-ea"/>
                <a:cs typeface="+mn-ea"/>
              </a:rPr>
              <a:t>Light source </a:t>
            </a:r>
            <a:r>
              <a:rPr lang="en-US" altLang="zh-CN" sz="2800" b="1" dirty="0" smtClean="0">
                <a:solidFill>
                  <a:srgbClr val="C00000"/>
                </a:solidFill>
                <a:latin typeface="+mn-lt"/>
                <a:ea typeface="+mn-ea"/>
                <a:cs typeface="+mn-ea"/>
              </a:rPr>
              <a:t>adjustment</a:t>
            </a:r>
            <a:endParaRPr lang="en-US" altLang="zh-CN" sz="2800" b="1" dirty="0">
              <a:solidFill>
                <a:srgbClr val="C00000"/>
              </a:solidFill>
              <a:latin typeface="+mn-lt"/>
              <a:ea typeface="+mn-ea"/>
              <a:cs typeface="+mn-ea"/>
            </a:endParaRPr>
          </a:p>
        </p:txBody>
      </p:sp>
      <p:pic>
        <p:nvPicPr>
          <p:cNvPr id="6" name="图片 5">
            <a:extLst>
              <a:ext uri="{FF2B5EF4-FFF2-40B4-BE49-F238E27FC236}">
                <a16:creationId xmlns:a16="http://schemas.microsoft.com/office/drawing/2014/main" id="{D40EF618-E92A-4C26-AEBC-D072959809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1241" y="811387"/>
            <a:ext cx="3947593" cy="1348793"/>
          </a:xfrm>
          <a:prstGeom prst="rect">
            <a:avLst/>
          </a:prstGeom>
        </p:spPr>
      </p:pic>
      <p:pic>
        <p:nvPicPr>
          <p:cNvPr id="11" name="图片 10"/>
          <p:cNvPicPr>
            <a:picLocks noChangeAspect="1"/>
          </p:cNvPicPr>
          <p:nvPr/>
        </p:nvPicPr>
        <p:blipFill>
          <a:blip r:embed="rId4"/>
          <a:stretch>
            <a:fillRect/>
          </a:stretch>
        </p:blipFill>
        <p:spPr>
          <a:xfrm>
            <a:off x="8906645" y="964675"/>
            <a:ext cx="2949526" cy="1152064"/>
          </a:xfrm>
          <a:prstGeom prst="rect">
            <a:avLst/>
          </a:prstGeom>
        </p:spPr>
      </p:pic>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8758" y="3913987"/>
            <a:ext cx="3668085" cy="1222695"/>
          </a:xfrm>
          <a:prstGeom prst="rect">
            <a:avLst/>
          </a:prstGeom>
        </p:spPr>
      </p:pic>
      <p:sp>
        <p:nvSpPr>
          <p:cNvPr id="13" name="矩形 12"/>
          <p:cNvSpPr/>
          <p:nvPr/>
        </p:nvSpPr>
        <p:spPr>
          <a:xfrm>
            <a:off x="5058527" y="1162617"/>
            <a:ext cx="3518424" cy="923330"/>
          </a:xfrm>
          <a:prstGeom prst="rect">
            <a:avLst/>
          </a:prstGeom>
        </p:spPr>
        <p:txBody>
          <a:bodyPr wrap="square">
            <a:spAutoFit/>
          </a:bodyPr>
          <a:lstStyle/>
          <a:p>
            <a:r>
              <a:rPr lang="en-US" altLang="zh-CN" dirty="0"/>
              <a:t>HB300R has 1 to 10 level for brightness. We recommend to set the brightness from 4-7.</a:t>
            </a:r>
          </a:p>
        </p:txBody>
      </p:sp>
      <p:sp>
        <p:nvSpPr>
          <p:cNvPr id="14" name="矩形 13"/>
          <p:cNvSpPr/>
          <p:nvPr/>
        </p:nvSpPr>
        <p:spPr>
          <a:xfrm>
            <a:off x="5058527" y="2379720"/>
            <a:ext cx="6434778" cy="923330"/>
          </a:xfrm>
          <a:prstGeom prst="rect">
            <a:avLst/>
          </a:prstGeom>
        </p:spPr>
        <p:txBody>
          <a:bodyPr wrap="square">
            <a:spAutoFit/>
          </a:bodyPr>
          <a:lstStyle/>
          <a:p>
            <a:r>
              <a:rPr lang="en-US" altLang="zh-CN" dirty="0"/>
              <a:t>If the telescope with a small diameter, for example, the ENT scope, the urology scope, the </a:t>
            </a:r>
            <a:r>
              <a:rPr lang="en-US" altLang="zh-CN" dirty="0" err="1"/>
              <a:t>hystero</a:t>
            </a:r>
            <a:r>
              <a:rPr lang="en-US" altLang="zh-CN" dirty="0"/>
              <a:t> scope, We recommend to set 4 or 5. And we recommend to use a 3.5mm light guide.</a:t>
            </a:r>
          </a:p>
        </p:txBody>
      </p:sp>
      <p:graphicFrame>
        <p:nvGraphicFramePr>
          <p:cNvPr id="15" name="表格 14"/>
          <p:cNvGraphicFramePr>
            <a:graphicFrameLocks noGrp="1"/>
          </p:cNvGraphicFramePr>
          <p:nvPr>
            <p:extLst>
              <p:ext uri="{D42A27DB-BD31-4B8C-83A1-F6EECF244321}">
                <p14:modId xmlns:p14="http://schemas.microsoft.com/office/powerpoint/2010/main" val="4209276537"/>
              </p:ext>
            </p:extLst>
          </p:nvPr>
        </p:nvGraphicFramePr>
        <p:xfrm>
          <a:off x="5058527" y="5170009"/>
          <a:ext cx="6494829" cy="1554480"/>
        </p:xfrm>
        <a:graphic>
          <a:graphicData uri="http://schemas.openxmlformats.org/drawingml/2006/table">
            <a:tbl>
              <a:tblPr firstRow="1" bandRow="1">
                <a:tableStyleId>{5C22544A-7EE6-4342-B048-85BDC9FD1C3A}</a:tableStyleId>
              </a:tblPr>
              <a:tblGrid>
                <a:gridCol w="2078355">
                  <a:extLst>
                    <a:ext uri="{9D8B030D-6E8A-4147-A177-3AD203B41FA5}">
                      <a16:colId xmlns:a16="http://schemas.microsoft.com/office/drawing/2014/main" val="5865699"/>
                    </a:ext>
                  </a:extLst>
                </a:gridCol>
                <a:gridCol w="1427480">
                  <a:extLst>
                    <a:ext uri="{9D8B030D-6E8A-4147-A177-3AD203B41FA5}">
                      <a16:colId xmlns:a16="http://schemas.microsoft.com/office/drawing/2014/main" val="1047566255"/>
                    </a:ext>
                  </a:extLst>
                </a:gridCol>
                <a:gridCol w="1427480">
                  <a:extLst>
                    <a:ext uri="{9D8B030D-6E8A-4147-A177-3AD203B41FA5}">
                      <a16:colId xmlns:a16="http://schemas.microsoft.com/office/drawing/2014/main" val="4039381128"/>
                    </a:ext>
                  </a:extLst>
                </a:gridCol>
                <a:gridCol w="1561514">
                  <a:extLst>
                    <a:ext uri="{9D8B030D-6E8A-4147-A177-3AD203B41FA5}">
                      <a16:colId xmlns:a16="http://schemas.microsoft.com/office/drawing/2014/main" val="4090376879"/>
                    </a:ext>
                  </a:extLst>
                </a:gridCol>
              </a:tblGrid>
              <a:tr h="0">
                <a:tc>
                  <a:txBody>
                    <a:bodyPr/>
                    <a:lstStyle/>
                    <a:p>
                      <a:r>
                        <a:rPr lang="en-US" altLang="zh-CN" sz="1200" b="0" i="0" u="none" strike="noStrike" kern="1200" baseline="0" dirty="0" smtClean="0">
                          <a:solidFill>
                            <a:schemeClr val="lt1"/>
                          </a:solidFill>
                          <a:latin typeface="+mn-lt"/>
                          <a:ea typeface="+mn-ea"/>
                          <a:cs typeface="+mn-cs"/>
                        </a:rPr>
                        <a:t> </a:t>
                      </a:r>
                      <a:r>
                        <a:rPr lang="en-US" altLang="zh-CN" sz="1200" b="1" i="0" u="none" strike="noStrike" kern="1200" baseline="0" dirty="0" smtClean="0">
                          <a:solidFill>
                            <a:schemeClr val="lt1"/>
                          </a:solidFill>
                          <a:latin typeface="+mn-lt"/>
                          <a:ea typeface="+mn-ea"/>
                          <a:cs typeface="+mn-cs"/>
                        </a:rPr>
                        <a:t>Model</a:t>
                      </a:r>
                      <a:r>
                        <a:rPr lang="en-US" altLang="zh-CN" sz="1200" b="0" i="0" u="none" strike="noStrike" kern="1200" baseline="0" dirty="0" smtClean="0">
                          <a:solidFill>
                            <a:schemeClr val="lt1"/>
                          </a:solidFill>
                          <a:latin typeface="+mn-lt"/>
                          <a:ea typeface="+mn-ea"/>
                          <a:cs typeface="+mn-cs"/>
                        </a:rPr>
                        <a:t>	</a:t>
                      </a:r>
                    </a:p>
                  </a:txBody>
                  <a:tcPr/>
                </a:tc>
                <a:tc>
                  <a:txBody>
                    <a:bodyPr/>
                    <a:lstStyle/>
                    <a:p>
                      <a:r>
                        <a:rPr lang="en-US" altLang="zh-CN" sz="1200" b="0" i="0" u="none" strike="noStrike" kern="1200" baseline="0" dirty="0" smtClean="0">
                          <a:solidFill>
                            <a:schemeClr val="lt1"/>
                          </a:solidFill>
                          <a:latin typeface="+mn-lt"/>
                          <a:ea typeface="+mn-ea"/>
                          <a:cs typeface="+mn-cs"/>
                        </a:rPr>
                        <a:t>LC0005S	</a:t>
                      </a:r>
                    </a:p>
                  </a:txBody>
                  <a:tcPr/>
                </a:tc>
                <a:tc>
                  <a:txBody>
                    <a:bodyPr/>
                    <a:lstStyle/>
                    <a:p>
                      <a:r>
                        <a:rPr lang="en-US" altLang="zh-CN" sz="1200" b="0" i="0" u="none" strike="noStrike" kern="1200" baseline="0" dirty="0" smtClean="0">
                          <a:solidFill>
                            <a:schemeClr val="lt1"/>
                          </a:solidFill>
                          <a:latin typeface="+mn-lt"/>
                          <a:ea typeface="+mn-ea"/>
                          <a:cs typeface="+mn-cs"/>
                        </a:rPr>
                        <a:t>LC0003S	</a:t>
                      </a:r>
                    </a:p>
                  </a:txBody>
                  <a:tcPr/>
                </a:tc>
                <a:tc>
                  <a:txBody>
                    <a:bodyPr/>
                    <a:lstStyle/>
                    <a:p>
                      <a:r>
                        <a:rPr lang="en-US" altLang="zh-CN" sz="1200" dirty="0" smtClean="0"/>
                        <a:t>LC0005L</a:t>
                      </a:r>
                      <a:endParaRPr lang="zh-CN" altLang="en-US" sz="1200" dirty="0"/>
                    </a:p>
                  </a:txBody>
                  <a:tcPr/>
                </a:tc>
                <a:extLst>
                  <a:ext uri="{0D108BD9-81ED-4DB2-BD59-A6C34878D82A}">
                    <a16:rowId xmlns:a16="http://schemas.microsoft.com/office/drawing/2014/main" val="3508469671"/>
                  </a:ext>
                </a:extLst>
              </a:tr>
              <a:tr h="0">
                <a:tc>
                  <a:txBody>
                    <a:bodyPr/>
                    <a:lstStyle/>
                    <a:p>
                      <a:r>
                        <a:rPr lang="en-US" altLang="zh-CN" sz="1200" dirty="0" smtClean="0"/>
                        <a:t>Length of light cable</a:t>
                      </a:r>
                      <a:endParaRPr lang="zh-CN" altLang="en-US" sz="1200" dirty="0"/>
                    </a:p>
                  </a:txBody>
                  <a:tcPr/>
                </a:tc>
                <a:tc>
                  <a:txBody>
                    <a:bodyPr/>
                    <a:lstStyle/>
                    <a:p>
                      <a:r>
                        <a:rPr lang="en-US" altLang="zh-CN" sz="1200" dirty="0" smtClean="0"/>
                        <a:t>3000 mm ± 5%</a:t>
                      </a:r>
                      <a:endParaRPr lang="zh-CN" altLang="en-US" sz="1200" dirty="0"/>
                    </a:p>
                  </a:txBody>
                  <a:tcPr/>
                </a:tc>
                <a:tc>
                  <a:txBody>
                    <a:bodyPr/>
                    <a:lstStyle/>
                    <a:p>
                      <a:r>
                        <a:rPr lang="en-US" altLang="zh-CN" sz="1200" dirty="0" smtClean="0"/>
                        <a:t>3000 mm ± 5%</a:t>
                      </a:r>
                      <a:endParaRPr lang="zh-CN" altLang="en-US" sz="1200" dirty="0"/>
                    </a:p>
                  </a:txBody>
                  <a:tcPr/>
                </a:tc>
                <a:tc>
                  <a:txBody>
                    <a:bodyPr/>
                    <a:lstStyle/>
                    <a:p>
                      <a:r>
                        <a:rPr lang="en-US" altLang="zh-CN" sz="1200" dirty="0" smtClean="0"/>
                        <a:t>5000 mm ± 5%</a:t>
                      </a:r>
                      <a:endParaRPr lang="zh-CN" altLang="en-US" sz="1200" dirty="0"/>
                    </a:p>
                  </a:txBody>
                  <a:tcPr/>
                </a:tc>
                <a:extLst>
                  <a:ext uri="{0D108BD9-81ED-4DB2-BD59-A6C34878D82A}">
                    <a16:rowId xmlns:a16="http://schemas.microsoft.com/office/drawing/2014/main" val="2802132209"/>
                  </a:ext>
                </a:extLst>
              </a:tr>
              <a:tr h="0">
                <a:tc>
                  <a:txBody>
                    <a:bodyPr/>
                    <a:lstStyle/>
                    <a:p>
                      <a:r>
                        <a:rPr lang="en-US" altLang="zh-CN" sz="1200" dirty="0" smtClean="0"/>
                        <a:t>Diameter of exit optical fiber</a:t>
                      </a:r>
                      <a:endParaRPr lang="zh-CN" altLang="en-US" sz="1200" dirty="0"/>
                    </a:p>
                  </a:txBody>
                  <a:tcPr/>
                </a:tc>
                <a:tc>
                  <a:txBody>
                    <a:bodyPr/>
                    <a:lstStyle/>
                    <a:p>
                      <a:pPr marL="0" marR="0" lvl="0" indent="0" algn="l" defTabSz="914430" rtl="0" eaLnBrk="1" fontAlgn="auto" latinLnBrk="0" hangingPunct="1">
                        <a:lnSpc>
                          <a:spcPct val="100000"/>
                        </a:lnSpc>
                        <a:spcBef>
                          <a:spcPts val="0"/>
                        </a:spcBef>
                        <a:spcAft>
                          <a:spcPts val="0"/>
                        </a:spcAft>
                        <a:buClrTx/>
                        <a:buSzTx/>
                        <a:buFontTx/>
                        <a:buNone/>
                        <a:tabLst/>
                        <a:defRPr/>
                      </a:pPr>
                      <a:r>
                        <a:rPr lang="el-GR" altLang="zh-CN" sz="1200" dirty="0" smtClean="0"/>
                        <a:t>Φ</a:t>
                      </a:r>
                      <a:r>
                        <a:rPr lang="en-US" altLang="zh-CN" sz="1200" dirty="0" smtClean="0"/>
                        <a:t>4.8 mm± 0.1mm</a:t>
                      </a:r>
                      <a:endParaRPr lang="zh-CN" altLang="en-US" sz="1200" dirty="0"/>
                    </a:p>
                  </a:txBody>
                  <a:tcPr/>
                </a:tc>
                <a:tc>
                  <a:txBody>
                    <a:bodyPr/>
                    <a:lstStyle/>
                    <a:p>
                      <a:pPr marL="0" marR="0" lvl="0" indent="0" algn="l" defTabSz="914430" rtl="0" eaLnBrk="1" fontAlgn="auto" latinLnBrk="0" hangingPunct="1">
                        <a:lnSpc>
                          <a:spcPct val="100000"/>
                        </a:lnSpc>
                        <a:spcBef>
                          <a:spcPts val="0"/>
                        </a:spcBef>
                        <a:spcAft>
                          <a:spcPts val="0"/>
                        </a:spcAft>
                        <a:buClrTx/>
                        <a:buSzTx/>
                        <a:buFontTx/>
                        <a:buNone/>
                        <a:tabLst/>
                        <a:defRPr/>
                      </a:pPr>
                      <a:r>
                        <a:rPr lang="el-GR" altLang="zh-CN" sz="1200" dirty="0" smtClean="0"/>
                        <a:t>Φ</a:t>
                      </a:r>
                      <a:r>
                        <a:rPr lang="en-US" altLang="zh-CN" sz="1200" dirty="0" smtClean="0"/>
                        <a:t>3.5 mm± 0.1mm</a:t>
                      </a:r>
                      <a:endParaRPr lang="zh-CN" altLang="en-US" sz="1200" dirty="0" smtClean="0"/>
                    </a:p>
                    <a:p>
                      <a:endParaRPr lang="zh-CN" altLang="en-US" sz="1200" dirty="0"/>
                    </a:p>
                  </a:txBody>
                  <a:tcPr/>
                </a:tc>
                <a:tc>
                  <a:txBody>
                    <a:bodyPr/>
                    <a:lstStyle/>
                    <a:p>
                      <a:pPr marL="0" marR="0" lvl="0" indent="0" algn="l" defTabSz="914430" rtl="0" eaLnBrk="1" fontAlgn="auto" latinLnBrk="0" hangingPunct="1">
                        <a:lnSpc>
                          <a:spcPct val="100000"/>
                        </a:lnSpc>
                        <a:spcBef>
                          <a:spcPts val="0"/>
                        </a:spcBef>
                        <a:spcAft>
                          <a:spcPts val="0"/>
                        </a:spcAft>
                        <a:buClrTx/>
                        <a:buSzTx/>
                        <a:buFontTx/>
                        <a:buNone/>
                        <a:tabLst/>
                        <a:defRPr/>
                      </a:pPr>
                      <a:r>
                        <a:rPr lang="el-GR" altLang="zh-CN" sz="1200" dirty="0" smtClean="0"/>
                        <a:t>Φ</a:t>
                      </a:r>
                      <a:r>
                        <a:rPr lang="en-US" altLang="zh-CN" sz="1200" dirty="0" smtClean="0"/>
                        <a:t>4.8 mm± 0.1mm</a:t>
                      </a:r>
                      <a:endParaRPr lang="zh-CN" altLang="en-US" sz="1200" dirty="0" smtClean="0"/>
                    </a:p>
                    <a:p>
                      <a:endParaRPr lang="zh-CN" altLang="en-US" sz="1200" dirty="0"/>
                    </a:p>
                  </a:txBody>
                  <a:tcPr/>
                </a:tc>
                <a:extLst>
                  <a:ext uri="{0D108BD9-81ED-4DB2-BD59-A6C34878D82A}">
                    <a16:rowId xmlns:a16="http://schemas.microsoft.com/office/drawing/2014/main" val="1616953263"/>
                  </a:ext>
                </a:extLst>
              </a:tr>
              <a:tr h="0">
                <a:tc>
                  <a:txBody>
                    <a:bodyPr/>
                    <a:lstStyle/>
                    <a:p>
                      <a:r>
                        <a:rPr lang="en-US" altLang="zh-CN" sz="1200" dirty="0" smtClean="0"/>
                        <a:t>Minimum bending radius</a:t>
                      </a:r>
                      <a:endParaRPr lang="zh-CN" altLang="en-US" sz="1200" dirty="0"/>
                    </a:p>
                  </a:txBody>
                  <a:tcPr/>
                </a:tc>
                <a:tc>
                  <a:txBody>
                    <a:bodyPr/>
                    <a:lstStyle/>
                    <a:p>
                      <a:pPr marL="0" marR="0" lvl="0" indent="0" algn="l" defTabSz="914430" rtl="0" eaLnBrk="1" fontAlgn="auto" latinLnBrk="0" hangingPunct="1">
                        <a:lnSpc>
                          <a:spcPct val="100000"/>
                        </a:lnSpc>
                        <a:spcBef>
                          <a:spcPts val="0"/>
                        </a:spcBef>
                        <a:spcAft>
                          <a:spcPts val="0"/>
                        </a:spcAft>
                        <a:buClrTx/>
                        <a:buSzTx/>
                        <a:buFontTx/>
                        <a:buNone/>
                        <a:tabLst/>
                        <a:defRPr/>
                      </a:pPr>
                      <a:r>
                        <a:rPr lang="en-US" altLang="zh-CN" sz="1200" dirty="0" smtClean="0"/>
                        <a:t>50mm</a:t>
                      </a:r>
                      <a:endParaRPr lang="zh-CN" altLang="en-US" sz="1200" dirty="0"/>
                    </a:p>
                  </a:txBody>
                  <a:tcPr/>
                </a:tc>
                <a:tc>
                  <a:txBody>
                    <a:bodyPr/>
                    <a:lstStyle/>
                    <a:p>
                      <a:r>
                        <a:rPr lang="en-US" altLang="zh-CN" sz="1200" dirty="0" smtClean="0"/>
                        <a:t>50mm</a:t>
                      </a:r>
                      <a:endParaRPr lang="zh-CN" altLang="en-US" sz="1200" dirty="0"/>
                    </a:p>
                  </a:txBody>
                  <a:tcPr/>
                </a:tc>
                <a:tc>
                  <a:txBody>
                    <a:bodyPr/>
                    <a:lstStyle/>
                    <a:p>
                      <a:r>
                        <a:rPr lang="en-US" altLang="zh-CN" sz="1200" dirty="0" smtClean="0"/>
                        <a:t>50mm</a:t>
                      </a:r>
                      <a:endParaRPr lang="zh-CN" altLang="en-US" sz="1200" dirty="0"/>
                    </a:p>
                  </a:txBody>
                  <a:tcPr/>
                </a:tc>
                <a:extLst>
                  <a:ext uri="{0D108BD9-81ED-4DB2-BD59-A6C34878D82A}">
                    <a16:rowId xmlns:a16="http://schemas.microsoft.com/office/drawing/2014/main" val="720205062"/>
                  </a:ext>
                </a:extLst>
              </a:tr>
              <a:tr h="0">
                <a:tc>
                  <a:txBody>
                    <a:bodyPr/>
                    <a:lstStyle/>
                    <a:p>
                      <a:r>
                        <a:rPr lang="en-US" altLang="zh-CN" sz="1200" dirty="0" smtClean="0"/>
                        <a:t>PN</a:t>
                      </a:r>
                      <a:endParaRPr lang="zh-CN" altLang="en-US" sz="1200" dirty="0"/>
                    </a:p>
                  </a:txBody>
                  <a:tcPr/>
                </a:tc>
                <a:tc>
                  <a:txBody>
                    <a:bodyPr/>
                    <a:lstStyle/>
                    <a:p>
                      <a:pPr marL="0" marR="0" lvl="0" indent="0" algn="l" defTabSz="914430" rtl="0" eaLnBrk="1" fontAlgn="auto" latinLnBrk="0" hangingPunct="1">
                        <a:lnSpc>
                          <a:spcPct val="100000"/>
                        </a:lnSpc>
                        <a:spcBef>
                          <a:spcPts val="0"/>
                        </a:spcBef>
                        <a:spcAft>
                          <a:spcPts val="0"/>
                        </a:spcAft>
                        <a:buClrTx/>
                        <a:buSzTx/>
                        <a:buFontTx/>
                        <a:buNone/>
                        <a:tabLst/>
                        <a:defRPr/>
                      </a:pPr>
                      <a:r>
                        <a:rPr lang="en-US" altLang="zh-CN" sz="1200" dirty="0" smtClean="0"/>
                        <a:t>115-071632-00</a:t>
                      </a:r>
                      <a:endParaRPr lang="zh-CN" altLang="en-US" sz="1200" dirty="0" smtClean="0"/>
                    </a:p>
                  </a:txBody>
                  <a:tcPr/>
                </a:tc>
                <a:tc>
                  <a:txBody>
                    <a:bodyPr/>
                    <a:lstStyle/>
                    <a:p>
                      <a:r>
                        <a:rPr lang="en-US" altLang="zh-CN" sz="1200" dirty="0" smtClean="0"/>
                        <a:t>115-071631-00</a:t>
                      </a:r>
                      <a:endParaRPr lang="zh-CN" altLang="en-US" sz="1200" dirty="0"/>
                    </a:p>
                  </a:txBody>
                  <a:tcPr/>
                </a:tc>
                <a:tc>
                  <a:txBody>
                    <a:bodyPr/>
                    <a:lstStyle/>
                    <a:p>
                      <a:r>
                        <a:rPr lang="en-US" altLang="zh-CN" sz="1200" dirty="0" smtClean="0"/>
                        <a:t>115-086094-00</a:t>
                      </a:r>
                      <a:endParaRPr lang="zh-CN" altLang="en-US" sz="1200" dirty="0"/>
                    </a:p>
                  </a:txBody>
                  <a:tcPr/>
                </a:tc>
                <a:extLst>
                  <a:ext uri="{0D108BD9-81ED-4DB2-BD59-A6C34878D82A}">
                    <a16:rowId xmlns:a16="http://schemas.microsoft.com/office/drawing/2014/main" val="2900816012"/>
                  </a:ext>
                </a:extLst>
              </a:tr>
            </a:tbl>
          </a:graphicData>
        </a:graphic>
      </p:graphicFrame>
      <p:sp>
        <p:nvSpPr>
          <p:cNvPr id="16" name="矩形 15"/>
          <p:cNvSpPr/>
          <p:nvPr/>
        </p:nvSpPr>
        <p:spPr>
          <a:xfrm>
            <a:off x="5058527" y="3913987"/>
            <a:ext cx="6434778" cy="923330"/>
          </a:xfrm>
          <a:prstGeom prst="rect">
            <a:avLst/>
          </a:prstGeom>
        </p:spPr>
        <p:txBody>
          <a:bodyPr wrap="square">
            <a:spAutoFit/>
          </a:bodyPr>
          <a:lstStyle/>
          <a:p>
            <a:r>
              <a:rPr lang="en-US" altLang="zh-CN" dirty="0"/>
              <a:t>If the telescope with a </a:t>
            </a:r>
            <a:r>
              <a:rPr lang="en-US" altLang="zh-CN" dirty="0" smtClean="0"/>
              <a:t>big </a:t>
            </a:r>
            <a:r>
              <a:rPr lang="en-US" altLang="zh-CN" dirty="0"/>
              <a:t>diameter, for example, </a:t>
            </a:r>
            <a:r>
              <a:rPr lang="en-US" altLang="zh-CN" dirty="0" smtClean="0"/>
              <a:t>5mm laparoscope or 10mm laparoscope. We recommend to </a:t>
            </a:r>
            <a:r>
              <a:rPr lang="en-US" altLang="zh-CN" dirty="0"/>
              <a:t>set </a:t>
            </a:r>
            <a:r>
              <a:rPr lang="en-US" altLang="zh-CN" dirty="0" smtClean="0"/>
              <a:t>6 </a:t>
            </a:r>
            <a:r>
              <a:rPr lang="en-US" altLang="zh-CN" dirty="0"/>
              <a:t>or </a:t>
            </a:r>
            <a:r>
              <a:rPr lang="en-US" altLang="zh-CN" dirty="0" smtClean="0"/>
              <a:t>7. </a:t>
            </a:r>
            <a:r>
              <a:rPr lang="en-US" altLang="zh-CN" dirty="0"/>
              <a:t>And we recommend to use a </a:t>
            </a:r>
            <a:r>
              <a:rPr lang="en-US" altLang="zh-CN" dirty="0" smtClean="0"/>
              <a:t>4.8mm </a:t>
            </a:r>
            <a:r>
              <a:rPr lang="en-US" altLang="zh-CN" dirty="0"/>
              <a:t>light guide.</a:t>
            </a:r>
          </a:p>
        </p:txBody>
      </p:sp>
      <p:pic>
        <p:nvPicPr>
          <p:cNvPr id="18" name="图片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8758" y="2420736"/>
            <a:ext cx="3672557" cy="1200211"/>
          </a:xfrm>
          <a:prstGeom prst="rect">
            <a:avLst/>
          </a:prstGeom>
        </p:spPr>
      </p:pic>
    </p:spTree>
    <p:extLst>
      <p:ext uri="{BB962C8B-B14F-4D97-AF65-F5344CB8AC3E}">
        <p14:creationId xmlns:p14="http://schemas.microsoft.com/office/powerpoint/2010/main" val="39735173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4BFB2B6-001E-42D9-9682-E9D3552C2D1B}"/>
              </a:ext>
            </a:extLst>
          </p:cNvPr>
          <p:cNvSpPr txBox="1"/>
          <p:nvPr/>
        </p:nvSpPr>
        <p:spPr>
          <a:xfrm>
            <a:off x="1022095" y="1089710"/>
            <a:ext cx="10088499" cy="1054135"/>
          </a:xfrm>
          <a:prstGeom prst="rect">
            <a:avLst/>
          </a:prstGeom>
          <a:solidFill>
            <a:srgbClr val="E7CECF"/>
          </a:solidFill>
        </p:spPr>
        <p:txBody>
          <a:bodyPr wrap="square" rtlCol="0">
            <a:spAutoFit/>
          </a:bodyPr>
          <a:lstStyle>
            <a:defPPr>
              <a:defRPr lang="zh-CN"/>
            </a:defPPr>
            <a:lvl1pPr indent="457200" algn="just">
              <a:lnSpc>
                <a:spcPts val="2500"/>
              </a:lnSpc>
              <a:defRPr sz="1400">
                <a:latin typeface="Arial" panose="020B0604020202020204" pitchFamily="34" charset="0"/>
                <a:cs typeface="Arial" panose="020B0604020202020204" pitchFamily="34" charset="0"/>
              </a:defRPr>
            </a:lvl1pPr>
          </a:lstStyle>
          <a:p>
            <a:pPr algn="l"/>
            <a:r>
              <a:rPr lang="en-US" altLang="zh-CN" dirty="0" smtClean="0"/>
              <a:t>During </a:t>
            </a:r>
            <a:r>
              <a:rPr lang="en-US" altLang="zh-CN" dirty="0"/>
              <a:t>the operation, when the doctor feels that the image is bright, it is not recommended to lower the brightness of the light source, because when the brightness of the light source is low, the image noise will become larger due to the automatic exposure in the camera system. In this case, refer to </a:t>
            </a:r>
            <a:r>
              <a:rPr lang="en-US" altLang="zh-CN" b="1" dirty="0"/>
              <a:t>the white light </a:t>
            </a:r>
            <a:r>
              <a:rPr lang="en-US" altLang="zh-CN" b="1" dirty="0" smtClean="0"/>
              <a:t>image adjustment.</a:t>
            </a:r>
            <a:endParaRPr lang="en-US" altLang="zh-CN" dirty="0"/>
          </a:p>
        </p:txBody>
      </p:sp>
      <p:sp>
        <p:nvSpPr>
          <p:cNvPr id="5"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Image setting——</a:t>
            </a:r>
            <a:r>
              <a:rPr lang="en-US" altLang="zh-CN" sz="2800" b="1" dirty="0" smtClean="0">
                <a:solidFill>
                  <a:srgbClr val="C00000"/>
                </a:solidFill>
                <a:latin typeface="+mn-lt"/>
                <a:ea typeface="+mn-ea"/>
                <a:cs typeface="+mn-ea"/>
              </a:rPr>
              <a:t>Video processor adjustment</a:t>
            </a:r>
            <a:endParaRPr lang="en-US" altLang="zh-CN" sz="2800" b="1" dirty="0">
              <a:solidFill>
                <a:srgbClr val="C00000"/>
              </a:solidFill>
              <a:latin typeface="+mn-lt"/>
              <a:ea typeface="+mn-ea"/>
              <a:cs typeface="+mn-ea"/>
            </a:endParaRPr>
          </a:p>
        </p:txBody>
      </p:sp>
      <p:pic>
        <p:nvPicPr>
          <p:cNvPr id="6" name="图片 5"/>
          <p:cNvPicPr>
            <a:picLocks noChangeAspect="1"/>
          </p:cNvPicPr>
          <p:nvPr/>
        </p:nvPicPr>
        <p:blipFill>
          <a:blip r:embed="rId3"/>
          <a:stretch>
            <a:fillRect/>
          </a:stretch>
        </p:blipFill>
        <p:spPr>
          <a:xfrm>
            <a:off x="6064472" y="2638743"/>
            <a:ext cx="3960440" cy="1247866"/>
          </a:xfrm>
          <a:prstGeom prst="rect">
            <a:avLst/>
          </a:prstGeom>
        </p:spPr>
      </p:pic>
      <p:pic>
        <p:nvPicPr>
          <p:cNvPr id="7" name="图片 6"/>
          <p:cNvPicPr>
            <a:picLocks noChangeAspect="1"/>
          </p:cNvPicPr>
          <p:nvPr/>
        </p:nvPicPr>
        <p:blipFill>
          <a:blip r:embed="rId4"/>
          <a:stretch>
            <a:fillRect/>
          </a:stretch>
        </p:blipFill>
        <p:spPr>
          <a:xfrm>
            <a:off x="1765648" y="2638743"/>
            <a:ext cx="3791594" cy="1247866"/>
          </a:xfrm>
          <a:prstGeom prst="rect">
            <a:avLst/>
          </a:prstGeom>
        </p:spPr>
      </p:pic>
      <p:sp>
        <p:nvSpPr>
          <p:cNvPr id="8" name="矩形 7">
            <a:extLst>
              <a:ext uri="{FF2B5EF4-FFF2-40B4-BE49-F238E27FC236}">
                <a16:creationId xmlns:a16="http://schemas.microsoft.com/office/drawing/2014/main" id="{5383EBDD-7BC1-4D0C-BC3A-1B14FEF54B36}"/>
              </a:ext>
            </a:extLst>
          </p:cNvPr>
          <p:cNvSpPr/>
          <p:nvPr/>
        </p:nvSpPr>
        <p:spPr>
          <a:xfrm>
            <a:off x="3613026" y="2985063"/>
            <a:ext cx="1944216" cy="4066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E0033847-E4BC-42C5-8E31-503863A690E9}"/>
              </a:ext>
            </a:extLst>
          </p:cNvPr>
          <p:cNvSpPr txBox="1"/>
          <p:nvPr/>
        </p:nvSpPr>
        <p:spPr>
          <a:xfrm>
            <a:off x="3089659" y="2143845"/>
            <a:ext cx="1263377" cy="369332"/>
          </a:xfrm>
          <a:prstGeom prst="rect">
            <a:avLst/>
          </a:prstGeom>
          <a:noFill/>
        </p:spPr>
        <p:txBody>
          <a:bodyPr wrap="square" rtlCol="0">
            <a:spAutoFit/>
          </a:bodyPr>
          <a:lstStyle/>
          <a:p>
            <a:r>
              <a:rPr lang="en-US" altLang="zh-CN" b="1" dirty="0" smtClean="0">
                <a:solidFill>
                  <a:srgbClr val="FF0000"/>
                </a:solidFill>
                <a:latin typeface="Arial" panose="020B0604020202020204" pitchFamily="34" charset="0"/>
                <a:ea typeface="黑体" panose="02010609060101010101" pitchFamily="49" charset="-122"/>
              </a:rPr>
              <a:t>AE</a:t>
            </a:r>
            <a:r>
              <a:rPr lang="zh-CN" altLang="en-US" b="1" dirty="0" smtClean="0">
                <a:solidFill>
                  <a:srgbClr val="FF0000"/>
                </a:solidFill>
                <a:latin typeface="Arial" panose="020B0604020202020204" pitchFamily="34" charset="0"/>
                <a:ea typeface="黑体" panose="02010609060101010101" pitchFamily="49" charset="-122"/>
              </a:rPr>
              <a:t> </a:t>
            </a:r>
            <a:r>
              <a:rPr lang="en-US" altLang="zh-CN" b="1" dirty="0" smtClean="0">
                <a:solidFill>
                  <a:srgbClr val="FF0000"/>
                </a:solidFill>
                <a:latin typeface="Arial" panose="020B0604020202020204" pitchFamily="34" charset="0"/>
                <a:ea typeface="黑体" panose="02010609060101010101" pitchFamily="49" charset="-122"/>
              </a:rPr>
              <a:t>value</a:t>
            </a:r>
            <a:endParaRPr lang="zh-CN" altLang="en-US" b="1" dirty="0">
              <a:solidFill>
                <a:srgbClr val="FF0000"/>
              </a:solidFill>
              <a:latin typeface="Arial" panose="020B0604020202020204" pitchFamily="34" charset="0"/>
              <a:ea typeface="黑体" panose="02010609060101010101" pitchFamily="49" charset="-122"/>
            </a:endParaRPr>
          </a:p>
        </p:txBody>
      </p:sp>
      <p:cxnSp>
        <p:nvCxnSpPr>
          <p:cNvPr id="10" name="直接箭头连接符 9">
            <a:extLst>
              <a:ext uri="{FF2B5EF4-FFF2-40B4-BE49-F238E27FC236}">
                <a16:creationId xmlns:a16="http://schemas.microsoft.com/office/drawing/2014/main" id="{1D94B077-46ED-48A5-B851-5BAEC20BFBAC}"/>
              </a:ext>
            </a:extLst>
          </p:cNvPr>
          <p:cNvCxnSpPr>
            <a:cxnSpLocks/>
          </p:cNvCxnSpPr>
          <p:nvPr/>
        </p:nvCxnSpPr>
        <p:spPr>
          <a:xfrm>
            <a:off x="3721348" y="2488832"/>
            <a:ext cx="360040" cy="4708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F910A79F-63D7-4EC3-A2AC-FDAC4D34405E}"/>
              </a:ext>
            </a:extLst>
          </p:cNvPr>
          <p:cNvSpPr/>
          <p:nvPr/>
        </p:nvSpPr>
        <p:spPr>
          <a:xfrm>
            <a:off x="8153077" y="2702446"/>
            <a:ext cx="771999" cy="23730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0BFCC717-C49D-472D-B0C2-A8F786808A03}"/>
              </a:ext>
            </a:extLst>
          </p:cNvPr>
          <p:cNvSpPr/>
          <p:nvPr/>
        </p:nvSpPr>
        <p:spPr>
          <a:xfrm>
            <a:off x="6068935" y="2947036"/>
            <a:ext cx="769786" cy="9269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022096" y="4837840"/>
            <a:ext cx="10088498" cy="1054135"/>
          </a:xfrm>
          <a:prstGeom prst="rect">
            <a:avLst/>
          </a:prstGeom>
        </p:spPr>
        <p:txBody>
          <a:bodyPr wrap="square">
            <a:spAutoFit/>
          </a:bodyPr>
          <a:lstStyle/>
          <a:p>
            <a:pPr indent="457200" algn="just">
              <a:lnSpc>
                <a:spcPts val="2500"/>
              </a:lnSpc>
            </a:pPr>
            <a:r>
              <a:rPr lang="en-US" altLang="zh-CN" dirty="0">
                <a:latin typeface="Arial" panose="020B0604020202020204" pitchFamily="34" charset="0"/>
                <a:ea typeface="黑体" panose="02010609060101010101" pitchFamily="49" charset="-122"/>
                <a:cs typeface="Arial" panose="020B0604020202020204" pitchFamily="34" charset="0"/>
              </a:rPr>
              <a:t>In R1 camera system, the parameters that control image brightness belong to the category of exposure adjustment. Namely the AE value of the main touch screen, as shown in Figure (3). The detection area and peak ratio in the exposure, as shown in Figure 4. </a:t>
            </a:r>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13" name="文本框 12">
            <a:extLst>
              <a:ext uri="{FF2B5EF4-FFF2-40B4-BE49-F238E27FC236}">
                <a16:creationId xmlns:a16="http://schemas.microsoft.com/office/drawing/2014/main" id="{B95B4ECA-09D2-4CA1-A72C-48870D6DFF56}"/>
              </a:ext>
            </a:extLst>
          </p:cNvPr>
          <p:cNvSpPr txBox="1"/>
          <p:nvPr/>
        </p:nvSpPr>
        <p:spPr>
          <a:xfrm>
            <a:off x="2712364" y="4114819"/>
            <a:ext cx="1801323"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Figure(3)  AE Value</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sp>
        <p:nvSpPr>
          <p:cNvPr id="14" name="文本框 13">
            <a:extLst>
              <a:ext uri="{FF2B5EF4-FFF2-40B4-BE49-F238E27FC236}">
                <a16:creationId xmlns:a16="http://schemas.microsoft.com/office/drawing/2014/main" id="{B95B4ECA-09D2-4CA1-A72C-48870D6DFF56}"/>
              </a:ext>
            </a:extLst>
          </p:cNvPr>
          <p:cNvSpPr txBox="1"/>
          <p:nvPr/>
        </p:nvSpPr>
        <p:spPr>
          <a:xfrm>
            <a:off x="7252668" y="4114819"/>
            <a:ext cx="1801323"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Figure(4)  Exposure</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4895278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Image setting——</a:t>
            </a:r>
            <a:r>
              <a:rPr lang="en-US" altLang="zh-CN" sz="2800" b="1" dirty="0" smtClean="0">
                <a:solidFill>
                  <a:srgbClr val="C00000"/>
                </a:solidFill>
                <a:latin typeface="+mn-lt"/>
                <a:ea typeface="+mn-ea"/>
                <a:cs typeface="+mn-ea"/>
              </a:rPr>
              <a:t>Video processor adjustment</a:t>
            </a:r>
            <a:endParaRPr lang="en-US" altLang="zh-CN" sz="2800" b="1" dirty="0">
              <a:solidFill>
                <a:srgbClr val="C00000"/>
              </a:solidFill>
              <a:latin typeface="+mn-lt"/>
              <a:ea typeface="+mn-ea"/>
              <a:cs typeface="+mn-ea"/>
            </a:endParaRPr>
          </a:p>
        </p:txBody>
      </p:sp>
      <p:sp>
        <p:nvSpPr>
          <p:cNvPr id="5" name="文本框 4">
            <a:extLst>
              <a:ext uri="{FF2B5EF4-FFF2-40B4-BE49-F238E27FC236}">
                <a16:creationId xmlns:a16="http://schemas.microsoft.com/office/drawing/2014/main" id="{65B92A80-A6DB-4349-B90B-AABBC568D2FB}"/>
              </a:ext>
            </a:extLst>
          </p:cNvPr>
          <p:cNvSpPr txBox="1"/>
          <p:nvPr/>
        </p:nvSpPr>
        <p:spPr>
          <a:xfrm>
            <a:off x="1219043" y="3256021"/>
            <a:ext cx="10288330" cy="3170099"/>
          </a:xfrm>
          <a:prstGeom prst="rect">
            <a:avLst/>
          </a:prstGeom>
          <a:noFill/>
        </p:spPr>
        <p:txBody>
          <a:bodyPr wrap="square" rtlCol="0">
            <a:spAutoFit/>
          </a:bodyPr>
          <a:lstStyle/>
          <a:p>
            <a:pPr indent="457200" algn="just">
              <a:lnSpc>
                <a:spcPts val="3000"/>
              </a:lnSpc>
            </a:pP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AE value</a:t>
            </a:r>
            <a:r>
              <a:rPr lang="en-US" altLang="zh-CN" dirty="0">
                <a:latin typeface="Arial" panose="020B0604020202020204" pitchFamily="34" charset="0"/>
                <a:ea typeface="黑体" panose="02010609060101010101" pitchFamily="49" charset="-122"/>
                <a:cs typeface="Arial" panose="020B0604020202020204" pitchFamily="34" charset="0"/>
              </a:rPr>
              <a:t>, </a:t>
            </a: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detection area </a:t>
            </a:r>
            <a:r>
              <a:rPr lang="en-US" altLang="zh-CN" dirty="0">
                <a:latin typeface="Arial" panose="020B0604020202020204" pitchFamily="34" charset="0"/>
                <a:ea typeface="黑体" panose="02010609060101010101" pitchFamily="49" charset="-122"/>
                <a:cs typeface="Arial" panose="020B0604020202020204" pitchFamily="34" charset="0"/>
              </a:rPr>
              <a:t>belong to the scope of automatic exposure adjustment. The AE value here refers to the </a:t>
            </a: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average value of image brightness </a:t>
            </a:r>
            <a:r>
              <a:rPr lang="en-US" altLang="zh-CN" dirty="0">
                <a:latin typeface="Arial" panose="020B0604020202020204" pitchFamily="34" charset="0"/>
                <a:ea typeface="黑体" panose="02010609060101010101" pitchFamily="49" charset="-122"/>
                <a:cs typeface="Arial" panose="020B0604020202020204" pitchFamily="34" charset="0"/>
              </a:rPr>
              <a:t>set by the user. The detection area refers to the </a:t>
            </a: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image area calculated by automatic exposure </a:t>
            </a:r>
            <a:r>
              <a:rPr lang="en-US" altLang="zh-CN" dirty="0">
                <a:latin typeface="Arial" panose="020B0604020202020204" pitchFamily="34" charset="0"/>
                <a:ea typeface="黑体" panose="02010609060101010101" pitchFamily="49" charset="-122"/>
                <a:cs typeface="Arial" panose="020B0604020202020204" pitchFamily="34" charset="0"/>
              </a:rPr>
              <a:t>when calculating the average value of image brightness. When a fixed AE value is specified, automatic exposure will calculate the </a:t>
            </a: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average brightness </a:t>
            </a:r>
            <a:r>
              <a:rPr lang="en-US" altLang="zh-CN" dirty="0">
                <a:latin typeface="Arial" panose="020B0604020202020204" pitchFamily="34" charset="0"/>
                <a:ea typeface="黑体" panose="02010609060101010101" pitchFamily="49" charset="-122"/>
                <a:cs typeface="Arial" panose="020B0604020202020204" pitchFamily="34" charset="0"/>
              </a:rPr>
              <a:t>of the current image based on the </a:t>
            </a: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specified detection area</a:t>
            </a:r>
            <a:r>
              <a:rPr lang="en-US" altLang="zh-CN" dirty="0">
                <a:latin typeface="Arial" panose="020B0604020202020204" pitchFamily="34" charset="0"/>
                <a:ea typeface="黑体" panose="02010609060101010101" pitchFamily="49" charset="-122"/>
                <a:cs typeface="Arial" panose="020B0604020202020204" pitchFamily="34" charset="0"/>
              </a:rPr>
              <a:t>.</a:t>
            </a:r>
          </a:p>
          <a:p>
            <a:pPr indent="457200" algn="just">
              <a:lnSpc>
                <a:spcPts val="3000"/>
              </a:lnSpc>
            </a:pPr>
            <a:r>
              <a:rPr lang="en-US" altLang="zh-CN" dirty="0">
                <a:latin typeface="Arial" panose="020B0604020202020204" pitchFamily="34" charset="0"/>
                <a:ea typeface="黑体" panose="02010609060101010101" pitchFamily="49" charset="-122"/>
                <a:cs typeface="Arial" panose="020B0604020202020204" pitchFamily="34" charset="0"/>
              </a:rPr>
              <a:t>The "</a:t>
            </a: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Peak ratio</a:t>
            </a:r>
            <a:r>
              <a:rPr lang="en-US" altLang="zh-CN" dirty="0">
                <a:latin typeface="Arial" panose="020B0604020202020204" pitchFamily="34" charset="0"/>
                <a:ea typeface="黑体" panose="02010609060101010101" pitchFamily="49" charset="-122"/>
                <a:cs typeface="Arial" panose="020B0604020202020204" pitchFamily="34" charset="0"/>
              </a:rPr>
              <a:t>" in the "Exposure Adjustment"  means that when the automatic exposure calculates the image average, the Peak Ratio assigns a weight to the overly bright area in the image. Simply put, </a:t>
            </a:r>
            <a:r>
              <a:rPr lang="en-US" altLang="zh-CN" dirty="0">
                <a:solidFill>
                  <a:srgbClr val="FF0000"/>
                </a:solidFill>
                <a:latin typeface="Arial" panose="020B0604020202020204" pitchFamily="34" charset="0"/>
                <a:ea typeface="黑体" panose="02010609060101010101" pitchFamily="49" charset="-122"/>
                <a:cs typeface="Arial" panose="020B0604020202020204" pitchFamily="34" charset="0"/>
              </a:rPr>
              <a:t>the larger the "Peak ratio" setting, the darker the image.</a:t>
            </a:r>
          </a:p>
        </p:txBody>
      </p:sp>
      <p:pic>
        <p:nvPicPr>
          <p:cNvPr id="6" name="图片 5"/>
          <p:cNvPicPr>
            <a:picLocks noChangeAspect="1"/>
          </p:cNvPicPr>
          <p:nvPr/>
        </p:nvPicPr>
        <p:blipFill>
          <a:blip r:embed="rId3"/>
          <a:stretch>
            <a:fillRect/>
          </a:stretch>
        </p:blipFill>
        <p:spPr>
          <a:xfrm>
            <a:off x="6120743" y="1356500"/>
            <a:ext cx="3960440" cy="1247866"/>
          </a:xfrm>
          <a:prstGeom prst="rect">
            <a:avLst/>
          </a:prstGeom>
        </p:spPr>
      </p:pic>
      <p:pic>
        <p:nvPicPr>
          <p:cNvPr id="7" name="图片 6"/>
          <p:cNvPicPr>
            <a:picLocks noChangeAspect="1"/>
          </p:cNvPicPr>
          <p:nvPr/>
        </p:nvPicPr>
        <p:blipFill>
          <a:blip r:embed="rId4"/>
          <a:stretch>
            <a:fillRect/>
          </a:stretch>
        </p:blipFill>
        <p:spPr>
          <a:xfrm>
            <a:off x="1821919" y="1356500"/>
            <a:ext cx="3791594" cy="1247866"/>
          </a:xfrm>
          <a:prstGeom prst="rect">
            <a:avLst/>
          </a:prstGeom>
        </p:spPr>
      </p:pic>
      <p:sp>
        <p:nvSpPr>
          <p:cNvPr id="8" name="矩形 7">
            <a:extLst>
              <a:ext uri="{FF2B5EF4-FFF2-40B4-BE49-F238E27FC236}">
                <a16:creationId xmlns:a16="http://schemas.microsoft.com/office/drawing/2014/main" id="{5383EBDD-7BC1-4D0C-BC3A-1B14FEF54B36}"/>
              </a:ext>
            </a:extLst>
          </p:cNvPr>
          <p:cNvSpPr/>
          <p:nvPr/>
        </p:nvSpPr>
        <p:spPr>
          <a:xfrm>
            <a:off x="3669297" y="1702820"/>
            <a:ext cx="1944216" cy="4066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E0033847-E4BC-42C5-8E31-503863A690E9}"/>
              </a:ext>
            </a:extLst>
          </p:cNvPr>
          <p:cNvSpPr txBox="1"/>
          <p:nvPr/>
        </p:nvSpPr>
        <p:spPr>
          <a:xfrm>
            <a:off x="3145930" y="861602"/>
            <a:ext cx="1263377" cy="369332"/>
          </a:xfrm>
          <a:prstGeom prst="rect">
            <a:avLst/>
          </a:prstGeom>
          <a:noFill/>
        </p:spPr>
        <p:txBody>
          <a:bodyPr wrap="square" rtlCol="0">
            <a:spAutoFit/>
          </a:bodyPr>
          <a:lstStyle/>
          <a:p>
            <a:r>
              <a:rPr lang="en-US" altLang="zh-CN" b="1" dirty="0" smtClean="0">
                <a:solidFill>
                  <a:srgbClr val="FF0000"/>
                </a:solidFill>
                <a:latin typeface="Arial" panose="020B0604020202020204" pitchFamily="34" charset="0"/>
                <a:ea typeface="黑体" panose="02010609060101010101" pitchFamily="49" charset="-122"/>
              </a:rPr>
              <a:t>AE</a:t>
            </a:r>
            <a:r>
              <a:rPr lang="zh-CN" altLang="en-US" b="1" dirty="0" smtClean="0">
                <a:solidFill>
                  <a:srgbClr val="FF0000"/>
                </a:solidFill>
                <a:latin typeface="Arial" panose="020B0604020202020204" pitchFamily="34" charset="0"/>
                <a:ea typeface="黑体" panose="02010609060101010101" pitchFamily="49" charset="-122"/>
              </a:rPr>
              <a:t> </a:t>
            </a:r>
            <a:r>
              <a:rPr lang="en-US" altLang="zh-CN" b="1" dirty="0" smtClean="0">
                <a:solidFill>
                  <a:srgbClr val="FF0000"/>
                </a:solidFill>
                <a:latin typeface="Arial" panose="020B0604020202020204" pitchFamily="34" charset="0"/>
                <a:ea typeface="黑体" panose="02010609060101010101" pitchFamily="49" charset="-122"/>
              </a:rPr>
              <a:t>value</a:t>
            </a:r>
            <a:endParaRPr lang="zh-CN" altLang="en-US" b="1" dirty="0">
              <a:solidFill>
                <a:srgbClr val="FF0000"/>
              </a:solidFill>
              <a:latin typeface="Arial" panose="020B0604020202020204" pitchFamily="34" charset="0"/>
              <a:ea typeface="黑体" panose="02010609060101010101" pitchFamily="49" charset="-122"/>
            </a:endParaRPr>
          </a:p>
        </p:txBody>
      </p:sp>
      <p:cxnSp>
        <p:nvCxnSpPr>
          <p:cNvPr id="10" name="直接箭头连接符 9">
            <a:extLst>
              <a:ext uri="{FF2B5EF4-FFF2-40B4-BE49-F238E27FC236}">
                <a16:creationId xmlns:a16="http://schemas.microsoft.com/office/drawing/2014/main" id="{1D94B077-46ED-48A5-B851-5BAEC20BFBAC}"/>
              </a:ext>
            </a:extLst>
          </p:cNvPr>
          <p:cNvCxnSpPr>
            <a:cxnSpLocks/>
          </p:cNvCxnSpPr>
          <p:nvPr/>
        </p:nvCxnSpPr>
        <p:spPr>
          <a:xfrm>
            <a:off x="3777619" y="1206589"/>
            <a:ext cx="360040" cy="4708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F910A79F-63D7-4EC3-A2AC-FDAC4D34405E}"/>
              </a:ext>
            </a:extLst>
          </p:cNvPr>
          <p:cNvSpPr/>
          <p:nvPr/>
        </p:nvSpPr>
        <p:spPr>
          <a:xfrm>
            <a:off x="8209348" y="1420203"/>
            <a:ext cx="771999" cy="23730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0BFCC717-C49D-472D-B0C2-A8F786808A03}"/>
              </a:ext>
            </a:extLst>
          </p:cNvPr>
          <p:cNvSpPr/>
          <p:nvPr/>
        </p:nvSpPr>
        <p:spPr>
          <a:xfrm>
            <a:off x="6125206" y="1664793"/>
            <a:ext cx="769786" cy="9269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B95B4ECA-09D2-4CA1-A72C-48870D6DFF56}"/>
              </a:ext>
            </a:extLst>
          </p:cNvPr>
          <p:cNvSpPr txBox="1"/>
          <p:nvPr/>
        </p:nvSpPr>
        <p:spPr>
          <a:xfrm>
            <a:off x="2768635" y="2832576"/>
            <a:ext cx="1801323"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Figure(3)  AE Value</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sp>
        <p:nvSpPr>
          <p:cNvPr id="14" name="文本框 13">
            <a:extLst>
              <a:ext uri="{FF2B5EF4-FFF2-40B4-BE49-F238E27FC236}">
                <a16:creationId xmlns:a16="http://schemas.microsoft.com/office/drawing/2014/main" id="{B95B4ECA-09D2-4CA1-A72C-48870D6DFF56}"/>
              </a:ext>
            </a:extLst>
          </p:cNvPr>
          <p:cNvSpPr txBox="1"/>
          <p:nvPr/>
        </p:nvSpPr>
        <p:spPr>
          <a:xfrm>
            <a:off x="7308939" y="2832576"/>
            <a:ext cx="1801323"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Figure(4)  Exposure</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42365911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Image setting——</a:t>
            </a:r>
            <a:r>
              <a:rPr lang="en-US" altLang="zh-CN" sz="2800" b="1" dirty="0" smtClean="0">
                <a:solidFill>
                  <a:srgbClr val="C00000"/>
                </a:solidFill>
                <a:latin typeface="+mn-lt"/>
                <a:ea typeface="+mn-ea"/>
                <a:cs typeface="+mn-ea"/>
              </a:rPr>
              <a:t>Video processor adjustment</a:t>
            </a:r>
            <a:endParaRPr lang="en-US" altLang="zh-CN" sz="2800" b="1" dirty="0">
              <a:solidFill>
                <a:srgbClr val="C00000"/>
              </a:solidFill>
              <a:latin typeface="+mn-lt"/>
              <a:ea typeface="+mn-ea"/>
              <a:cs typeface="+mn-ea"/>
            </a:endParaRPr>
          </a:p>
        </p:txBody>
      </p:sp>
      <p:sp>
        <p:nvSpPr>
          <p:cNvPr id="4" name="文本框 3">
            <a:extLst>
              <a:ext uri="{FF2B5EF4-FFF2-40B4-BE49-F238E27FC236}">
                <a16:creationId xmlns:a16="http://schemas.microsoft.com/office/drawing/2014/main" id="{65B92A80-A6DB-4349-B90B-AABBC568D2FB}"/>
              </a:ext>
            </a:extLst>
          </p:cNvPr>
          <p:cNvSpPr txBox="1"/>
          <p:nvPr/>
        </p:nvSpPr>
        <p:spPr>
          <a:xfrm>
            <a:off x="1022095" y="1549134"/>
            <a:ext cx="8928992" cy="2015936"/>
          </a:xfrm>
          <a:prstGeom prst="rect">
            <a:avLst/>
          </a:prstGeom>
          <a:noFill/>
        </p:spPr>
        <p:txBody>
          <a:bodyPr wrap="square" rtlCol="0">
            <a:spAutoFit/>
          </a:bodyPr>
          <a:lstStyle/>
          <a:p>
            <a:pPr indent="457200" algn="just">
              <a:lnSpc>
                <a:spcPts val="2500"/>
              </a:lnSpc>
            </a:pPr>
            <a:r>
              <a:rPr lang="en-US" altLang="zh-CN" dirty="0">
                <a:latin typeface="Arial" panose="020B0604020202020204" pitchFamily="34" charset="0"/>
                <a:ea typeface="黑体" panose="02010609060101010101" pitchFamily="49" charset="-122"/>
                <a:cs typeface="Arial" panose="020B0604020202020204" pitchFamily="34" charset="0"/>
              </a:rPr>
              <a:t>The setting of the detection area is related to the zoom ring on the camera </a:t>
            </a:r>
            <a:r>
              <a:rPr lang="en-US" altLang="zh-CN" dirty="0" smtClean="0">
                <a:latin typeface="Arial" panose="020B0604020202020204" pitchFamily="34" charset="0"/>
                <a:ea typeface="黑体" panose="02010609060101010101" pitchFamily="49" charset="-122"/>
                <a:cs typeface="Arial" panose="020B0604020202020204" pitchFamily="34" charset="0"/>
              </a:rPr>
              <a:t>head(Only R1) </a:t>
            </a:r>
            <a:r>
              <a:rPr lang="en-US" altLang="zh-CN" dirty="0">
                <a:latin typeface="Arial" panose="020B0604020202020204" pitchFamily="34" charset="0"/>
                <a:ea typeface="黑体" panose="02010609060101010101" pitchFamily="49" charset="-122"/>
                <a:cs typeface="Arial" panose="020B0604020202020204" pitchFamily="34" charset="0"/>
              </a:rPr>
              <a:t>which is displayed on the image as the size of the image circle. </a:t>
            </a:r>
          </a:p>
          <a:p>
            <a:pPr indent="457200" algn="just">
              <a:lnSpc>
                <a:spcPts val="2500"/>
              </a:lnSpc>
            </a:pPr>
            <a:r>
              <a:rPr lang="en-US" altLang="zh-CN" dirty="0">
                <a:latin typeface="Arial" panose="020B0604020202020204" pitchFamily="34" charset="0"/>
                <a:ea typeface="黑体" panose="02010609060101010101" pitchFamily="49" charset="-122"/>
                <a:cs typeface="Arial" panose="020B0604020202020204" pitchFamily="34" charset="0"/>
              </a:rPr>
              <a:t>After hundreds of surgeries analyses, it is currently recommended to </a:t>
            </a:r>
            <a:r>
              <a:rPr lang="en-US" altLang="zh-CN" dirty="0" smtClean="0">
                <a:latin typeface="Arial" panose="020B0604020202020204" pitchFamily="34" charset="0"/>
                <a:ea typeface="黑体" panose="02010609060101010101" pitchFamily="49" charset="-122"/>
                <a:cs typeface="Arial" panose="020B0604020202020204" pitchFamily="34" charset="0"/>
              </a:rPr>
              <a:t>zoom </a:t>
            </a:r>
            <a:r>
              <a:rPr lang="en-US" altLang="zh-CN" dirty="0">
                <a:latin typeface="Arial" panose="020B0604020202020204" pitchFamily="34" charset="0"/>
                <a:ea typeface="黑体" panose="02010609060101010101" pitchFamily="49" charset="-122"/>
                <a:cs typeface="Arial" panose="020B0604020202020204" pitchFamily="34" charset="0"/>
              </a:rPr>
              <a:t>in </a:t>
            </a:r>
            <a:r>
              <a:rPr lang="en-US" altLang="zh-CN" dirty="0" smtClean="0">
                <a:latin typeface="Arial" panose="020B0604020202020204" pitchFamily="34" charset="0"/>
                <a:ea typeface="黑体" panose="02010609060101010101" pitchFamily="49" charset="-122"/>
                <a:cs typeface="Arial" panose="020B0604020202020204" pitchFamily="34" charset="0"/>
              </a:rPr>
              <a:t>the image as big as shown </a:t>
            </a:r>
            <a:r>
              <a:rPr lang="en-US" altLang="zh-CN" dirty="0">
                <a:latin typeface="Arial" panose="020B0604020202020204" pitchFamily="34" charset="0"/>
                <a:ea typeface="黑体" panose="02010609060101010101" pitchFamily="49" charset="-122"/>
                <a:cs typeface="Arial" panose="020B0604020202020204" pitchFamily="34" charset="0"/>
              </a:rPr>
              <a:t>in Figure (5). In actual use, if the doctor likes to use full screen, the image difference will not change too much without changing the detection area, as shown in Figure (6</a:t>
            </a:r>
            <a:r>
              <a:rPr lang="en-US" altLang="zh-CN" dirty="0" smtClean="0">
                <a:latin typeface="Arial" panose="020B0604020202020204" pitchFamily="34" charset="0"/>
                <a:ea typeface="黑体" panose="02010609060101010101" pitchFamily="49" charset="-122"/>
                <a:cs typeface="Arial" panose="020B0604020202020204" pitchFamily="34" charset="0"/>
              </a:rPr>
              <a:t>).</a:t>
            </a:r>
          </a:p>
        </p:txBody>
      </p:sp>
      <p:pic>
        <p:nvPicPr>
          <p:cNvPr id="5" name="图片 4">
            <a:extLst>
              <a:ext uri="{FF2B5EF4-FFF2-40B4-BE49-F238E27FC236}">
                <a16:creationId xmlns:a16="http://schemas.microsoft.com/office/drawing/2014/main" id="{6BAB596A-3880-446D-8066-0EE1293C29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6305" y="4086614"/>
            <a:ext cx="3096344" cy="1741694"/>
          </a:xfrm>
          <a:prstGeom prst="rect">
            <a:avLst/>
          </a:prstGeom>
        </p:spPr>
      </p:pic>
      <p:pic>
        <p:nvPicPr>
          <p:cNvPr id="6" name="图片 5">
            <a:extLst>
              <a:ext uri="{FF2B5EF4-FFF2-40B4-BE49-F238E27FC236}">
                <a16:creationId xmlns:a16="http://schemas.microsoft.com/office/drawing/2014/main" id="{1030EB82-F680-4113-9D19-8FD69C9574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55162" y="4086614"/>
            <a:ext cx="3096344" cy="1741694"/>
          </a:xfrm>
          <a:prstGeom prst="rect">
            <a:avLst/>
          </a:prstGeom>
        </p:spPr>
      </p:pic>
      <p:sp>
        <p:nvSpPr>
          <p:cNvPr id="7" name="文本框 6">
            <a:extLst>
              <a:ext uri="{FF2B5EF4-FFF2-40B4-BE49-F238E27FC236}">
                <a16:creationId xmlns:a16="http://schemas.microsoft.com/office/drawing/2014/main" id="{B95B4ECA-09D2-4CA1-A72C-48870D6DFF56}"/>
              </a:ext>
            </a:extLst>
          </p:cNvPr>
          <p:cNvSpPr txBox="1"/>
          <p:nvPr/>
        </p:nvSpPr>
        <p:spPr>
          <a:xfrm>
            <a:off x="2116305" y="5867902"/>
            <a:ext cx="3148415"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Figure(5)  Recommended image size</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sp>
        <p:nvSpPr>
          <p:cNvPr id="8" name="文本框 7">
            <a:extLst>
              <a:ext uri="{FF2B5EF4-FFF2-40B4-BE49-F238E27FC236}">
                <a16:creationId xmlns:a16="http://schemas.microsoft.com/office/drawing/2014/main" id="{B95B4ECA-09D2-4CA1-A72C-48870D6DFF56}"/>
              </a:ext>
            </a:extLst>
          </p:cNvPr>
          <p:cNvSpPr txBox="1"/>
          <p:nvPr/>
        </p:nvSpPr>
        <p:spPr>
          <a:xfrm>
            <a:off x="6129126" y="5828307"/>
            <a:ext cx="3148415"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Figure(6)  Full screen image size</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sp>
        <p:nvSpPr>
          <p:cNvPr id="2" name="矩形 1"/>
          <p:cNvSpPr/>
          <p:nvPr/>
        </p:nvSpPr>
        <p:spPr>
          <a:xfrm>
            <a:off x="1022095" y="838810"/>
            <a:ext cx="2188420" cy="646331"/>
          </a:xfrm>
          <a:prstGeom prst="rect">
            <a:avLst/>
          </a:prstGeom>
        </p:spPr>
        <p:txBody>
          <a:bodyPr wrap="none">
            <a:spAutoFit/>
          </a:bodyPr>
          <a:lstStyle/>
          <a:p>
            <a:pPr>
              <a:lnSpc>
                <a:spcPct val="150000"/>
              </a:lnSpc>
            </a:pPr>
            <a:r>
              <a:rPr lang="en-US" altLang="zh-CN" sz="2400" dirty="0" smtClean="0">
                <a:solidFill>
                  <a:srgbClr val="C00000"/>
                </a:solidFill>
                <a:latin typeface="Arial" panose="020B0604020202020204" pitchFamily="34" charset="0"/>
                <a:ea typeface="微软雅黑" panose="020B0503020204020204" pitchFamily="34" charset="-122"/>
                <a:cs typeface="Arial" panose="020B0604020202020204" pitchFamily="34" charset="0"/>
              </a:rPr>
              <a:t>Detection </a:t>
            </a:r>
            <a:r>
              <a:rPr lang="en-US" altLang="zh-CN" sz="2400" dirty="0">
                <a:solidFill>
                  <a:srgbClr val="C00000"/>
                </a:solidFill>
                <a:latin typeface="Arial" panose="020B0604020202020204" pitchFamily="34" charset="0"/>
                <a:ea typeface="微软雅黑" panose="020B0503020204020204" pitchFamily="34" charset="-122"/>
                <a:cs typeface="Arial" panose="020B0604020202020204" pitchFamily="34" charset="0"/>
              </a:rPr>
              <a:t>area</a:t>
            </a:r>
          </a:p>
        </p:txBody>
      </p:sp>
      <p:pic>
        <p:nvPicPr>
          <p:cNvPr id="9" name="图片 8">
            <a:extLst>
              <a:ext uri="{FF2B5EF4-FFF2-40B4-BE49-F238E27FC236}">
                <a16:creationId xmlns:a16="http://schemas.microsoft.com/office/drawing/2014/main" id="{94D812FD-4AFF-4DEC-9C9E-2760E990BBB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6578574">
            <a:off x="9625373" y="3290074"/>
            <a:ext cx="2688152" cy="907726"/>
          </a:xfrm>
          <a:prstGeom prst="rect">
            <a:avLst/>
          </a:prstGeom>
        </p:spPr>
      </p:pic>
    </p:spTree>
    <p:extLst>
      <p:ext uri="{BB962C8B-B14F-4D97-AF65-F5344CB8AC3E}">
        <p14:creationId xmlns:p14="http://schemas.microsoft.com/office/powerpoint/2010/main" val="39031247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Image setting——</a:t>
            </a:r>
            <a:r>
              <a:rPr lang="en-US" altLang="zh-CN" sz="2800" b="1" dirty="0" smtClean="0">
                <a:solidFill>
                  <a:srgbClr val="C00000"/>
                </a:solidFill>
                <a:latin typeface="+mn-lt"/>
                <a:ea typeface="+mn-ea"/>
                <a:cs typeface="+mn-ea"/>
              </a:rPr>
              <a:t>Video processor adjustment</a:t>
            </a:r>
            <a:endParaRPr lang="en-US" altLang="zh-CN" sz="2800" b="1" dirty="0">
              <a:solidFill>
                <a:srgbClr val="C00000"/>
              </a:solidFill>
              <a:latin typeface="+mn-lt"/>
              <a:ea typeface="+mn-ea"/>
              <a:cs typeface="+mn-ea"/>
            </a:endParaRPr>
          </a:p>
        </p:txBody>
      </p:sp>
      <p:pic>
        <p:nvPicPr>
          <p:cNvPr id="4" name="图片 3"/>
          <p:cNvPicPr>
            <a:picLocks noChangeAspect="1"/>
          </p:cNvPicPr>
          <p:nvPr/>
        </p:nvPicPr>
        <p:blipFill>
          <a:blip r:embed="rId3"/>
          <a:stretch>
            <a:fillRect/>
          </a:stretch>
        </p:blipFill>
        <p:spPr>
          <a:xfrm>
            <a:off x="2087106" y="4879617"/>
            <a:ext cx="3791594" cy="1247866"/>
          </a:xfrm>
          <a:prstGeom prst="rect">
            <a:avLst/>
          </a:prstGeom>
        </p:spPr>
      </p:pic>
      <p:sp>
        <p:nvSpPr>
          <p:cNvPr id="5" name="矩形 4">
            <a:extLst>
              <a:ext uri="{FF2B5EF4-FFF2-40B4-BE49-F238E27FC236}">
                <a16:creationId xmlns:a16="http://schemas.microsoft.com/office/drawing/2014/main" id="{7596EB7F-C0C4-4A01-83AE-27FD1886B214}"/>
              </a:ext>
            </a:extLst>
          </p:cNvPr>
          <p:cNvSpPr>
            <a:spLocks noChangeArrowheads="1"/>
          </p:cNvSpPr>
          <p:nvPr/>
        </p:nvSpPr>
        <p:spPr bwMode="auto">
          <a:xfrm>
            <a:off x="1022095" y="763465"/>
            <a:ext cx="3300904" cy="646331"/>
          </a:xfrm>
          <a:prstGeom prst="rect">
            <a:avLst/>
          </a:prstGeom>
          <a:extLst/>
        </p:spPr>
        <p:txBody>
          <a:bodyPr wrap="none">
            <a:spAutoFit/>
          </a:bodyPr>
          <a:lstStyle/>
          <a:p>
            <a:pPr>
              <a:lnSpc>
                <a:spcPct val="150000"/>
              </a:lnSpc>
            </a:pPr>
            <a:r>
              <a:rPr lang="en-US" altLang="zh-CN" sz="2400" dirty="0">
                <a:solidFill>
                  <a:srgbClr val="C00000"/>
                </a:solidFill>
                <a:latin typeface="Arial" panose="020B0604020202020204" pitchFamily="34" charset="0"/>
                <a:ea typeface="微软雅黑" panose="020B0503020204020204" pitchFamily="34" charset="-122"/>
                <a:cs typeface="Arial" panose="020B0604020202020204" pitchFamily="34" charset="0"/>
              </a:rPr>
              <a:t>Adjustment suggestion</a:t>
            </a:r>
          </a:p>
        </p:txBody>
      </p:sp>
      <p:sp>
        <p:nvSpPr>
          <p:cNvPr id="6" name="文本框 5">
            <a:extLst>
              <a:ext uri="{FF2B5EF4-FFF2-40B4-BE49-F238E27FC236}">
                <a16:creationId xmlns:a16="http://schemas.microsoft.com/office/drawing/2014/main" id="{65B92A80-A6DB-4349-B90B-AABBC568D2FB}"/>
              </a:ext>
            </a:extLst>
          </p:cNvPr>
          <p:cNvSpPr txBox="1"/>
          <p:nvPr/>
        </p:nvSpPr>
        <p:spPr>
          <a:xfrm>
            <a:off x="1328535" y="1365100"/>
            <a:ext cx="8712968" cy="3416320"/>
          </a:xfrm>
          <a:prstGeom prst="rect">
            <a:avLst/>
          </a:prstGeom>
          <a:noFill/>
        </p:spPr>
        <p:txBody>
          <a:bodyPr wrap="square" rtlCol="0">
            <a:spAutoFit/>
          </a:bodyPr>
          <a:lstStyle/>
          <a:p>
            <a:pPr marL="342900" indent="-342900" algn="just">
              <a:buFont typeface="+mj-lt"/>
              <a:buAutoNum type="arabicPeriod"/>
            </a:pPr>
            <a:r>
              <a:rPr lang="en-US" altLang="zh-CN" dirty="0">
                <a:latin typeface="Arial" panose="020B0604020202020204" pitchFamily="34" charset="0"/>
                <a:cs typeface="Arial" panose="020B0604020202020204" pitchFamily="34" charset="0"/>
              </a:rPr>
              <a:t>If the doctor feels that the image is too dark, he should first increase the AE value shown in Figure (3). </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gn="just">
              <a:buFont typeface="+mj-lt"/>
              <a:buAutoNum type="arabicPeriod"/>
            </a:pPr>
            <a:r>
              <a:rPr lang="en-US" altLang="zh-CN" dirty="0">
                <a:latin typeface="Arial" panose="020B0604020202020204" pitchFamily="34" charset="0"/>
                <a:ea typeface="黑体" panose="02010609060101010101" pitchFamily="49" charset="-122"/>
                <a:cs typeface="Arial" panose="020B0604020202020204" pitchFamily="34" charset="0"/>
              </a:rPr>
              <a:t>If the doctor feels that the image is too bright, he should first lower the AE value by one level (the default is 4 levels). If he still feels that the image is too bright, he can appropriately increase the </a:t>
            </a:r>
            <a:r>
              <a:rPr lang="en-US" altLang="zh-CN" dirty="0" smtClean="0">
                <a:latin typeface="Arial" panose="020B0604020202020204" pitchFamily="34" charset="0"/>
                <a:ea typeface="黑体" panose="02010609060101010101" pitchFamily="49" charset="-122"/>
                <a:cs typeface="Arial" panose="020B0604020202020204" pitchFamily="34" charset="0"/>
              </a:rPr>
              <a:t>“Peak ratio" </a:t>
            </a:r>
            <a:r>
              <a:rPr lang="en-US" altLang="zh-CN" dirty="0">
                <a:latin typeface="Arial" panose="020B0604020202020204" pitchFamily="34" charset="0"/>
                <a:ea typeface="黑体" panose="02010609060101010101" pitchFamily="49" charset="-122"/>
                <a:cs typeface="Arial" panose="020B0604020202020204" pitchFamily="34" charset="0"/>
              </a:rPr>
              <a:t>value in Figure (4</a:t>
            </a:r>
            <a:r>
              <a:rPr lang="en-US" altLang="zh-CN"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gn="just">
              <a:buFont typeface="+mj-lt"/>
              <a:buAutoNum type="arabicPeriod"/>
            </a:pPr>
            <a:r>
              <a:rPr lang="en-US" altLang="zh-CN" dirty="0">
                <a:latin typeface="Arial" panose="020B0604020202020204" pitchFamily="34" charset="0"/>
                <a:ea typeface="黑体" panose="02010609060101010101" pitchFamily="49" charset="-122"/>
                <a:cs typeface="Arial" panose="020B0604020202020204" pitchFamily="34" charset="0"/>
              </a:rPr>
              <a:t>If the doctor feels that the reflective points in the image are dazzling, he should first increase the "Peak ratio" value in Figure (4</a:t>
            </a:r>
            <a:r>
              <a:rPr lang="en-US" altLang="zh-CN" dirty="0" smtClean="0">
                <a:latin typeface="Arial" panose="020B0604020202020204" pitchFamily="34" charset="0"/>
                <a:ea typeface="黑体" panose="02010609060101010101" pitchFamily="49" charset="-122"/>
                <a:cs typeface="Arial" panose="020B0604020202020204" pitchFamily="34" charset="0"/>
              </a:rPr>
              <a:t>).</a:t>
            </a:r>
          </a:p>
          <a:p>
            <a:pPr marL="342900" indent="-342900" algn="just">
              <a:buFont typeface="+mj-lt"/>
              <a:buAutoNum type="arabicPeriod"/>
            </a:pPr>
            <a:r>
              <a:rPr lang="en-US" altLang="zh-CN" dirty="0">
                <a:latin typeface="Arial" panose="020B0604020202020204" pitchFamily="34" charset="0"/>
                <a:cs typeface="Arial" panose="020B0604020202020204" pitchFamily="34" charset="0"/>
              </a:rPr>
              <a:t>It is not recommended to adjust the </a:t>
            </a:r>
            <a:r>
              <a:rPr lang="en-US" altLang="zh-CN" dirty="0" smtClean="0">
                <a:latin typeface="Arial" panose="020B0604020202020204" pitchFamily="34" charset="0"/>
                <a:cs typeface="Arial" panose="020B0604020202020204" pitchFamily="34" charset="0"/>
              </a:rPr>
              <a:t>“Detection </a:t>
            </a:r>
            <a:r>
              <a:rPr lang="en-US" altLang="zh-CN" dirty="0">
                <a:latin typeface="Arial" panose="020B0604020202020204" pitchFamily="34" charset="0"/>
                <a:cs typeface="Arial" panose="020B0604020202020204" pitchFamily="34" charset="0"/>
              </a:rPr>
              <a:t>Area" </a:t>
            </a:r>
            <a:r>
              <a:rPr lang="en-US" altLang="zh-CN" dirty="0" smtClean="0">
                <a:latin typeface="Arial" panose="020B0604020202020204" pitchFamily="34" charset="0"/>
                <a:cs typeface="Arial" panose="020B0604020202020204" pitchFamily="34" charset="0"/>
              </a:rPr>
              <a:t>in </a:t>
            </a:r>
            <a:r>
              <a:rPr lang="en-US" altLang="zh-CN" dirty="0">
                <a:latin typeface="Arial" panose="020B0604020202020204" pitchFamily="34" charset="0"/>
                <a:cs typeface="Arial" panose="020B0604020202020204" pitchFamily="34" charset="0"/>
              </a:rPr>
              <a:t>Figure (4</a:t>
            </a:r>
            <a:r>
              <a:rPr lang="en-US" altLang="zh-CN" dirty="0" smtClean="0">
                <a:latin typeface="Arial" panose="020B0604020202020204" pitchFamily="34" charset="0"/>
                <a:cs typeface="Arial" panose="020B0604020202020204" pitchFamily="34" charset="0"/>
              </a:rPr>
              <a:t>).</a:t>
            </a:r>
          </a:p>
          <a:p>
            <a:pPr marL="342900" indent="-342900" algn="just">
              <a:buFont typeface="+mj-lt"/>
              <a:buAutoNum type="arabicPeriod"/>
            </a:pPr>
            <a:r>
              <a:rPr lang="en-US" altLang="zh-CN" dirty="0">
                <a:latin typeface="Arial" panose="020B0604020202020204" pitchFamily="34" charset="0"/>
                <a:ea typeface="黑体" panose="02010609060101010101" pitchFamily="49" charset="-122"/>
                <a:cs typeface="Arial" panose="020B0604020202020204" pitchFamily="34" charset="0"/>
              </a:rPr>
              <a:t>If it is a 5mm laparoscope and you find that the image is dark and the noise is too loud, you can increase the light source by one level, increase the AE value, decrease the "Peak ratio" value, and adjust the combination of the three to improve the image.</a:t>
            </a:r>
          </a:p>
        </p:txBody>
      </p:sp>
      <p:sp>
        <p:nvSpPr>
          <p:cNvPr id="7" name="矩形 6">
            <a:extLst>
              <a:ext uri="{FF2B5EF4-FFF2-40B4-BE49-F238E27FC236}">
                <a16:creationId xmlns:a16="http://schemas.microsoft.com/office/drawing/2014/main" id="{4F899220-A3D0-4DE3-BF1E-820470B416E9}"/>
              </a:ext>
            </a:extLst>
          </p:cNvPr>
          <p:cNvSpPr/>
          <p:nvPr/>
        </p:nvSpPr>
        <p:spPr>
          <a:xfrm>
            <a:off x="4082108" y="5300563"/>
            <a:ext cx="1602911" cy="3077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02D528B3-564A-44E4-9284-820AA0221D42}"/>
              </a:ext>
            </a:extLst>
          </p:cNvPr>
          <p:cNvSpPr txBox="1"/>
          <p:nvPr/>
        </p:nvSpPr>
        <p:spPr>
          <a:xfrm>
            <a:off x="4017399" y="4833951"/>
            <a:ext cx="712405" cy="338554"/>
          </a:xfrm>
          <a:prstGeom prst="rect">
            <a:avLst/>
          </a:prstGeom>
          <a:noFill/>
        </p:spPr>
        <p:txBody>
          <a:bodyPr wrap="square" rtlCol="0">
            <a:spAutoFit/>
          </a:bodyPr>
          <a:lstStyle/>
          <a:p>
            <a:r>
              <a:rPr lang="en-US" altLang="zh-CN" sz="1600" b="1" dirty="0">
                <a:solidFill>
                  <a:srgbClr val="FF0000"/>
                </a:solidFill>
                <a:latin typeface="Arial" panose="020B0604020202020204" pitchFamily="34" charset="0"/>
                <a:ea typeface="黑体" panose="02010609060101010101" pitchFamily="49" charset="-122"/>
              </a:rPr>
              <a:t>AE</a:t>
            </a:r>
            <a:r>
              <a:rPr lang="zh-CN" altLang="en-US" sz="1600" b="1" dirty="0">
                <a:solidFill>
                  <a:srgbClr val="FF0000"/>
                </a:solidFill>
                <a:latin typeface="Arial" panose="020B0604020202020204" pitchFamily="34" charset="0"/>
                <a:ea typeface="黑体" panose="02010609060101010101" pitchFamily="49" charset="-122"/>
              </a:rPr>
              <a:t>值</a:t>
            </a:r>
          </a:p>
        </p:txBody>
      </p:sp>
      <p:cxnSp>
        <p:nvCxnSpPr>
          <p:cNvPr id="9" name="直接箭头连接符 8">
            <a:extLst>
              <a:ext uri="{FF2B5EF4-FFF2-40B4-BE49-F238E27FC236}">
                <a16:creationId xmlns:a16="http://schemas.microsoft.com/office/drawing/2014/main" id="{FD366C1E-90D3-4A3F-8D8D-7BD0E0736022}"/>
              </a:ext>
            </a:extLst>
          </p:cNvPr>
          <p:cNvCxnSpPr>
            <a:cxnSpLocks/>
          </p:cNvCxnSpPr>
          <p:nvPr/>
        </p:nvCxnSpPr>
        <p:spPr>
          <a:xfrm>
            <a:off x="4581386" y="5122296"/>
            <a:ext cx="251104" cy="3031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B95B4ECA-09D2-4CA1-A72C-48870D6DFF56}"/>
              </a:ext>
            </a:extLst>
          </p:cNvPr>
          <p:cNvSpPr txBox="1"/>
          <p:nvPr/>
        </p:nvSpPr>
        <p:spPr>
          <a:xfrm>
            <a:off x="3806276" y="6265020"/>
            <a:ext cx="1801323"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Figure(3)  AE Value</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pic>
        <p:nvPicPr>
          <p:cNvPr id="11" name="图片 10"/>
          <p:cNvPicPr>
            <a:picLocks noChangeAspect="1"/>
          </p:cNvPicPr>
          <p:nvPr/>
        </p:nvPicPr>
        <p:blipFill>
          <a:blip r:embed="rId4"/>
          <a:stretch>
            <a:fillRect/>
          </a:stretch>
        </p:blipFill>
        <p:spPr>
          <a:xfrm>
            <a:off x="6182269" y="4879617"/>
            <a:ext cx="3960440" cy="1247866"/>
          </a:xfrm>
          <a:prstGeom prst="rect">
            <a:avLst/>
          </a:prstGeom>
        </p:spPr>
      </p:pic>
      <p:sp>
        <p:nvSpPr>
          <p:cNvPr id="12" name="文本框 11">
            <a:extLst>
              <a:ext uri="{FF2B5EF4-FFF2-40B4-BE49-F238E27FC236}">
                <a16:creationId xmlns:a16="http://schemas.microsoft.com/office/drawing/2014/main" id="{B95B4ECA-09D2-4CA1-A72C-48870D6DFF56}"/>
              </a:ext>
            </a:extLst>
          </p:cNvPr>
          <p:cNvSpPr txBox="1"/>
          <p:nvPr/>
        </p:nvSpPr>
        <p:spPr>
          <a:xfrm>
            <a:off x="6897467" y="6265019"/>
            <a:ext cx="1801323"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Figure(4)  Exposure</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26556450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Image setting——</a:t>
            </a:r>
            <a:r>
              <a:rPr lang="en-US" altLang="zh-CN" sz="2800" b="1" dirty="0" smtClean="0">
                <a:solidFill>
                  <a:srgbClr val="C00000"/>
                </a:solidFill>
                <a:latin typeface="+mn-lt"/>
                <a:ea typeface="+mn-ea"/>
                <a:cs typeface="+mn-ea"/>
              </a:rPr>
              <a:t>Video processor adjustment</a:t>
            </a:r>
            <a:endParaRPr lang="en-US" altLang="zh-CN" sz="2800" b="1" dirty="0">
              <a:solidFill>
                <a:srgbClr val="C00000"/>
              </a:solidFill>
              <a:latin typeface="+mn-lt"/>
              <a:ea typeface="+mn-ea"/>
              <a:cs typeface="+mn-ea"/>
            </a:endParaRPr>
          </a:p>
        </p:txBody>
      </p:sp>
      <p:sp>
        <p:nvSpPr>
          <p:cNvPr id="4" name="矩形 3">
            <a:extLst>
              <a:ext uri="{FF2B5EF4-FFF2-40B4-BE49-F238E27FC236}">
                <a16:creationId xmlns:a16="http://schemas.microsoft.com/office/drawing/2014/main" id="{7596EB7F-C0C4-4A01-83AE-27FD1886B214}"/>
              </a:ext>
            </a:extLst>
          </p:cNvPr>
          <p:cNvSpPr>
            <a:spLocks noChangeArrowheads="1"/>
          </p:cNvSpPr>
          <p:nvPr/>
        </p:nvSpPr>
        <p:spPr bwMode="auto">
          <a:xfrm>
            <a:off x="1022095" y="886549"/>
            <a:ext cx="2513830" cy="646331"/>
          </a:xfrm>
          <a:prstGeom prst="rect">
            <a:avLst/>
          </a:prstGeom>
          <a:extLst/>
        </p:spPr>
        <p:txBody>
          <a:bodyPr wrap="none">
            <a:spAutoFit/>
          </a:bodyPr>
          <a:lstStyle/>
          <a:p>
            <a:pPr>
              <a:lnSpc>
                <a:spcPct val="150000"/>
              </a:lnSpc>
            </a:pPr>
            <a:r>
              <a:rPr lang="en-US" altLang="zh-CN" sz="2400" dirty="0">
                <a:solidFill>
                  <a:srgbClr val="C00000"/>
                </a:solidFill>
                <a:latin typeface="Arial" panose="020B0604020202020204" pitchFamily="34" charset="0"/>
                <a:ea typeface="微软雅黑" panose="020B0503020204020204" pitchFamily="34" charset="-122"/>
                <a:cs typeface="Arial" panose="020B0604020202020204" pitchFamily="34" charset="0"/>
              </a:rPr>
              <a:t>Color adjustment</a:t>
            </a:r>
          </a:p>
        </p:txBody>
      </p:sp>
      <p:sp>
        <p:nvSpPr>
          <p:cNvPr id="5" name="文本框 4">
            <a:extLst>
              <a:ext uri="{FF2B5EF4-FFF2-40B4-BE49-F238E27FC236}">
                <a16:creationId xmlns:a16="http://schemas.microsoft.com/office/drawing/2014/main" id="{65B92A80-A6DB-4349-B90B-AABBC568D2FB}"/>
              </a:ext>
            </a:extLst>
          </p:cNvPr>
          <p:cNvSpPr txBox="1"/>
          <p:nvPr/>
        </p:nvSpPr>
        <p:spPr>
          <a:xfrm>
            <a:off x="1188563" y="3729960"/>
            <a:ext cx="9586772" cy="2585323"/>
          </a:xfrm>
          <a:prstGeom prst="rect">
            <a:avLst/>
          </a:prstGeom>
          <a:noFill/>
        </p:spPr>
        <p:txBody>
          <a:bodyPr wrap="square" rtlCol="0">
            <a:spAutoFit/>
          </a:bodyPr>
          <a:lstStyle/>
          <a:p>
            <a:pPr indent="457200" algn="just"/>
            <a:r>
              <a:rPr lang="en-US" altLang="zh-CN" dirty="0">
                <a:latin typeface="Arial" panose="020B0604020202020204" pitchFamily="34" charset="0"/>
                <a:ea typeface="黑体" panose="02010609060101010101" pitchFamily="49" charset="-122"/>
                <a:cs typeface="Arial" panose="020B0604020202020204" pitchFamily="34" charset="0"/>
              </a:rPr>
              <a:t>In </a:t>
            </a:r>
            <a:r>
              <a:rPr lang="en-US" altLang="zh-CN" dirty="0" smtClean="0">
                <a:latin typeface="Arial" panose="020B0604020202020204" pitchFamily="34" charset="0"/>
                <a:ea typeface="黑体" panose="02010609060101010101" pitchFamily="49" charset="-122"/>
                <a:cs typeface="Arial" panose="020B0604020202020204" pitchFamily="34" charset="0"/>
              </a:rPr>
              <a:t>U1/R1 </a:t>
            </a:r>
            <a:r>
              <a:rPr lang="en-US" altLang="zh-CN" dirty="0">
                <a:latin typeface="Arial" panose="020B0604020202020204" pitchFamily="34" charset="0"/>
                <a:ea typeface="黑体" panose="02010609060101010101" pitchFamily="49" charset="-122"/>
                <a:cs typeface="Arial" panose="020B0604020202020204" pitchFamily="34" charset="0"/>
              </a:rPr>
              <a:t>camera system, there are three parameters for color adjustment, namely red gain(Paint red), blue gain(Paint blue) and saturation, as shown in Figure (7). When adjusting colors, adjust colors according to the principle of three primary colors, as shown in Figure (8</a:t>
            </a:r>
            <a:r>
              <a:rPr lang="en-US" altLang="zh-CN" dirty="0" smtClean="0">
                <a:latin typeface="Arial" panose="020B0604020202020204" pitchFamily="34" charset="0"/>
                <a:ea typeface="黑体" panose="02010609060101010101" pitchFamily="49" charset="-122"/>
                <a:cs typeface="Arial" panose="020B0604020202020204" pitchFamily="34" charset="0"/>
              </a:rPr>
              <a:t>). </a:t>
            </a:r>
            <a:r>
              <a:rPr lang="en-US" altLang="zh-CN" dirty="0">
                <a:latin typeface="Arial" panose="020B0604020202020204" pitchFamily="34" charset="0"/>
                <a:ea typeface="黑体" panose="02010609060101010101" pitchFamily="49" charset="-122"/>
                <a:cs typeface="Arial" panose="020B0604020202020204" pitchFamily="34" charset="0"/>
              </a:rPr>
              <a:t>Color adjustment suggestions:</a:t>
            </a:r>
          </a:p>
          <a:p>
            <a:pPr indent="-342900" algn="just">
              <a:buFont typeface="+mj-lt"/>
              <a:buAutoNum type="arabicPeriod"/>
            </a:pPr>
            <a:r>
              <a:rPr lang="en-US" altLang="zh-CN" dirty="0">
                <a:latin typeface="Arial" panose="020B0604020202020204" pitchFamily="34" charset="0"/>
                <a:ea typeface="黑体" panose="02010609060101010101" pitchFamily="49" charset="-122"/>
                <a:cs typeface="Arial" panose="020B0604020202020204" pitchFamily="34" charset="0"/>
              </a:rPr>
              <a:t>The greater the saturation value, the darker the color of the image and the brighter the visual </a:t>
            </a:r>
            <a:r>
              <a:rPr lang="en-US" altLang="zh-CN" dirty="0" smtClean="0">
                <a:latin typeface="Arial" panose="020B0604020202020204" pitchFamily="34" charset="0"/>
                <a:ea typeface="黑体" panose="02010609060101010101" pitchFamily="49" charset="-122"/>
                <a:cs typeface="Arial" panose="020B0604020202020204" pitchFamily="34" charset="0"/>
              </a:rPr>
              <a:t>experience. On </a:t>
            </a:r>
            <a:r>
              <a:rPr lang="en-US" altLang="zh-CN" dirty="0">
                <a:latin typeface="Arial" panose="020B0604020202020204" pitchFamily="34" charset="0"/>
                <a:ea typeface="黑体" panose="02010609060101010101" pitchFamily="49" charset="-122"/>
                <a:cs typeface="Arial" panose="020B0604020202020204" pitchFamily="34" charset="0"/>
              </a:rPr>
              <a:t>the contrary, the lighter the color, the whiter it </a:t>
            </a:r>
            <a:r>
              <a:rPr lang="en-US" altLang="zh-CN" dirty="0" smtClean="0">
                <a:latin typeface="Arial" panose="020B0604020202020204" pitchFamily="34" charset="0"/>
                <a:ea typeface="黑体" panose="02010609060101010101" pitchFamily="49" charset="-122"/>
                <a:cs typeface="Arial" panose="020B0604020202020204" pitchFamily="34" charset="0"/>
              </a:rPr>
              <a:t>is</a:t>
            </a:r>
            <a:r>
              <a:rPr lang="en-US" altLang="zh-CN" dirty="0">
                <a:latin typeface="Arial" panose="020B0604020202020204" pitchFamily="34" charset="0"/>
                <a:ea typeface="黑体" panose="02010609060101010101" pitchFamily="49" charset="-122"/>
                <a:cs typeface="Arial" panose="020B0604020202020204" pitchFamily="34" charset="0"/>
              </a:rPr>
              <a:t>.</a:t>
            </a:r>
            <a:endParaRPr lang="en-US" altLang="zh-CN" dirty="0" smtClean="0">
              <a:latin typeface="Arial" panose="020B0604020202020204" pitchFamily="34" charset="0"/>
              <a:ea typeface="黑体" panose="02010609060101010101" pitchFamily="49" charset="-122"/>
              <a:cs typeface="Arial" panose="020B0604020202020204" pitchFamily="34" charset="0"/>
            </a:endParaRPr>
          </a:p>
          <a:p>
            <a:pPr indent="-342900" algn="just">
              <a:buFont typeface="+mj-lt"/>
              <a:buAutoNum type="arabicPeriod"/>
            </a:pPr>
            <a:r>
              <a:rPr lang="en-US" altLang="zh-CN" dirty="0">
                <a:latin typeface="Arial" panose="020B0604020202020204" pitchFamily="34" charset="0"/>
                <a:cs typeface="Arial" panose="020B0604020202020204" pitchFamily="34" charset="0"/>
              </a:rPr>
              <a:t>If the image is purple, first reduce the blue gain and then appropriately reduce the red gain. When you reduce the red gain and find that the image is yellowish, then increase the red gain appropriately.</a:t>
            </a:r>
            <a:endParaRPr lang="en-US" altLang="zh-CN" dirty="0">
              <a:latin typeface="Arial" panose="020B0604020202020204" pitchFamily="34" charset="0"/>
              <a:ea typeface="黑体" panose="02010609060101010101" pitchFamily="49" charset="-122"/>
              <a:cs typeface="Arial" panose="020B0604020202020204" pitchFamily="34" charset="0"/>
            </a:endParaRPr>
          </a:p>
        </p:txBody>
      </p:sp>
      <p:pic>
        <p:nvPicPr>
          <p:cNvPr id="6" name="图片 5">
            <a:extLst>
              <a:ext uri="{FF2B5EF4-FFF2-40B4-BE49-F238E27FC236}">
                <a16:creationId xmlns:a16="http://schemas.microsoft.com/office/drawing/2014/main" id="{AEFBB61B-000E-4991-BDD4-431066D18B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01339" y="1139105"/>
            <a:ext cx="1944216" cy="1859186"/>
          </a:xfrm>
          <a:prstGeom prst="rect">
            <a:avLst/>
          </a:prstGeom>
        </p:spPr>
      </p:pic>
      <p:sp>
        <p:nvSpPr>
          <p:cNvPr id="7" name="文本框 6">
            <a:extLst>
              <a:ext uri="{FF2B5EF4-FFF2-40B4-BE49-F238E27FC236}">
                <a16:creationId xmlns:a16="http://schemas.microsoft.com/office/drawing/2014/main" id="{B95B4ECA-09D2-4CA1-A72C-48870D6DFF56}"/>
              </a:ext>
            </a:extLst>
          </p:cNvPr>
          <p:cNvSpPr txBox="1"/>
          <p:nvPr/>
        </p:nvSpPr>
        <p:spPr>
          <a:xfrm>
            <a:off x="2058151" y="3065682"/>
            <a:ext cx="2443427"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Figure(7)  Color setting</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pic>
        <p:nvPicPr>
          <p:cNvPr id="8" name="图片 7"/>
          <p:cNvPicPr>
            <a:picLocks noChangeAspect="1"/>
          </p:cNvPicPr>
          <p:nvPr/>
        </p:nvPicPr>
        <p:blipFill>
          <a:blip r:embed="rId5"/>
          <a:stretch>
            <a:fillRect/>
          </a:stretch>
        </p:blipFill>
        <p:spPr>
          <a:xfrm>
            <a:off x="1420893" y="1942633"/>
            <a:ext cx="3517578" cy="1071721"/>
          </a:xfrm>
          <a:prstGeom prst="rect">
            <a:avLst/>
          </a:prstGeom>
        </p:spPr>
      </p:pic>
      <p:sp>
        <p:nvSpPr>
          <p:cNvPr id="9" name="文本框 8">
            <a:extLst>
              <a:ext uri="{FF2B5EF4-FFF2-40B4-BE49-F238E27FC236}">
                <a16:creationId xmlns:a16="http://schemas.microsoft.com/office/drawing/2014/main" id="{B95B4ECA-09D2-4CA1-A72C-48870D6DFF56}"/>
              </a:ext>
            </a:extLst>
          </p:cNvPr>
          <p:cNvSpPr txBox="1"/>
          <p:nvPr/>
        </p:nvSpPr>
        <p:spPr>
          <a:xfrm>
            <a:off x="7314736" y="3068584"/>
            <a:ext cx="1630820"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Figure(8)  RGB</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294157603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Image setting——</a:t>
            </a:r>
            <a:r>
              <a:rPr lang="en-US" altLang="zh-CN" sz="2800" b="1" dirty="0" smtClean="0">
                <a:solidFill>
                  <a:srgbClr val="C00000"/>
                </a:solidFill>
                <a:latin typeface="+mn-lt"/>
                <a:ea typeface="+mn-ea"/>
                <a:cs typeface="+mn-ea"/>
              </a:rPr>
              <a:t>Video processor adjustment</a:t>
            </a:r>
            <a:endParaRPr lang="en-US" altLang="zh-CN" sz="2800" b="1" dirty="0">
              <a:solidFill>
                <a:srgbClr val="C00000"/>
              </a:solidFill>
              <a:latin typeface="+mn-lt"/>
              <a:ea typeface="+mn-ea"/>
              <a:cs typeface="+mn-ea"/>
            </a:endParaRPr>
          </a:p>
        </p:txBody>
      </p:sp>
      <p:sp>
        <p:nvSpPr>
          <p:cNvPr id="4" name="矩形 3">
            <a:extLst>
              <a:ext uri="{FF2B5EF4-FFF2-40B4-BE49-F238E27FC236}">
                <a16:creationId xmlns:a16="http://schemas.microsoft.com/office/drawing/2014/main" id="{7596EB7F-C0C4-4A01-83AE-27FD1886B214}"/>
              </a:ext>
            </a:extLst>
          </p:cNvPr>
          <p:cNvSpPr>
            <a:spLocks noChangeArrowheads="1"/>
          </p:cNvSpPr>
          <p:nvPr/>
        </p:nvSpPr>
        <p:spPr bwMode="auto">
          <a:xfrm>
            <a:off x="710779" y="758962"/>
            <a:ext cx="3249608" cy="646331"/>
          </a:xfrm>
          <a:prstGeom prst="rect">
            <a:avLst/>
          </a:prstGeom>
          <a:extLst/>
        </p:spPr>
        <p:txBody>
          <a:bodyPr wrap="none">
            <a:spAutoFit/>
          </a:bodyPr>
          <a:lstStyle/>
          <a:p>
            <a:pPr>
              <a:lnSpc>
                <a:spcPct val="150000"/>
              </a:lnSpc>
            </a:pPr>
            <a:r>
              <a:rPr lang="en-US" altLang="zh-CN" sz="2400" dirty="0">
                <a:solidFill>
                  <a:srgbClr val="C00000"/>
                </a:solidFill>
                <a:latin typeface="Arial" panose="020B0604020202020204" pitchFamily="34" charset="0"/>
                <a:ea typeface="微软雅黑" panose="020B0503020204020204" pitchFamily="34" charset="-122"/>
                <a:cs typeface="Arial" panose="020B0604020202020204" pitchFamily="34" charset="0"/>
              </a:rPr>
              <a:t>Sharpness adjustment</a:t>
            </a:r>
          </a:p>
        </p:txBody>
      </p:sp>
      <p:sp>
        <p:nvSpPr>
          <p:cNvPr id="5" name="文本框 4">
            <a:extLst>
              <a:ext uri="{FF2B5EF4-FFF2-40B4-BE49-F238E27FC236}">
                <a16:creationId xmlns:a16="http://schemas.microsoft.com/office/drawing/2014/main" id="{65B92A80-A6DB-4349-B90B-AABBC568D2FB}"/>
              </a:ext>
            </a:extLst>
          </p:cNvPr>
          <p:cNvSpPr txBox="1"/>
          <p:nvPr/>
        </p:nvSpPr>
        <p:spPr>
          <a:xfrm>
            <a:off x="5981949" y="1082127"/>
            <a:ext cx="6003725" cy="5493812"/>
          </a:xfrm>
          <a:prstGeom prst="rect">
            <a:avLst/>
          </a:prstGeom>
          <a:noFill/>
        </p:spPr>
        <p:txBody>
          <a:bodyPr wrap="square" rtlCol="0">
            <a:spAutoFit/>
          </a:bodyPr>
          <a:lstStyle/>
          <a:p>
            <a:pPr indent="457200">
              <a:lnSpc>
                <a:spcPct val="150000"/>
              </a:lnSpc>
            </a:pPr>
            <a:r>
              <a:rPr lang="en-US" altLang="zh-CN" dirty="0">
                <a:latin typeface="Arial" panose="020B0604020202020204" pitchFamily="34" charset="0"/>
                <a:ea typeface="黑体" panose="02010609060101010101" pitchFamily="49" charset="-122"/>
                <a:cs typeface="Arial" panose="020B0604020202020204" pitchFamily="34" charset="0"/>
              </a:rPr>
              <a:t>In R1 camera system, there are three parameters for sharpness adjustment, namely </a:t>
            </a:r>
            <a:r>
              <a:rPr lang="en-US" altLang="zh-CN" dirty="0" smtClean="0">
                <a:latin typeface="Arial" panose="020B0604020202020204" pitchFamily="34" charset="0"/>
                <a:ea typeface="黑体" panose="02010609060101010101" pitchFamily="49" charset="-122"/>
                <a:cs typeface="Arial" panose="020B0604020202020204" pitchFamily="34" charset="0"/>
              </a:rPr>
              <a:t>sharpness, </a:t>
            </a:r>
            <a:r>
              <a:rPr lang="en-US" altLang="zh-CN" dirty="0">
                <a:latin typeface="Arial" panose="020B0604020202020204" pitchFamily="34" charset="0"/>
                <a:ea typeface="黑体" panose="02010609060101010101" pitchFamily="49" charset="-122"/>
                <a:cs typeface="Arial" panose="020B0604020202020204" pitchFamily="34" charset="0"/>
              </a:rPr>
              <a:t>structure and edge as shown in Figure (9). When "Normal" is selected for sharpness, the image noise is smaller and softer. When "High" is selected, the image noise is larger and sharper. The larger the </a:t>
            </a:r>
            <a:r>
              <a:rPr lang="en-US" altLang="zh-CN" dirty="0" smtClean="0">
                <a:latin typeface="Arial" panose="020B0604020202020204" pitchFamily="34" charset="0"/>
                <a:ea typeface="黑体" panose="02010609060101010101" pitchFamily="49" charset="-122"/>
                <a:cs typeface="Arial" panose="020B0604020202020204" pitchFamily="34" charset="0"/>
              </a:rPr>
              <a:t>“structure” </a:t>
            </a:r>
            <a:r>
              <a:rPr lang="en-US" altLang="zh-CN" dirty="0">
                <a:latin typeface="Arial" panose="020B0604020202020204" pitchFamily="34" charset="0"/>
                <a:ea typeface="黑体" panose="02010609060101010101" pitchFamily="49" charset="-122"/>
                <a:cs typeface="Arial" panose="020B0604020202020204" pitchFamily="34" charset="0"/>
              </a:rPr>
              <a:t>value, the noisier and sharper the image. The boundaries in the image (such as blood vessels, liver edges) are enhanced, but too high a value will cause black edges or other unnatural colors to appear on the boundaries. The larger the </a:t>
            </a:r>
            <a:r>
              <a:rPr lang="en-US" altLang="zh-CN" dirty="0" smtClean="0">
                <a:latin typeface="Arial" panose="020B0604020202020204" pitchFamily="34" charset="0"/>
                <a:ea typeface="黑体" panose="02010609060101010101" pitchFamily="49" charset="-122"/>
                <a:cs typeface="Arial" panose="020B0604020202020204" pitchFamily="34" charset="0"/>
              </a:rPr>
              <a:t>“edge” </a:t>
            </a:r>
            <a:r>
              <a:rPr lang="en-US" altLang="zh-CN" dirty="0">
                <a:latin typeface="Arial" panose="020B0604020202020204" pitchFamily="34" charset="0"/>
                <a:ea typeface="黑体" panose="02010609060101010101" pitchFamily="49" charset="-122"/>
                <a:cs typeface="Arial" panose="020B0604020202020204" pitchFamily="34" charset="0"/>
              </a:rPr>
              <a:t>value, the image performance is similar to the "structure" parameter. The three parameters here are complementary and interconnected.</a:t>
            </a:r>
          </a:p>
        </p:txBody>
      </p:sp>
      <p:sp>
        <p:nvSpPr>
          <p:cNvPr id="6" name="文本框 5">
            <a:extLst>
              <a:ext uri="{FF2B5EF4-FFF2-40B4-BE49-F238E27FC236}">
                <a16:creationId xmlns:a16="http://schemas.microsoft.com/office/drawing/2014/main" id="{76B0D7C3-B2A8-4D84-8ACE-19E44E7DABCE}"/>
              </a:ext>
            </a:extLst>
          </p:cNvPr>
          <p:cNvSpPr txBox="1"/>
          <p:nvPr/>
        </p:nvSpPr>
        <p:spPr>
          <a:xfrm>
            <a:off x="549697" y="4009016"/>
            <a:ext cx="5226907" cy="1754326"/>
          </a:xfrm>
          <a:prstGeom prst="rect">
            <a:avLst/>
          </a:prstGeom>
          <a:noFill/>
        </p:spPr>
        <p:txBody>
          <a:bodyPr wrap="square" rtlCol="0">
            <a:spAutoFit/>
          </a:bodyPr>
          <a:lstStyle/>
          <a:p>
            <a:pPr>
              <a:lnSpc>
                <a:spcPct val="150000"/>
              </a:lnSpc>
            </a:pPr>
            <a:r>
              <a:rPr lang="en-US" altLang="zh-CN" dirty="0" smtClean="0">
                <a:latin typeface="Arial" panose="020B0604020202020204" pitchFamily="34" charset="0"/>
                <a:ea typeface="黑体" panose="02010609060101010101" pitchFamily="49" charset="-122"/>
                <a:cs typeface="Arial" panose="020B0604020202020204" pitchFamily="34" charset="0"/>
              </a:rPr>
              <a:t>Adjustment suggestion</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nSpc>
                <a:spcPct val="150000"/>
              </a:lnSpc>
              <a:buFont typeface="+mj-lt"/>
              <a:buAutoNum type="arabicPeriod"/>
            </a:pPr>
            <a:r>
              <a:rPr lang="en-US" altLang="zh-CN" dirty="0">
                <a:latin typeface="Arial" panose="020B0604020202020204" pitchFamily="34" charset="0"/>
                <a:cs typeface="Arial" panose="020B0604020202020204" pitchFamily="34" charset="0"/>
              </a:rPr>
              <a:t>It is generally not recommended to </a:t>
            </a:r>
            <a:r>
              <a:rPr lang="en-US" altLang="zh-CN" dirty="0" smtClean="0">
                <a:latin typeface="Arial" panose="020B0604020202020204" pitchFamily="34" charset="0"/>
                <a:cs typeface="Arial" panose="020B0604020202020204" pitchFamily="34" charset="0"/>
              </a:rPr>
              <a:t>adjust</a:t>
            </a:r>
            <a:r>
              <a:rPr lang="en-US" altLang="zh-CN" dirty="0">
                <a:latin typeface="Arial" panose="020B0604020202020204" pitchFamily="34" charset="0"/>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nSpc>
                <a:spcPct val="150000"/>
              </a:lnSpc>
              <a:buFont typeface="+mj-lt"/>
              <a:buAutoNum type="arabicPeriod"/>
            </a:pPr>
            <a:r>
              <a:rPr lang="en-US" altLang="zh-CN" dirty="0">
                <a:latin typeface="Arial" panose="020B0604020202020204" pitchFamily="34" charset="0"/>
                <a:cs typeface="Arial" panose="020B0604020202020204" pitchFamily="34" charset="0"/>
              </a:rPr>
              <a:t>"</a:t>
            </a:r>
            <a:r>
              <a:rPr lang="en-US" altLang="zh-CN" dirty="0" smtClean="0">
                <a:latin typeface="Arial" panose="020B0604020202020204" pitchFamily="34" charset="0"/>
                <a:cs typeface="Arial" panose="020B0604020202020204" pitchFamily="34" charset="0"/>
              </a:rPr>
              <a:t>Structure" </a:t>
            </a:r>
            <a:r>
              <a:rPr lang="en-US" altLang="zh-CN" dirty="0">
                <a:latin typeface="Arial" panose="020B0604020202020204" pitchFamily="34" charset="0"/>
                <a:cs typeface="Arial" panose="020B0604020202020204" pitchFamily="34" charset="0"/>
              </a:rPr>
              <a:t>can be adjusted as a priority when </a:t>
            </a:r>
            <a:r>
              <a:rPr lang="en-US" altLang="zh-CN" dirty="0" smtClean="0">
                <a:latin typeface="Arial" panose="020B0604020202020204" pitchFamily="34" charset="0"/>
                <a:cs typeface="Arial" panose="020B0604020202020204" pitchFamily="34" charset="0"/>
              </a:rPr>
              <a:t>necessary.</a:t>
            </a:r>
            <a:endParaRPr lang="en-US" altLang="zh-CN" dirty="0">
              <a:latin typeface="Arial" panose="020B0604020202020204" pitchFamily="34" charset="0"/>
              <a:ea typeface="黑体" panose="02010609060101010101" pitchFamily="49" charset="-122"/>
              <a:cs typeface="Arial" panose="020B0604020202020204" pitchFamily="34" charset="0"/>
            </a:endParaRPr>
          </a:p>
        </p:txBody>
      </p:sp>
      <p:pic>
        <p:nvPicPr>
          <p:cNvPr id="7" name="图片 6"/>
          <p:cNvPicPr>
            <a:picLocks noChangeAspect="1"/>
          </p:cNvPicPr>
          <p:nvPr/>
        </p:nvPicPr>
        <p:blipFill>
          <a:blip r:embed="rId3"/>
          <a:stretch>
            <a:fillRect/>
          </a:stretch>
        </p:blipFill>
        <p:spPr>
          <a:xfrm>
            <a:off x="619671" y="1542447"/>
            <a:ext cx="5086961" cy="1542701"/>
          </a:xfrm>
          <a:prstGeom prst="rect">
            <a:avLst/>
          </a:prstGeom>
        </p:spPr>
      </p:pic>
      <p:sp>
        <p:nvSpPr>
          <p:cNvPr id="8" name="文本框 7">
            <a:extLst>
              <a:ext uri="{FF2B5EF4-FFF2-40B4-BE49-F238E27FC236}">
                <a16:creationId xmlns:a16="http://schemas.microsoft.com/office/drawing/2014/main" id="{B95B4ECA-09D2-4CA1-A72C-48870D6DFF56}"/>
              </a:ext>
            </a:extLst>
          </p:cNvPr>
          <p:cNvSpPr txBox="1"/>
          <p:nvPr/>
        </p:nvSpPr>
        <p:spPr>
          <a:xfrm>
            <a:off x="1702045" y="3323002"/>
            <a:ext cx="3207580" cy="338554"/>
          </a:xfrm>
          <a:prstGeom prst="rect">
            <a:avLst/>
          </a:prstGeom>
          <a:noFill/>
        </p:spPr>
        <p:txBody>
          <a:bodyPr wrap="square" rtlCol="0">
            <a:spAutoFit/>
          </a:bodyPr>
          <a:lstStyle/>
          <a:p>
            <a:r>
              <a:rPr lang="en-US" altLang="zh-CN" sz="1600" dirty="0" smtClean="0">
                <a:latin typeface="Arial" panose="020B0604020202020204" pitchFamily="34" charset="0"/>
                <a:ea typeface="黑体" panose="02010609060101010101" pitchFamily="49" charset="-122"/>
                <a:cs typeface="Arial" panose="020B0604020202020204" pitchFamily="34" charset="0"/>
              </a:rPr>
              <a:t>Figure(8)  Details for sharpness</a:t>
            </a:r>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34379752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Image setting——</a:t>
            </a:r>
            <a:r>
              <a:rPr lang="en-US" altLang="zh-CN" sz="2800" b="1" dirty="0" smtClean="0">
                <a:solidFill>
                  <a:srgbClr val="C00000"/>
                </a:solidFill>
                <a:latin typeface="+mn-lt"/>
                <a:ea typeface="+mn-ea"/>
                <a:cs typeface="+mn-ea"/>
              </a:rPr>
              <a:t>Video processor adjustment</a:t>
            </a:r>
            <a:endParaRPr lang="en-US" altLang="zh-CN" sz="2800" b="1" dirty="0">
              <a:solidFill>
                <a:srgbClr val="C00000"/>
              </a:solidFill>
              <a:latin typeface="+mn-lt"/>
              <a:ea typeface="+mn-ea"/>
              <a:cs typeface="+mn-ea"/>
            </a:endParaRPr>
          </a:p>
        </p:txBody>
      </p:sp>
      <p:pic>
        <p:nvPicPr>
          <p:cNvPr id="4" name="图片 3"/>
          <p:cNvPicPr>
            <a:picLocks noChangeAspect="1"/>
          </p:cNvPicPr>
          <p:nvPr/>
        </p:nvPicPr>
        <p:blipFill>
          <a:blip r:embed="rId3"/>
          <a:stretch>
            <a:fillRect/>
          </a:stretch>
        </p:blipFill>
        <p:spPr>
          <a:xfrm>
            <a:off x="1889076" y="2026062"/>
            <a:ext cx="4048867" cy="1261279"/>
          </a:xfrm>
          <a:prstGeom prst="rect">
            <a:avLst/>
          </a:prstGeom>
        </p:spPr>
      </p:pic>
      <p:sp>
        <p:nvSpPr>
          <p:cNvPr id="5" name="矩形 10">
            <a:extLst>
              <a:ext uri="{FF2B5EF4-FFF2-40B4-BE49-F238E27FC236}">
                <a16:creationId xmlns:a16="http://schemas.microsoft.com/office/drawing/2014/main" id="{F969DCFD-6004-424E-9D7D-7F86C0550216}"/>
              </a:ext>
            </a:extLst>
          </p:cNvPr>
          <p:cNvSpPr>
            <a:spLocks noChangeArrowheads="1"/>
          </p:cNvSpPr>
          <p:nvPr/>
        </p:nvSpPr>
        <p:spPr bwMode="auto">
          <a:xfrm>
            <a:off x="1022095" y="786686"/>
            <a:ext cx="6363443" cy="646331"/>
          </a:xfrm>
          <a:prstGeom prst="rect">
            <a:avLst/>
          </a:prstGeom>
          <a:extLst/>
        </p:spPr>
        <p:txBody>
          <a:bodyPr wrap="square">
            <a:spAutoFit/>
          </a:bodyPr>
          <a:lstStyle/>
          <a:p>
            <a:pPr>
              <a:lnSpc>
                <a:spcPct val="150000"/>
              </a:lnSpc>
            </a:pPr>
            <a:r>
              <a:rPr lang="en-US" altLang="zh-CN" sz="2400" dirty="0">
                <a:solidFill>
                  <a:srgbClr val="C00000"/>
                </a:solidFill>
                <a:latin typeface="Arial" panose="020B0604020202020204" pitchFamily="34" charset="0"/>
                <a:ea typeface="微软雅黑" panose="020B0503020204020204" pitchFamily="34" charset="-122"/>
                <a:cs typeface="Arial" panose="020B0604020202020204" pitchFamily="34" charset="0"/>
              </a:rPr>
              <a:t>Fluorescence </a:t>
            </a:r>
            <a:r>
              <a:rPr lang="en-US" altLang="zh-CN" sz="2400" dirty="0" smtClean="0">
                <a:solidFill>
                  <a:srgbClr val="C00000"/>
                </a:solidFill>
                <a:latin typeface="Arial" panose="020B0604020202020204" pitchFamily="34" charset="0"/>
                <a:ea typeface="微软雅黑" panose="020B0503020204020204" pitchFamily="34" charset="-122"/>
                <a:cs typeface="Arial" panose="020B0604020202020204" pitchFamily="34" charset="0"/>
              </a:rPr>
              <a:t>adjust——Only available on R1</a:t>
            </a:r>
            <a:endParaRPr lang="en-US" altLang="zh-CN" sz="2400"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a:extLst>
              <a:ext uri="{FF2B5EF4-FFF2-40B4-BE49-F238E27FC236}">
                <a16:creationId xmlns:a16="http://schemas.microsoft.com/office/drawing/2014/main" id="{65B92A80-A6DB-4349-B90B-AABBC568D2FB}"/>
              </a:ext>
            </a:extLst>
          </p:cNvPr>
          <p:cNvSpPr txBox="1"/>
          <p:nvPr/>
        </p:nvSpPr>
        <p:spPr>
          <a:xfrm>
            <a:off x="1121425" y="4037090"/>
            <a:ext cx="10002193" cy="2632003"/>
          </a:xfrm>
          <a:prstGeom prst="rect">
            <a:avLst/>
          </a:prstGeom>
          <a:noFill/>
        </p:spPr>
        <p:txBody>
          <a:bodyPr wrap="square" rtlCol="0">
            <a:spAutoFit/>
          </a:bodyPr>
          <a:lstStyle/>
          <a:p>
            <a:pPr indent="457200" algn="just">
              <a:lnSpc>
                <a:spcPct val="150000"/>
              </a:lnSpc>
            </a:pPr>
            <a:r>
              <a:rPr lang="en-US" altLang="zh-CN" sz="1600" dirty="0">
                <a:latin typeface="Arial" panose="020B0604020202020204" pitchFamily="34" charset="0"/>
                <a:ea typeface="黑体" panose="02010609060101010101" pitchFamily="49" charset="-122"/>
                <a:cs typeface="Arial" panose="020B0604020202020204" pitchFamily="34" charset="0"/>
              </a:rPr>
              <a:t>In R1 camera system, there is only one parameter that provides fluorescence brightness adjustment, as shown in Figure (10). When switching to the three split screen mode, the upper left of the image is MIX Green fluorescence, the lower left is IR(dark) fluorescence, and the right is white light. The fluorescence brightness parameter acts on the green fluorescence in the MIX green fluorescence image, as shown in Figure (11). The larger the value, the brighter the green fluorescence. The fluorescence brightness is related to the distance and angle from the lens to the lesion tissue. The farther the distance, the larger the angle, and the weaker the fluorescence.</a:t>
            </a:r>
          </a:p>
        </p:txBody>
      </p:sp>
      <p:pic>
        <p:nvPicPr>
          <p:cNvPr id="7" name="图片 6">
            <a:extLst>
              <a:ext uri="{FF2B5EF4-FFF2-40B4-BE49-F238E27FC236}">
                <a16:creationId xmlns:a16="http://schemas.microsoft.com/office/drawing/2014/main" id="{58722E19-22FE-4F27-8800-E2FDE2B986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41247" y="1930383"/>
            <a:ext cx="3168352" cy="1782198"/>
          </a:xfrm>
          <a:prstGeom prst="rect">
            <a:avLst/>
          </a:prstGeom>
        </p:spPr>
      </p:pic>
      <p:sp>
        <p:nvSpPr>
          <p:cNvPr id="8" name="文本框 7">
            <a:extLst>
              <a:ext uri="{FF2B5EF4-FFF2-40B4-BE49-F238E27FC236}">
                <a16:creationId xmlns:a16="http://schemas.microsoft.com/office/drawing/2014/main" id="{D546954F-1196-427A-BB5A-EF633AFD031F}"/>
              </a:ext>
            </a:extLst>
          </p:cNvPr>
          <p:cNvSpPr txBox="1"/>
          <p:nvPr/>
        </p:nvSpPr>
        <p:spPr>
          <a:xfrm>
            <a:off x="6044072" y="1432180"/>
            <a:ext cx="3140244" cy="369332"/>
          </a:xfrm>
          <a:prstGeom prst="rect">
            <a:avLst/>
          </a:prstGeom>
          <a:noFill/>
        </p:spPr>
        <p:txBody>
          <a:bodyPr wrap="square" rtlCol="0">
            <a:spAutoFit/>
          </a:bodyPr>
          <a:lstStyle/>
          <a:p>
            <a:r>
              <a:rPr lang="en-US" altLang="zh-CN" dirty="0">
                <a:solidFill>
                  <a:srgbClr val="FF0000"/>
                </a:solidFill>
              </a:rPr>
              <a:t>Fluorescence </a:t>
            </a:r>
            <a:r>
              <a:rPr lang="en-US" altLang="zh-CN" dirty="0" smtClean="0">
                <a:solidFill>
                  <a:srgbClr val="FF0000"/>
                </a:solidFill>
              </a:rPr>
              <a:t>area</a:t>
            </a:r>
            <a:endParaRPr lang="zh-CN" altLang="en-US" sz="1600" b="1" dirty="0">
              <a:solidFill>
                <a:srgbClr val="FF0000"/>
              </a:solidFill>
              <a:latin typeface="Arial" panose="020B0604020202020204" pitchFamily="34" charset="0"/>
              <a:ea typeface="黑体" panose="02010609060101010101" pitchFamily="49" charset="-122"/>
            </a:endParaRPr>
          </a:p>
        </p:txBody>
      </p:sp>
      <p:cxnSp>
        <p:nvCxnSpPr>
          <p:cNvPr id="9" name="直接箭头连接符 8">
            <a:extLst>
              <a:ext uri="{FF2B5EF4-FFF2-40B4-BE49-F238E27FC236}">
                <a16:creationId xmlns:a16="http://schemas.microsoft.com/office/drawing/2014/main" id="{D436C9E2-00EA-4AEB-87FB-7F48289EE225}"/>
              </a:ext>
            </a:extLst>
          </p:cNvPr>
          <p:cNvCxnSpPr>
            <a:cxnSpLocks/>
          </p:cNvCxnSpPr>
          <p:nvPr/>
        </p:nvCxnSpPr>
        <p:spPr>
          <a:xfrm>
            <a:off x="7036723" y="1721900"/>
            <a:ext cx="296836" cy="4169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60A8E097-4936-430C-BD9F-4EB9865B58F0}"/>
              </a:ext>
            </a:extLst>
          </p:cNvPr>
          <p:cNvSpPr txBox="1"/>
          <p:nvPr/>
        </p:nvSpPr>
        <p:spPr>
          <a:xfrm>
            <a:off x="6122522" y="2224152"/>
            <a:ext cx="943596" cy="584775"/>
          </a:xfrm>
          <a:prstGeom prst="rect">
            <a:avLst/>
          </a:prstGeom>
          <a:noFill/>
        </p:spPr>
        <p:txBody>
          <a:bodyPr wrap="square" rtlCol="0">
            <a:spAutoFit/>
          </a:bodyPr>
          <a:lstStyle/>
          <a:p>
            <a:r>
              <a:rPr lang="en-US" altLang="zh-CN" sz="1600" b="1" dirty="0">
                <a:solidFill>
                  <a:srgbClr val="FF0000"/>
                </a:solidFill>
              </a:rPr>
              <a:t>MIX Green </a:t>
            </a:r>
            <a:endParaRPr lang="zh-CN" altLang="en-US" sz="1400" b="1" dirty="0">
              <a:solidFill>
                <a:srgbClr val="FF0000"/>
              </a:solidFill>
              <a:latin typeface="Arial" panose="020B0604020202020204" pitchFamily="34" charset="0"/>
              <a:ea typeface="黑体" panose="02010609060101010101" pitchFamily="49" charset="-122"/>
            </a:endParaRPr>
          </a:p>
        </p:txBody>
      </p:sp>
      <p:sp>
        <p:nvSpPr>
          <p:cNvPr id="11" name="文本框 10">
            <a:extLst>
              <a:ext uri="{FF2B5EF4-FFF2-40B4-BE49-F238E27FC236}">
                <a16:creationId xmlns:a16="http://schemas.microsoft.com/office/drawing/2014/main" id="{BFD3337B-D11C-4707-8E1C-E1A4B5DB86B8}"/>
              </a:ext>
            </a:extLst>
          </p:cNvPr>
          <p:cNvSpPr txBox="1"/>
          <p:nvPr/>
        </p:nvSpPr>
        <p:spPr>
          <a:xfrm>
            <a:off x="6364605" y="3224895"/>
            <a:ext cx="545675" cy="338554"/>
          </a:xfrm>
          <a:prstGeom prst="rect">
            <a:avLst/>
          </a:prstGeom>
          <a:noFill/>
        </p:spPr>
        <p:txBody>
          <a:bodyPr wrap="square" rtlCol="0">
            <a:spAutoFit/>
          </a:bodyPr>
          <a:lstStyle/>
          <a:p>
            <a:r>
              <a:rPr lang="en-US" altLang="zh-CN" sz="1600" b="1" dirty="0" smtClean="0">
                <a:solidFill>
                  <a:srgbClr val="FF0000"/>
                </a:solidFill>
                <a:latin typeface="Arial" panose="020B0604020202020204" pitchFamily="34" charset="0"/>
                <a:ea typeface="黑体" panose="02010609060101010101" pitchFamily="49" charset="-122"/>
              </a:rPr>
              <a:t>IR</a:t>
            </a:r>
            <a:endParaRPr lang="zh-CN" altLang="en-US" sz="1600" b="1" dirty="0">
              <a:solidFill>
                <a:srgbClr val="FF0000"/>
              </a:solidFill>
              <a:latin typeface="Arial" panose="020B0604020202020204" pitchFamily="34" charset="0"/>
              <a:ea typeface="黑体" panose="02010609060101010101" pitchFamily="49" charset="-122"/>
            </a:endParaRPr>
          </a:p>
        </p:txBody>
      </p:sp>
      <p:sp>
        <p:nvSpPr>
          <p:cNvPr id="12" name="矩形 11">
            <a:extLst>
              <a:ext uri="{FF2B5EF4-FFF2-40B4-BE49-F238E27FC236}">
                <a16:creationId xmlns:a16="http://schemas.microsoft.com/office/drawing/2014/main" id="{659494A7-F0FA-4AE3-AE5D-2C852DC20B51}"/>
              </a:ext>
            </a:extLst>
          </p:cNvPr>
          <p:cNvSpPr/>
          <p:nvPr/>
        </p:nvSpPr>
        <p:spPr>
          <a:xfrm>
            <a:off x="3927732" y="2838257"/>
            <a:ext cx="1969919" cy="38663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774FFFB0-55F4-4378-9C84-3ED3039517B7}"/>
              </a:ext>
            </a:extLst>
          </p:cNvPr>
          <p:cNvSpPr txBox="1"/>
          <p:nvPr/>
        </p:nvSpPr>
        <p:spPr>
          <a:xfrm>
            <a:off x="2830237" y="1508341"/>
            <a:ext cx="2393639" cy="338554"/>
          </a:xfrm>
          <a:prstGeom prst="rect">
            <a:avLst/>
          </a:prstGeom>
          <a:noFill/>
        </p:spPr>
        <p:txBody>
          <a:bodyPr wrap="square" rtlCol="0">
            <a:spAutoFit/>
          </a:bodyPr>
          <a:lstStyle/>
          <a:p>
            <a:r>
              <a:rPr lang="en-US" altLang="zh-CN" sz="1600" dirty="0">
                <a:solidFill>
                  <a:srgbClr val="FF0000"/>
                </a:solidFill>
                <a:latin typeface="Arial" panose="020B0604020202020204" pitchFamily="34" charset="0"/>
                <a:ea typeface="黑体" panose="02010609060101010101" pitchFamily="49" charset="-122"/>
                <a:cs typeface="Arial" panose="020B0604020202020204" pitchFamily="34" charset="0"/>
              </a:rPr>
              <a:t>Fluorescence intensity</a:t>
            </a:r>
            <a:endParaRPr lang="zh-CN" altLang="en-US" sz="1600" dirty="0">
              <a:solidFill>
                <a:srgbClr val="FF0000"/>
              </a:solidFill>
              <a:latin typeface="Arial" panose="020B0604020202020204" pitchFamily="34" charset="0"/>
              <a:ea typeface="黑体" panose="02010609060101010101" pitchFamily="49" charset="-122"/>
              <a:cs typeface="Arial" panose="020B0604020202020204" pitchFamily="34" charset="0"/>
            </a:endParaRPr>
          </a:p>
        </p:txBody>
      </p:sp>
      <p:cxnSp>
        <p:nvCxnSpPr>
          <p:cNvPr id="14" name="直接箭头连接符 13">
            <a:extLst>
              <a:ext uri="{FF2B5EF4-FFF2-40B4-BE49-F238E27FC236}">
                <a16:creationId xmlns:a16="http://schemas.microsoft.com/office/drawing/2014/main" id="{976324D5-BF80-47F8-BA5C-76E4E67B110E}"/>
              </a:ext>
            </a:extLst>
          </p:cNvPr>
          <p:cNvCxnSpPr>
            <a:cxnSpLocks/>
          </p:cNvCxnSpPr>
          <p:nvPr/>
        </p:nvCxnSpPr>
        <p:spPr>
          <a:xfrm>
            <a:off x="4143177" y="1853740"/>
            <a:ext cx="686487" cy="9845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B95B4ECA-09D2-4CA1-A72C-48870D6DFF56}"/>
              </a:ext>
            </a:extLst>
          </p:cNvPr>
          <p:cNvSpPr txBox="1"/>
          <p:nvPr/>
        </p:nvSpPr>
        <p:spPr>
          <a:xfrm>
            <a:off x="2617518" y="3358635"/>
            <a:ext cx="2824323"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Figure(10</a:t>
            </a:r>
            <a:r>
              <a:rPr lang="en-US" altLang="zh-CN" sz="1400" dirty="0">
                <a:latin typeface="Arial" panose="020B0604020202020204" pitchFamily="34" charset="0"/>
                <a:ea typeface="黑体" panose="02010609060101010101" pitchFamily="49" charset="-122"/>
                <a:cs typeface="Arial" panose="020B0604020202020204" pitchFamily="34" charset="0"/>
              </a:rPr>
              <a:t>) Fluorescence intensity</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sp>
        <p:nvSpPr>
          <p:cNvPr id="16" name="文本框 15">
            <a:extLst>
              <a:ext uri="{FF2B5EF4-FFF2-40B4-BE49-F238E27FC236}">
                <a16:creationId xmlns:a16="http://schemas.microsoft.com/office/drawing/2014/main" id="{B95B4ECA-09D2-4CA1-A72C-48870D6DFF56}"/>
              </a:ext>
            </a:extLst>
          </p:cNvPr>
          <p:cNvSpPr txBox="1"/>
          <p:nvPr/>
        </p:nvSpPr>
        <p:spPr>
          <a:xfrm>
            <a:off x="7185276" y="3765077"/>
            <a:ext cx="2824323" cy="307777"/>
          </a:xfrm>
          <a:prstGeom prst="rect">
            <a:avLst/>
          </a:prstGeom>
          <a:noFill/>
        </p:spPr>
        <p:txBody>
          <a:bodyPr wrap="square" rtlCol="0">
            <a:spAutoFit/>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Figure(11) </a:t>
            </a:r>
            <a:r>
              <a:rPr lang="en-US" altLang="zh-CN" sz="1400" dirty="0">
                <a:latin typeface="Arial" panose="020B0604020202020204" pitchFamily="34" charset="0"/>
                <a:ea typeface="黑体" panose="02010609060101010101" pitchFamily="49" charset="-122"/>
                <a:cs typeface="Arial" panose="020B0604020202020204" pitchFamily="34" charset="0"/>
              </a:rPr>
              <a:t>Fluorescence </a:t>
            </a:r>
            <a:r>
              <a:rPr lang="en-US" altLang="zh-CN" sz="1400" dirty="0" smtClean="0">
                <a:latin typeface="Arial" panose="020B0604020202020204" pitchFamily="34" charset="0"/>
                <a:ea typeface="黑体" panose="02010609060101010101" pitchFamily="49" charset="-122"/>
                <a:cs typeface="Arial" panose="020B0604020202020204" pitchFamily="34" charset="0"/>
              </a:rPr>
              <a:t>area</a:t>
            </a:r>
            <a:endParaRPr lang="zh-CN" altLang="en-US" sz="1400" dirty="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41016811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C00000"/>
                </a:solidFill>
                <a:latin typeface="+mn-lt"/>
                <a:ea typeface="+mn-ea"/>
                <a:cs typeface="+mn-ea"/>
                <a:sym typeface="+mn-lt"/>
              </a:rPr>
              <a:t>U1/R1 Image setting——</a:t>
            </a:r>
            <a:r>
              <a:rPr lang="en-US" altLang="zh-CN" sz="2800" b="1" dirty="0" smtClean="0">
                <a:solidFill>
                  <a:srgbClr val="C00000"/>
                </a:solidFill>
                <a:latin typeface="+mn-lt"/>
                <a:ea typeface="+mn-ea"/>
                <a:cs typeface="+mn-ea"/>
              </a:rPr>
              <a:t>Video processor adjustment</a:t>
            </a:r>
            <a:endParaRPr lang="en-US" altLang="zh-CN" sz="2800" b="1" dirty="0">
              <a:solidFill>
                <a:srgbClr val="C00000"/>
              </a:solidFill>
              <a:latin typeface="+mn-lt"/>
              <a:ea typeface="+mn-ea"/>
              <a:cs typeface="+mn-ea"/>
            </a:endParaRPr>
          </a:p>
        </p:txBody>
      </p:sp>
      <p:sp>
        <p:nvSpPr>
          <p:cNvPr id="4" name="矩形 10">
            <a:extLst>
              <a:ext uri="{FF2B5EF4-FFF2-40B4-BE49-F238E27FC236}">
                <a16:creationId xmlns:a16="http://schemas.microsoft.com/office/drawing/2014/main" id="{7C1D20C9-0B11-4E73-B73C-3FF8CAE67F52}"/>
              </a:ext>
            </a:extLst>
          </p:cNvPr>
          <p:cNvSpPr>
            <a:spLocks noChangeArrowheads="1"/>
          </p:cNvSpPr>
          <p:nvPr/>
        </p:nvSpPr>
        <p:spPr bwMode="auto">
          <a:xfrm>
            <a:off x="612305" y="1142861"/>
            <a:ext cx="90481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smtClean="0">
                <a:solidFill>
                  <a:srgbClr val="C00000"/>
                </a:solidFill>
                <a:latin typeface="微软雅黑" panose="020B0503020204020204" pitchFamily="34" charset="-122"/>
                <a:ea typeface="微软雅黑" panose="020B0503020204020204" pitchFamily="34" charset="-122"/>
              </a:rPr>
              <a:t>Adjustable </a:t>
            </a:r>
            <a:r>
              <a:rPr lang="en-US" altLang="zh-CN" sz="2400" b="1" dirty="0">
                <a:solidFill>
                  <a:srgbClr val="C00000"/>
                </a:solidFill>
                <a:latin typeface="微软雅黑" panose="020B0503020204020204" pitchFamily="34" charset="-122"/>
                <a:ea typeface="微软雅黑" panose="020B0503020204020204" pitchFamily="34" charset="-122"/>
              </a:rPr>
              <a:t>range and default value of each parameter</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D800F0CF-0A5D-4A82-BC6D-39E5E438F86B}"/>
              </a:ext>
            </a:extLst>
          </p:cNvPr>
          <p:cNvSpPr txBox="1"/>
          <p:nvPr/>
        </p:nvSpPr>
        <p:spPr>
          <a:xfrm>
            <a:off x="612305" y="1826627"/>
            <a:ext cx="8544122" cy="3170099"/>
          </a:xfrm>
          <a:prstGeom prst="rect">
            <a:avLst/>
          </a:prstGeom>
          <a:noFill/>
        </p:spPr>
        <p:txBody>
          <a:bodyPr wrap="square" rtlCol="0">
            <a:spAutoFit/>
          </a:bodyPr>
          <a:lstStyle/>
          <a:p>
            <a:pPr marL="342900" indent="-342900">
              <a:lnSpc>
                <a:spcPts val="2400"/>
              </a:lnSpc>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Light source(HB300R)</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1~10 level</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Recommend 7 for laparoscope.</a:t>
            </a:r>
          </a:p>
          <a:p>
            <a:pPr marL="342900" indent="-342900">
              <a:lnSpc>
                <a:spcPts val="2400"/>
              </a:lnSpc>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AE</a:t>
            </a:r>
            <a:r>
              <a:rPr lang="zh-CN" altLang="en-US" dirty="0">
                <a:latin typeface="Arial" panose="020B0604020202020204" pitchFamily="34" charset="0"/>
                <a:ea typeface="黑体" panose="02010609060101010101" pitchFamily="49" charset="-122"/>
                <a:cs typeface="Arial" panose="020B0604020202020204" pitchFamily="34" charset="0"/>
              </a:rPr>
              <a:t> </a:t>
            </a:r>
            <a:r>
              <a:rPr lang="en-US" altLang="zh-CN" dirty="0" smtClean="0">
                <a:latin typeface="Arial" panose="020B0604020202020204" pitchFamily="34" charset="0"/>
                <a:ea typeface="黑体" panose="02010609060101010101" pitchFamily="49" charset="-122"/>
                <a:cs typeface="Arial" panose="020B0604020202020204" pitchFamily="34" charset="0"/>
              </a:rPr>
              <a:t>Value</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1~7 level</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Default 4 in HEP.</a:t>
            </a:r>
            <a:r>
              <a:rPr lang="zh-CN" altLang="en-US" dirty="0">
                <a:latin typeface="Arial" panose="020B0604020202020204" pitchFamily="34" charset="0"/>
                <a:ea typeface="黑体" panose="02010609060101010101" pitchFamily="49" charset="-122"/>
                <a:cs typeface="Arial" panose="020B0604020202020204" pitchFamily="34" charset="0"/>
              </a:rPr>
              <a:t>（</a:t>
            </a:r>
            <a:r>
              <a:rPr lang="en-US" altLang="zh-CN" dirty="0" err="1">
                <a:latin typeface="Arial" panose="020B0604020202020204" pitchFamily="34" charset="0"/>
                <a:ea typeface="黑体" panose="02010609060101010101" pitchFamily="49" charset="-122"/>
                <a:cs typeface="Arial" panose="020B0604020202020204" pitchFamily="34" charset="0"/>
              </a:rPr>
              <a:t>Hepatological</a:t>
            </a:r>
            <a:r>
              <a:rPr lang="en-US" altLang="zh-CN" dirty="0">
                <a:latin typeface="Arial" panose="020B0604020202020204" pitchFamily="34" charset="0"/>
                <a:ea typeface="黑体" panose="02010609060101010101" pitchFamily="49" charset="-122"/>
                <a:cs typeface="Arial" panose="020B0604020202020204" pitchFamily="34" charset="0"/>
              </a:rPr>
              <a:t> </a:t>
            </a:r>
            <a:r>
              <a:rPr lang="zh-CN" altLang="en-US" dirty="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nSpc>
                <a:spcPts val="2400"/>
              </a:lnSpc>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Detection area</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Narrow</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Wide</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Medium</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Full screen</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Default wide in HEP.</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nSpc>
                <a:spcPts val="2400"/>
              </a:lnSpc>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Peak ratio</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a:latin typeface="Arial" panose="020B0604020202020204" pitchFamily="34" charset="0"/>
                <a:ea typeface="黑体" panose="02010609060101010101" pitchFamily="49" charset="-122"/>
                <a:cs typeface="Arial" panose="020B0604020202020204" pitchFamily="34" charset="0"/>
              </a:rPr>
              <a:t>0~63</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HEP=THO=18(Default). GYN=22(Default).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nSpc>
                <a:spcPts val="2400"/>
              </a:lnSpc>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Paint red</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Paint blue</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a:latin typeface="Arial" panose="020B0604020202020204" pitchFamily="34" charset="0"/>
                <a:ea typeface="黑体" panose="02010609060101010101" pitchFamily="49" charset="-122"/>
                <a:cs typeface="Arial" panose="020B0604020202020204" pitchFamily="34" charset="0"/>
              </a:rPr>
              <a:t>-16~+16</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Default=0</a:t>
            </a:r>
            <a:r>
              <a:rPr lang="zh-CN" altLang="en-US" dirty="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nSpc>
                <a:spcPts val="2400"/>
              </a:lnSpc>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Saturation</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a:latin typeface="Arial" panose="020B0604020202020204" pitchFamily="34" charset="0"/>
                <a:ea typeface="黑体" panose="02010609060101010101" pitchFamily="49" charset="-122"/>
                <a:cs typeface="Arial" panose="020B0604020202020204" pitchFamily="34" charset="0"/>
              </a:rPr>
              <a:t>-32~+32</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Default=-10</a:t>
            </a:r>
            <a:r>
              <a:rPr lang="zh-CN" altLang="en-US" dirty="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nSpc>
                <a:spcPts val="2400"/>
              </a:lnSpc>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Sharpness</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Normal</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High</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Default=</a:t>
            </a:r>
            <a:r>
              <a:rPr lang="en-US" altLang="zh-CN" dirty="0" err="1" smtClean="0">
                <a:latin typeface="Arial" panose="020B0604020202020204" pitchFamily="34" charset="0"/>
                <a:ea typeface="黑体" panose="02010609060101010101" pitchFamily="49" charset="-122"/>
                <a:cs typeface="Arial" panose="020B0604020202020204" pitchFamily="34" charset="0"/>
              </a:rPr>
              <a:t>Nornal</a:t>
            </a:r>
            <a:r>
              <a:rPr lang="zh-CN" altLang="en-US" dirty="0" smtClean="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nSpc>
                <a:spcPts val="2400"/>
              </a:lnSpc>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Structure</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a:latin typeface="Arial" panose="020B0604020202020204" pitchFamily="34" charset="0"/>
                <a:ea typeface="黑体" panose="02010609060101010101" pitchFamily="49" charset="-122"/>
                <a:cs typeface="Arial" panose="020B0604020202020204" pitchFamily="34" charset="0"/>
              </a:rPr>
              <a:t>0~31</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Default=19</a:t>
            </a:r>
            <a:r>
              <a:rPr lang="zh-CN" altLang="en-US" dirty="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nSpc>
                <a:spcPts val="2400"/>
              </a:lnSpc>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Edge</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a:latin typeface="Arial" panose="020B0604020202020204" pitchFamily="34" charset="0"/>
                <a:ea typeface="黑体" panose="02010609060101010101" pitchFamily="49" charset="-122"/>
                <a:cs typeface="Arial" panose="020B0604020202020204" pitchFamily="34" charset="0"/>
              </a:rPr>
              <a:t>0~7</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Default=0</a:t>
            </a:r>
            <a:r>
              <a:rPr lang="zh-CN" altLang="en-US" dirty="0">
                <a:latin typeface="Arial" panose="020B0604020202020204" pitchFamily="34" charset="0"/>
                <a:ea typeface="黑体" panose="02010609060101010101" pitchFamily="49" charset="-122"/>
                <a:cs typeface="Arial" panose="020B0604020202020204" pitchFamily="34" charset="0"/>
              </a:rPr>
              <a:t>；</a:t>
            </a:r>
            <a:endParaRPr lang="en-US" altLang="zh-CN" dirty="0">
              <a:latin typeface="Arial" panose="020B0604020202020204" pitchFamily="34" charset="0"/>
              <a:ea typeface="黑体" panose="02010609060101010101" pitchFamily="49" charset="-122"/>
              <a:cs typeface="Arial" panose="020B0604020202020204" pitchFamily="34" charset="0"/>
            </a:endParaRPr>
          </a:p>
          <a:p>
            <a:pPr marL="342900" indent="-342900">
              <a:lnSpc>
                <a:spcPts val="2400"/>
              </a:lnSpc>
              <a:buFont typeface="+mj-lt"/>
              <a:buAutoNum type="arabicPeriod"/>
            </a:pPr>
            <a:r>
              <a:rPr lang="en-US" altLang="zh-CN" dirty="0" smtClean="0">
                <a:latin typeface="Arial" panose="020B0604020202020204" pitchFamily="34" charset="0"/>
                <a:ea typeface="黑体" panose="02010609060101010101" pitchFamily="49" charset="-122"/>
                <a:cs typeface="Arial" panose="020B0604020202020204" pitchFamily="34" charset="0"/>
              </a:rPr>
              <a:t>Fluorescence intensity</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1~7</a:t>
            </a:r>
            <a:r>
              <a:rPr lang="zh-CN" altLang="en-US" dirty="0" smtClean="0">
                <a:latin typeface="Arial" panose="020B0604020202020204" pitchFamily="34" charset="0"/>
                <a:ea typeface="黑体" panose="02010609060101010101" pitchFamily="49" charset="-122"/>
                <a:cs typeface="Arial" panose="020B0604020202020204" pitchFamily="34" charset="0"/>
              </a:rPr>
              <a:t> </a:t>
            </a:r>
            <a:r>
              <a:rPr lang="en-US" altLang="zh-CN" dirty="0" smtClean="0">
                <a:latin typeface="Arial" panose="020B0604020202020204" pitchFamily="34" charset="0"/>
                <a:ea typeface="黑体" panose="02010609060101010101" pitchFamily="49" charset="-122"/>
                <a:cs typeface="Arial" panose="020B0604020202020204" pitchFamily="34" charset="0"/>
              </a:rPr>
              <a:t>level</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HEP=THO=4(Default)</a:t>
            </a:r>
            <a:r>
              <a:rPr lang="zh-CN" altLang="en-US" dirty="0" smtClean="0">
                <a:latin typeface="Arial" panose="020B0604020202020204" pitchFamily="34" charset="0"/>
                <a:ea typeface="黑体" panose="02010609060101010101" pitchFamily="49" charset="-122"/>
                <a:cs typeface="Arial" panose="020B0604020202020204" pitchFamily="34" charset="0"/>
              </a:rPr>
              <a:t>，</a:t>
            </a:r>
            <a:r>
              <a:rPr lang="en-US" altLang="zh-CN" dirty="0" smtClean="0">
                <a:latin typeface="Arial" panose="020B0604020202020204" pitchFamily="34" charset="0"/>
                <a:ea typeface="黑体" panose="02010609060101010101" pitchFamily="49" charset="-122"/>
                <a:cs typeface="Arial" panose="020B0604020202020204" pitchFamily="34" charset="0"/>
              </a:rPr>
              <a:t>GYN=2(Default</a:t>
            </a:r>
            <a:r>
              <a:rPr lang="en-US" altLang="zh-CN" dirty="0">
                <a:latin typeface="Arial" panose="020B0604020202020204" pitchFamily="34" charset="0"/>
                <a:ea typeface="黑体" panose="02010609060101010101" pitchFamily="49" charset="-122"/>
                <a:cs typeface="Arial" panose="020B0604020202020204" pitchFamily="34" charset="0"/>
              </a:rPr>
              <a:t>).</a:t>
            </a:r>
          </a:p>
        </p:txBody>
      </p:sp>
    </p:spTree>
    <p:extLst>
      <p:ext uri="{BB962C8B-B14F-4D97-AF65-F5344CB8AC3E}">
        <p14:creationId xmlns:p14="http://schemas.microsoft.com/office/powerpoint/2010/main" val="17097716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图片 2"/>
          <p:cNvPicPr>
            <a:picLocks noChangeAspect="1"/>
          </p:cNvPicPr>
          <p:nvPr/>
        </p:nvPicPr>
        <p:blipFill>
          <a:blip r:embed="rId3" cstate="print"/>
          <a:srcRect/>
          <a:stretch>
            <a:fillRect/>
          </a:stretch>
        </p:blipFill>
        <p:spPr bwMode="auto">
          <a:xfrm>
            <a:off x="335" y="188"/>
            <a:ext cx="12191331" cy="6857624"/>
          </a:xfrm>
          <a:prstGeom prst="rect">
            <a:avLst/>
          </a:prstGeom>
          <a:noFill/>
          <a:ln w="9525">
            <a:noFill/>
            <a:miter lim="800000"/>
            <a:headEnd/>
            <a:tailEnd/>
          </a:ln>
        </p:spPr>
      </p:pic>
      <p:sp>
        <p:nvSpPr>
          <p:cNvPr id="5" name="TextBox 37"/>
          <p:cNvSpPr>
            <a:spLocks noChangeArrowheads="1"/>
          </p:cNvSpPr>
          <p:nvPr/>
        </p:nvSpPr>
        <p:spPr bwMode="auto">
          <a:xfrm>
            <a:off x="2735811" y="932861"/>
            <a:ext cx="5710454" cy="1874799"/>
          </a:xfrm>
          <a:prstGeom prst="rect">
            <a:avLst/>
          </a:prstGeom>
          <a:noFill/>
          <a:ln w="9525">
            <a:noFill/>
            <a:miter lim="800000"/>
            <a:headEnd/>
            <a:tailEnd/>
          </a:ln>
        </p:spPr>
        <p:txBody>
          <a:bodyPr lIns="68569" tIns="34285" rIns="68569" bIns="34285">
            <a:spAutoFit/>
          </a:bodyPr>
          <a:lstStyle/>
          <a:p>
            <a:pPr algn="ctr" defTabSz="1219094"/>
            <a:r>
              <a:rPr lang="en-US" altLang="zh-CN" sz="11733" dirty="0">
                <a:solidFill>
                  <a:srgbClr val="C00000"/>
                </a:solidFill>
                <a:latin typeface="Edwardian Script ITC" panose="030303020407070D0804" pitchFamily="66" charset="0"/>
                <a:ea typeface="微软雅黑" pitchFamily="34" charset="-122"/>
                <a:cs typeface="Arial" pitchFamily="34" charset="0"/>
                <a:sym typeface="Calibri" pitchFamily="34" charset="0"/>
              </a:rPr>
              <a:t>Thank you</a:t>
            </a:r>
            <a:endParaRPr lang="zh-CN" altLang="en-US" sz="11733" dirty="0">
              <a:solidFill>
                <a:srgbClr val="C00000"/>
              </a:solidFill>
              <a:latin typeface="Edwardian Script ITC" panose="030303020407070D0804" pitchFamily="66" charset="0"/>
              <a:ea typeface="微软雅黑" pitchFamily="34" charset="-122"/>
              <a:cs typeface="Arial" pitchFamily="34" charset="0"/>
              <a:sym typeface="Calibri" pitchFamily="34" charset="0"/>
            </a:endParaRPr>
          </a:p>
        </p:txBody>
      </p:sp>
    </p:spTree>
    <p:extLst>
      <p:ext uri="{BB962C8B-B14F-4D97-AF65-F5344CB8AC3E}">
        <p14:creationId xmlns:p14="http://schemas.microsoft.com/office/powerpoint/2010/main" val="29974460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S_UNIQUEID" val="33"/>
</p:tagLst>
</file>

<file path=ppt/tags/tag2.xml><?xml version="1.0" encoding="utf-8"?>
<p:tagLst xmlns:a="http://schemas.openxmlformats.org/drawingml/2006/main" xmlns:r="http://schemas.openxmlformats.org/officeDocument/2006/relationships" xmlns:p="http://schemas.openxmlformats.org/presentationml/2006/main">
  <p:tag name="AS_UNIQUEID" val="34"/>
</p:tagLst>
</file>

<file path=ppt/tags/tag3.xml><?xml version="1.0" encoding="utf-8"?>
<p:tagLst xmlns:a="http://schemas.openxmlformats.org/drawingml/2006/main" xmlns:r="http://schemas.openxmlformats.org/officeDocument/2006/relationships" xmlns:p="http://schemas.openxmlformats.org/presentationml/2006/main">
  <p:tag name="AS_UNIQUEID" val="3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ndray">
  <a:themeElements>
    <a:clrScheme name="Office 主题​​">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fontScheme name="rpurpcgu">
      <a:majorFont>
        <a:latin typeface=""/>
        <a:ea typeface="微软雅黑"/>
        <a:cs typeface=""/>
      </a:majorFont>
      <a:minorFont>
        <a:latin typeface=""/>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3846</TotalTime>
  <Words>1724</Words>
  <Application>Microsoft Office PowerPoint</Application>
  <PresentationFormat>宽屏</PresentationFormat>
  <Paragraphs>153</Paragraphs>
  <Slides>15</Slides>
  <Notes>15</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15</vt:i4>
      </vt:variant>
    </vt:vector>
  </HeadingPairs>
  <TitlesOfParts>
    <vt:vector size="27" baseType="lpstr">
      <vt:lpstr>Cabin</vt:lpstr>
      <vt:lpstr>等线</vt:lpstr>
      <vt:lpstr>等线 Light</vt:lpstr>
      <vt:lpstr>黑体</vt:lpstr>
      <vt:lpstr>微软雅黑</vt:lpstr>
      <vt:lpstr>Arial</vt:lpstr>
      <vt:lpstr>Calibri</vt:lpstr>
      <vt:lpstr>Edwardian Script ITC</vt:lpstr>
      <vt:lpstr>Times New Roman</vt:lpstr>
      <vt:lpstr>Office 主题​​</vt:lpstr>
      <vt:lpstr>mindray</vt:lpstr>
      <vt:lpstr>Acrobat 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Mindray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戴庆 DANIEL Dai</dc:creator>
  <cp:lastModifiedBy>戴庆 DANIEL Dai</cp:lastModifiedBy>
  <cp:revision>250</cp:revision>
  <dcterms:created xsi:type="dcterms:W3CDTF">2024-04-23T03:03:12Z</dcterms:created>
  <dcterms:modified xsi:type="dcterms:W3CDTF">2024-10-31T16:13:40Z</dcterms:modified>
</cp:coreProperties>
</file>